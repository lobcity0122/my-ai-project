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handoutMasterIdLst>
    <p:handoutMasterId r:id="rId14"/>
  </p:handoutMasterIdLst>
  <p:sldIdLst>
    <p:sldId id="272" r:id="rId2"/>
    <p:sldId id="273" r:id="rId3"/>
    <p:sldId id="282" r:id="rId4"/>
    <p:sldId id="277" r:id="rId5"/>
    <p:sldId id="274" r:id="rId6"/>
    <p:sldId id="278" r:id="rId7"/>
    <p:sldId id="279" r:id="rId8"/>
    <p:sldId id="275" r:id="rId9"/>
    <p:sldId id="281" r:id="rId10"/>
    <p:sldId id="280" r:id="rId11"/>
    <p:sldId id="276" r:id="rId12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吉野 広二" initials="吉野" lastIdx="1" clrIdx="0">
    <p:extLst>
      <p:ext uri="{19B8F6BF-5375-455C-9EA6-DF929625EA0E}">
        <p15:presenceInfo xmlns:p15="http://schemas.microsoft.com/office/powerpoint/2012/main" userId="吉野 広二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0AEB42-2138-45E3-9858-C8C2D756426A}" v="1" dt="2026-07-07T00:24:19.171"/>
  </p1510:revLst>
</p1510:revInfo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8" autoAdjust="0"/>
    <p:restoredTop sz="75270" autoAdjust="0"/>
  </p:normalViewPr>
  <p:slideViewPr>
    <p:cSldViewPr snapToGrid="0">
      <p:cViewPr varScale="1">
        <p:scale>
          <a:sx n="76" d="100"/>
          <a:sy n="76" d="100"/>
        </p:scale>
        <p:origin x="126" y="6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14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7-03T11:29:30.732" idx="1">
    <p:pos x="7482" y="2628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DA88A-700E-4959-AD05-3C421866BDC6}" type="datetime4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2026年7月7日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9A4F4-89FA-4551-A9F4-ECDBD52C06D6}" type="slidenum">
              <a:rPr kumimoji="1"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48109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ECA54F6-A409-4052-BA8C-D33E3AF8AD29}" type="datetime4">
              <a:rPr lang="ja-JP" altLang="en-US" smtClean="0"/>
              <a:pPr/>
              <a:t>2026年7月7日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93B0CF2-7F87-4E02-A248-870047730F99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635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5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07584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8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54033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長方形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cxnSp>
          <p:nvCxnSpPr>
            <p:cNvPr id="7" name="直線​​コネクタ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直線​​コネクタ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​​コネクタ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タイトル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17" name="サブタイトル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 rtlCol="0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ja-JP" altLang="en-US" noProof="0"/>
              <a:t>マスター サブタイトルの書式設定</a:t>
            </a:r>
            <a:endParaRPr kumimoji="0" lang="ja-JP" altLang="en-US" noProof="0" dirty="0"/>
          </a:p>
        </p:txBody>
      </p:sp>
      <p:sp>
        <p:nvSpPr>
          <p:cNvPr id="30" name="日付プレースホルダー 2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D9F5B4-D2B9-4671-9B63-0110E6386A4E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19" name="フッター プレースホルダー 1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27" name="スライド番号プレースホルダー 2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kumimoji="0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0C11D6-D226-45B1-8AA5-91C501F3B0E7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rtlCol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rtlCol="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400AA1-06A4-444F-94EA-80BA16484187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kumimoji="0" lang="ja-JP" altLang="en-US" noProof="0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38B790-6ACD-441F-B06D-4917F8B429D2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rtlCol="0" anchor="b"/>
          <a:lstStyle>
            <a:lvl1pPr>
              <a:defRPr/>
            </a:lvl1pPr>
          </a:lstStyle>
          <a:p>
            <a:pPr rtl="0"/>
            <a:r>
              <a:rPr lang="ja-JP" altLang="en-US"/>
              <a:t>マスター タイトルの書式設定</a:t>
            </a:r>
            <a:endParaRPr kumimoji="0"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rtlCol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/>
              <a:t>マスター テキストの書式設定</a:t>
            </a:r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/>
              <a:t>マスター テキストの書式設定</a:t>
            </a:r>
          </a:p>
          <a:p>
            <a:pPr lvl="1" rtl="0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rtl="0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rtl="0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rtl="0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rtlCol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/>
              <a:t>マスター テキストの書式設定</a:t>
            </a:r>
          </a:p>
          <a:p>
            <a:pPr lvl="1" rtl="0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rtl="0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rtl="0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rtl="0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296CEC-F0EC-4499-B406-555829E93D38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" dirty="0"/>
              <a:t>フッターを追加</a:t>
            </a:r>
            <a:endParaRPr 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C8EE4A-0564-4F19-AF56-1B86A81857A1}" type="datetime4">
              <a:rPr lang="ja-JP" altLang="en-US" smtClean="0"/>
              <a:t>2026年7月7日</a:t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D0A0B1-5389-4168-8C71-456999E01C6A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rtlCol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 rtlCol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 rtlCol="0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FAF4E1-8E5B-454D-966C-37225B9702A6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キャプション付きの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つの角を切り取って丸めた四角形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rtlCol="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図プレースホルダー 2" descr="画像を追加する空のプレースホルダー。プレースホルダーをクリックし、追加する画像を選択します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ja-JP" altLang="en-US" noProof="0"/>
              <a:t>図を追加</a:t>
            </a:r>
            <a:endParaRPr kumimoji="0"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rtlCol="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A228A8-1DDA-4C9E-B7BB-B3D4A4576159}" type="datetime4">
              <a:rPr lang="ja-JP" altLang="en-US" smtClean="0"/>
              <a:t>2026年7月7日</a:t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  <p:sp>
        <p:nvSpPr>
          <p:cNvPr id="10" name="フリーフォーム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フリーフォーム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2 </a:t>
            </a:r>
            <a:r>
              <a:rPr kumimoji="1" lang="ja-JP" altLang="en-US" noProof="0" dirty="0"/>
              <a:t>レベル</a:t>
            </a:r>
          </a:p>
          <a:p>
            <a:pPr lvl="2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3 </a:t>
            </a:r>
            <a:r>
              <a:rPr kumimoji="1" lang="ja-JP" altLang="en-US" noProof="0" dirty="0"/>
              <a:t>レベル</a:t>
            </a:r>
          </a:p>
          <a:p>
            <a:pPr lvl="3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4 </a:t>
            </a:r>
            <a:r>
              <a:rPr kumimoji="1" lang="ja-JP" altLang="en-US" noProof="0" dirty="0"/>
              <a:t>レベル</a:t>
            </a:r>
          </a:p>
          <a:p>
            <a:pPr lvl="4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5 </a:t>
            </a:r>
            <a:r>
              <a:rPr kumimoji="1" lang="ja-JP" altLang="en-US" noProof="0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89D195-22A8-4E03-A4C1-FF558F7B427F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 rtlCol="0"/>
          <a:lstStyle/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914402"/>
            <a:ext cx="8026400" cy="5211763"/>
          </a:xfrm>
        </p:spPr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2 </a:t>
            </a:r>
            <a:r>
              <a:rPr kumimoji="1" lang="ja-JP" altLang="en-US" noProof="0" dirty="0"/>
              <a:t>レベル</a:t>
            </a:r>
          </a:p>
          <a:p>
            <a:pPr lvl="2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3 </a:t>
            </a:r>
            <a:r>
              <a:rPr kumimoji="1" lang="ja-JP" altLang="en-US" noProof="0" dirty="0"/>
              <a:t>レベル</a:t>
            </a:r>
          </a:p>
          <a:p>
            <a:pPr lvl="3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4 </a:t>
            </a:r>
            <a:r>
              <a:rPr kumimoji="1" lang="ja-JP" altLang="en-US" noProof="0" dirty="0"/>
              <a:t>レベル</a:t>
            </a:r>
          </a:p>
          <a:p>
            <a:pPr lvl="4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5 </a:t>
            </a:r>
            <a:r>
              <a:rPr kumimoji="1" lang="ja-JP" altLang="en-US" noProof="0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9B777F-2BA6-42C0-83EF-2CC97DD0D6E7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長方形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grpSp>
          <p:nvGrpSpPr>
            <p:cNvPr id="27" name="グループ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フリーフォーム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フリーフォーム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グループ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フリーフォーム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  <p:sp>
              <p:nvSpPr>
                <p:cNvPr id="33" name="フリーフォーム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</p:grpSp>
        </p:grpSp>
      </p:grpSp>
      <p:sp>
        <p:nvSpPr>
          <p:cNvPr id="9" name="タイトル プレースホルダー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rtlCol="0" anchor="b">
            <a:normAutofit/>
          </a:bodyPr>
          <a:lstStyle/>
          <a:p>
            <a:pPr rtl="0"/>
            <a:r>
              <a:rPr lang="ja-JP" altLang="en-US" noProof="0" dirty="0"/>
              <a:t>クリックしてマスター タイトルのスタイルを編集</a:t>
            </a:r>
            <a:endParaRPr kumimoji="0" lang="ja-JP" altLang="en-US" noProof="0" dirty="0"/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434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 rtl="0" eaLnBrk="1" latinLnBrk="0" hangingPunct="1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 eaLnBrk="1" latinLnBrk="0" hangingPunct="1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 eaLnBrk="1" latinLnBrk="0" hangingPunct="1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 eaLnBrk="1" latinLnBrk="0" hangingPunct="1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0" name="日付プレースホルダー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196E8732-2B4B-4F0A-8362-53F7A7DF2931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22" name="フッター プレースホルダー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r>
              <a:rPr lang="ja-JP" altLang="en-US" noProof="0" dirty="0"/>
              <a:t>フッターを追加</a:t>
            </a:r>
          </a:p>
        </p:txBody>
      </p:sp>
      <p:sp>
        <p:nvSpPr>
          <p:cNvPr id="18" name="スライド番号プレースホルダー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401CF334-2D5C-4859-84A6-CA7E6E43FAEB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lnSpc>
          <a:spcPct val="80000"/>
        </a:lnSpc>
        <a:spcBef>
          <a:spcPct val="0"/>
        </a:spcBef>
        <a:buNone/>
        <a:defRPr kumimoji="1" sz="5000" b="0" kern="1200">
          <a:ln>
            <a:noFill/>
          </a:ln>
          <a:solidFill>
            <a:schemeClr val="tx2"/>
          </a:solidFill>
          <a:effectLst/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1" sz="26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1" sz="24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1" sz="21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1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ja-JP" altLang="en-US" dirty="0"/>
              <a:t>描画エンジン開発</a:t>
            </a:r>
            <a:r>
              <a:rPr lang="en-US" altLang="ja-JP" dirty="0"/>
              <a:t>Ⅰ</a:t>
            </a:r>
            <a:r>
              <a:rPr lang="ja-JP" altLang="en-US" dirty="0"/>
              <a:t>・</a:t>
            </a:r>
            <a:r>
              <a:rPr lang="en-US" altLang="ja-JP" dirty="0"/>
              <a:t>Ⅱ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サブタイトル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ja-JP" dirty="0"/>
              <a:t>UNIT15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/>
              <a:t>授業内容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 rtl="0">
              <a:buNone/>
            </a:pPr>
            <a:endParaRPr lang="en-US" altLang="ja-JP" dirty="0"/>
          </a:p>
          <a:p>
            <a:pPr rtl="0"/>
            <a:r>
              <a:rPr lang="ja-JP" altLang="en-US" dirty="0"/>
              <a:t>複数マテリアルを内包するメッシュの描画</a:t>
            </a:r>
            <a:endParaRPr lang="en-US" altLang="ja-JP" dirty="0"/>
          </a:p>
          <a:p>
            <a:pPr rtl="0"/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実行結果</a:t>
            </a:r>
          </a:p>
        </p:txBody>
      </p:sp>
      <p:pic>
        <p:nvPicPr>
          <p:cNvPr id="7" name="コンテンツ プレースホルダー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7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複数マテリアルを内包するメッシュとは</a:t>
            </a:r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1549" y="2358398"/>
            <a:ext cx="2507728" cy="3635825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209" y="2358398"/>
            <a:ext cx="2667796" cy="3605336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223" y="2650823"/>
            <a:ext cx="2372810" cy="2365383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9345" y="2636816"/>
            <a:ext cx="2401016" cy="2393394"/>
          </a:xfrm>
          <a:prstGeom prst="rect">
            <a:avLst/>
          </a:prstGeom>
        </p:spPr>
      </p:pic>
      <p:sp>
        <p:nvSpPr>
          <p:cNvPr id="9" name="正方形/長方形 8"/>
          <p:cNvSpPr/>
          <p:nvPr/>
        </p:nvSpPr>
        <p:spPr>
          <a:xfrm>
            <a:off x="6338825" y="2529943"/>
            <a:ext cx="2489605" cy="2607141"/>
          </a:xfrm>
          <a:prstGeom prst="rect">
            <a:avLst/>
          </a:prstGeom>
          <a:noFill/>
          <a:ln w="571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9086126" y="2527106"/>
            <a:ext cx="2627453" cy="2607141"/>
          </a:xfrm>
          <a:prstGeom prst="rect">
            <a:avLst/>
          </a:prstGeom>
          <a:noFill/>
          <a:ln w="571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角丸四角形吹き出し 14"/>
          <p:cNvSpPr/>
          <p:nvPr/>
        </p:nvSpPr>
        <p:spPr>
          <a:xfrm>
            <a:off x="6498060" y="5536639"/>
            <a:ext cx="2171134" cy="566599"/>
          </a:xfrm>
          <a:prstGeom prst="wedgeRoundRectCallout">
            <a:avLst>
              <a:gd name="adj1" fmla="val -19369"/>
              <a:gd name="adj2" fmla="val -84584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体テクスチャ</a:t>
            </a:r>
          </a:p>
        </p:txBody>
      </p:sp>
      <p:sp>
        <p:nvSpPr>
          <p:cNvPr id="17" name="角丸四角形吹き出し 16"/>
          <p:cNvSpPr/>
          <p:nvPr/>
        </p:nvSpPr>
        <p:spPr>
          <a:xfrm>
            <a:off x="9086126" y="5536639"/>
            <a:ext cx="2171134" cy="566599"/>
          </a:xfrm>
          <a:prstGeom prst="wedgeRoundRectCallout">
            <a:avLst>
              <a:gd name="adj1" fmla="val -19369"/>
              <a:gd name="adj2" fmla="val -84584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髪テクスチャ</a:t>
            </a:r>
          </a:p>
        </p:txBody>
      </p:sp>
    </p:spTree>
    <p:extLst>
      <p:ext uri="{BB962C8B-B14F-4D97-AF65-F5344CB8AC3E}">
        <p14:creationId xmlns:p14="http://schemas.microsoft.com/office/powerpoint/2010/main" val="2575344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メッシュを描画するには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ja-JP" altLang="en-US" dirty="0"/>
              <a:t>頂点バッファを設定する。</a:t>
            </a:r>
            <a:endParaRPr kumimoji="1" lang="en-US" altLang="ja-JP" dirty="0"/>
          </a:p>
          <a:p>
            <a:pPr lvl="1"/>
            <a:r>
              <a:rPr lang="en-US" altLang="ja-JP" dirty="0"/>
              <a:t>IASetVertexBuffers(</a:t>
            </a:r>
            <a:r>
              <a:rPr lang="ja-JP" altLang="en-US" dirty="0"/>
              <a:t>頂点バッファ</a:t>
            </a:r>
            <a:r>
              <a:rPr lang="en-US" altLang="ja-JP" dirty="0"/>
              <a:t>)</a:t>
            </a:r>
          </a:p>
          <a:p>
            <a:pPr lvl="1"/>
            <a:r>
              <a:rPr lang="en-US" altLang="ja-JP" dirty="0" err="1"/>
              <a:t>IASetIndexBuffer</a:t>
            </a:r>
            <a:r>
              <a:rPr lang="en-US" altLang="ja-JP" dirty="0"/>
              <a:t>(</a:t>
            </a:r>
            <a:r>
              <a:rPr lang="ja-JP" altLang="en-US" dirty="0"/>
              <a:t>インデックスバッファ</a:t>
            </a:r>
            <a:r>
              <a:rPr lang="en-US" altLang="ja-JP" dirty="0"/>
              <a:t>)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シェーダーと</a:t>
            </a:r>
            <a:r>
              <a:rPr kumimoji="1" lang="ja-JP" altLang="en-US" dirty="0"/>
              <a:t>マテリアルの設定</a:t>
            </a:r>
            <a:r>
              <a:rPr lang="ja-JP" altLang="en-US" dirty="0"/>
              <a:t>をする。</a:t>
            </a:r>
            <a:endParaRPr lang="en-US" altLang="ja-JP" dirty="0"/>
          </a:p>
          <a:p>
            <a:pPr lvl="1"/>
            <a:r>
              <a:rPr lang="en-US" altLang="ja-JP" dirty="0" err="1"/>
              <a:t>VSSetShader</a:t>
            </a:r>
            <a:r>
              <a:rPr lang="en-US" altLang="ja-JP" dirty="0"/>
              <a:t>(</a:t>
            </a:r>
            <a:r>
              <a:rPr lang="ja-JP" altLang="en-US" dirty="0"/>
              <a:t>シェーダー</a:t>
            </a:r>
            <a:r>
              <a:rPr lang="en-US" altLang="ja-JP" dirty="0"/>
              <a:t>)</a:t>
            </a:r>
          </a:p>
          <a:p>
            <a:pPr lvl="1"/>
            <a:r>
              <a:rPr lang="en-US" altLang="ja-JP" dirty="0" err="1"/>
              <a:t>VSSetConstantBuffers</a:t>
            </a:r>
            <a:r>
              <a:rPr lang="en-US" altLang="ja-JP" dirty="0"/>
              <a:t>(</a:t>
            </a:r>
            <a:r>
              <a:rPr lang="ja-JP" altLang="en-US" dirty="0"/>
              <a:t>カメラ情報やマテリアルカラーなど</a:t>
            </a:r>
            <a:r>
              <a:rPr lang="en-US" altLang="ja-JP" dirty="0"/>
              <a:t>)</a:t>
            </a:r>
          </a:p>
          <a:p>
            <a:pPr lvl="1"/>
            <a:r>
              <a:rPr lang="en-US" altLang="ja-JP" dirty="0" err="1"/>
              <a:t>PSSetShaderResources</a:t>
            </a:r>
            <a:r>
              <a:rPr lang="en-US" altLang="ja-JP" dirty="0"/>
              <a:t>(</a:t>
            </a:r>
            <a:r>
              <a:rPr lang="ja-JP" altLang="en-US" dirty="0"/>
              <a:t>テクスチャ</a:t>
            </a:r>
            <a:r>
              <a:rPr lang="en-US" altLang="ja-JP" dirty="0"/>
              <a:t>)</a:t>
            </a:r>
          </a:p>
          <a:p>
            <a:endParaRPr lang="en-US" altLang="ja-JP" dirty="0"/>
          </a:p>
          <a:p>
            <a:r>
              <a:rPr lang="ja-JP" altLang="en-US" dirty="0"/>
              <a:t>頂点バッファの使用範囲を指定して描画命令</a:t>
            </a:r>
            <a:r>
              <a:rPr lang="en-US" altLang="ja-JP" dirty="0"/>
              <a:t>(Draw)</a:t>
            </a:r>
            <a:r>
              <a:rPr lang="ja-JP" altLang="en-US" dirty="0"/>
              <a:t>を実行する。</a:t>
            </a:r>
            <a:endParaRPr lang="en-US" altLang="ja-JP" dirty="0"/>
          </a:p>
          <a:p>
            <a:pPr lvl="1"/>
            <a:r>
              <a:rPr lang="en-US" altLang="ja-JP" dirty="0" err="1"/>
              <a:t>DrawIndexed</a:t>
            </a:r>
            <a:r>
              <a:rPr lang="en-US" altLang="ja-JP" dirty="0"/>
              <a:t>(</a:t>
            </a:r>
            <a:r>
              <a:rPr lang="ja-JP" altLang="en-US" dirty="0"/>
              <a:t>使用頂点数、頂点使用開始位置</a:t>
            </a:r>
            <a:r>
              <a:rPr lang="en-US" altLang="ja-JP" dirty="0"/>
              <a:t>)</a:t>
            </a:r>
          </a:p>
          <a:p>
            <a:pPr lvl="1"/>
            <a:endParaRPr lang="en-US" altLang="ja-JP" dirty="0"/>
          </a:p>
          <a:p>
            <a:r>
              <a:rPr lang="ja-JP" altLang="en-US" dirty="0"/>
              <a:t>つまり</a:t>
            </a:r>
            <a:r>
              <a:rPr lang="en-US" altLang="ja-JP" dirty="0" err="1"/>
              <a:t>DrawIndexed</a:t>
            </a:r>
            <a:r>
              <a:rPr lang="en-US" altLang="ja-JP" dirty="0"/>
              <a:t>()</a:t>
            </a:r>
            <a:r>
              <a:rPr lang="ja-JP" altLang="en-US" dirty="0"/>
              <a:t>を実行する前に様々な設定をする必要がある。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3184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複数マテリアルのメッシュを描画するには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ja-JP" altLang="en-US" dirty="0"/>
              <a:t>テクスチャやマテリアルカラーの切り替えをするには</a:t>
            </a:r>
            <a:br>
              <a:rPr lang="en-US" altLang="ja-JP" dirty="0"/>
            </a:br>
            <a:r>
              <a:rPr lang="ja-JP" altLang="en-US" dirty="0"/>
              <a:t>描画を複数回実行する必要がある。</a:t>
            </a:r>
          </a:p>
          <a:p>
            <a:pPr marL="393192" lvl="1" indent="0">
              <a:buNone/>
            </a:pPr>
            <a:br>
              <a:rPr kumimoji="1" lang="en-US" altLang="ja-JP" dirty="0"/>
            </a:br>
            <a:r>
              <a:rPr kumimoji="1" lang="en-US" altLang="ja-JP" dirty="0"/>
              <a:t> </a:t>
            </a:r>
            <a:r>
              <a:rPr lang="en-US" altLang="ja-JP" dirty="0"/>
              <a:t>IASetVertexBuffers(</a:t>
            </a:r>
            <a:r>
              <a:rPr lang="ja-JP" altLang="en-US" dirty="0"/>
              <a:t>髪頂点バッファ</a:t>
            </a:r>
            <a:r>
              <a:rPr lang="en-US" altLang="ja-JP" dirty="0"/>
              <a:t>);</a:t>
            </a:r>
            <a:endParaRPr kumimoji="1" lang="en-US" altLang="ja-JP" dirty="0"/>
          </a:p>
          <a:p>
            <a:pPr marL="393192" lvl="1" indent="0">
              <a:buNone/>
            </a:pPr>
            <a:r>
              <a:rPr lang="en-US" altLang="ja-JP" dirty="0"/>
              <a:t> </a:t>
            </a:r>
            <a:r>
              <a:rPr lang="en-US" altLang="ja-JP" dirty="0" err="1"/>
              <a:t>PSSetShaderResources</a:t>
            </a:r>
            <a:r>
              <a:rPr lang="en-US" altLang="ja-JP" dirty="0"/>
              <a:t>(</a:t>
            </a:r>
            <a:r>
              <a:rPr lang="ja-JP" altLang="en-US" dirty="0"/>
              <a:t>髪テクスチャ</a:t>
            </a:r>
            <a:r>
              <a:rPr lang="en-US" altLang="ja-JP" dirty="0"/>
              <a:t>);</a:t>
            </a:r>
            <a:br>
              <a:rPr lang="en-US" altLang="ja-JP" dirty="0"/>
            </a:br>
            <a:r>
              <a:rPr lang="en-US" altLang="ja-JP" dirty="0"/>
              <a:t> </a:t>
            </a:r>
            <a:r>
              <a:rPr lang="en-US" altLang="ja-JP" dirty="0" err="1"/>
              <a:t>DrawIndexed</a:t>
            </a:r>
            <a:r>
              <a:rPr lang="en-US" altLang="ja-JP" dirty="0"/>
              <a:t>();</a:t>
            </a:r>
            <a:r>
              <a:rPr lang="ja-JP" altLang="en-US" dirty="0"/>
              <a:t>　←髪描画</a:t>
            </a:r>
            <a:endParaRPr lang="en-US" altLang="ja-JP" dirty="0"/>
          </a:p>
          <a:p>
            <a:pPr marL="393192" lvl="1" indent="0">
              <a:buNone/>
            </a:pPr>
            <a:r>
              <a:rPr lang="en-US" altLang="ja-JP" dirty="0"/>
              <a:t> IASetVertexBuffers(</a:t>
            </a:r>
            <a:r>
              <a:rPr lang="ja-JP" altLang="en-US" dirty="0"/>
              <a:t>体頂点バッファ</a:t>
            </a:r>
            <a:r>
              <a:rPr lang="en-US" altLang="ja-JP" dirty="0"/>
              <a:t>);</a:t>
            </a:r>
          </a:p>
          <a:p>
            <a:pPr marL="393192" lvl="1" indent="0">
              <a:buNone/>
            </a:pPr>
            <a:r>
              <a:rPr lang="en-US" altLang="ja-JP" dirty="0"/>
              <a:t> </a:t>
            </a:r>
            <a:r>
              <a:rPr lang="en-US" altLang="ja-JP" dirty="0" err="1"/>
              <a:t>PSSetShaderResources</a:t>
            </a:r>
            <a:r>
              <a:rPr lang="en-US" altLang="ja-JP" dirty="0"/>
              <a:t>(</a:t>
            </a:r>
            <a:r>
              <a:rPr lang="ja-JP" altLang="en-US" dirty="0"/>
              <a:t>体テクスチャ</a:t>
            </a:r>
            <a:r>
              <a:rPr lang="en-US" altLang="ja-JP" dirty="0"/>
              <a:t>);</a:t>
            </a:r>
            <a:br>
              <a:rPr lang="en-US" altLang="ja-JP" dirty="0"/>
            </a:br>
            <a:r>
              <a:rPr lang="en-US" altLang="ja-JP" dirty="0"/>
              <a:t> </a:t>
            </a:r>
            <a:r>
              <a:rPr lang="en-US" altLang="ja-JP" dirty="0" err="1"/>
              <a:t>DrawIndexed</a:t>
            </a:r>
            <a:r>
              <a:rPr lang="en-US" altLang="ja-JP" dirty="0"/>
              <a:t>();</a:t>
            </a:r>
            <a:r>
              <a:rPr lang="ja-JP" altLang="en-US" dirty="0"/>
              <a:t>　←体描画</a:t>
            </a:r>
            <a:endParaRPr lang="en-US" altLang="ja-JP" dirty="0"/>
          </a:p>
          <a:p>
            <a:pPr marL="393192" lvl="1" indent="0">
              <a:buNone/>
            </a:pPr>
            <a:endParaRPr lang="en-US" altLang="ja-JP" dirty="0"/>
          </a:p>
          <a:p>
            <a:r>
              <a:rPr lang="ja-JP" altLang="en-US" dirty="0"/>
              <a:t>描画の最適化のコツとしては</a:t>
            </a:r>
            <a:r>
              <a:rPr lang="en-US" altLang="ja-JP" dirty="0" err="1"/>
              <a:t>DrawIndexed</a:t>
            </a:r>
            <a:r>
              <a:rPr lang="en-US" altLang="ja-JP" dirty="0"/>
              <a:t>()</a:t>
            </a:r>
            <a:r>
              <a:rPr lang="ja-JP" altLang="en-US" dirty="0"/>
              <a:t>を呼ぶ回数を減らしたい。</a:t>
            </a:r>
            <a:br>
              <a:rPr lang="en-US" altLang="ja-JP" dirty="0"/>
            </a:br>
            <a:r>
              <a:rPr lang="en-US" altLang="ja-JP" dirty="0" err="1"/>
              <a:t>DrawIndexed</a:t>
            </a:r>
            <a:r>
              <a:rPr lang="en-US" altLang="ja-JP" dirty="0"/>
              <a:t>()</a:t>
            </a:r>
            <a:r>
              <a:rPr lang="ja-JP" altLang="en-US" dirty="0"/>
              <a:t>を減らせないならせめてそれまでの設定を減らしたい。</a:t>
            </a:r>
            <a:r>
              <a:rPr lang="en-US" altLang="ja-JP" dirty="0"/>
              <a:t>	</a:t>
            </a:r>
          </a:p>
          <a:p>
            <a:pPr marL="393192" lvl="1" indent="0">
              <a:buNone/>
            </a:pPr>
            <a:endParaRPr lang="en-US" altLang="ja-JP" dirty="0"/>
          </a:p>
          <a:p>
            <a:pPr marL="393192" lvl="1" indent="0">
              <a:buNone/>
            </a:pPr>
            <a:endParaRPr lang="en-US" altLang="ja-JP" dirty="0"/>
          </a:p>
          <a:p>
            <a:pPr marL="393192" lvl="1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053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頂点バッファを共有する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/>
              <a:t>DrawIndexed</a:t>
            </a:r>
            <a:r>
              <a:rPr kumimoji="1" lang="en-US" altLang="ja-JP" dirty="0"/>
              <a:t>()</a:t>
            </a:r>
            <a:r>
              <a:rPr kumimoji="1" lang="ja-JP" altLang="en-US" dirty="0"/>
              <a:t> は頂点バッファの使用範囲を決めて描画実行できる。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134318" y="4282633"/>
            <a:ext cx="2291787" cy="2372810"/>
          </a:xfrm>
          <a:prstGeom prst="rect">
            <a:avLst/>
          </a:prstGeom>
          <a:ln w="571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体頂点データ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1134317" y="3108189"/>
            <a:ext cx="2291787" cy="1145894"/>
          </a:xfrm>
          <a:prstGeom prst="rect">
            <a:avLst/>
          </a:prstGeom>
          <a:ln w="571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髪頂点データ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264547" y="2534983"/>
            <a:ext cx="2031325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頂点バッファ</a:t>
            </a:r>
          </a:p>
        </p:txBody>
      </p:sp>
      <p:sp>
        <p:nvSpPr>
          <p:cNvPr id="9" name="右矢印 8"/>
          <p:cNvSpPr/>
          <p:nvPr/>
        </p:nvSpPr>
        <p:spPr>
          <a:xfrm rot="10800000">
            <a:off x="3518711" y="2921837"/>
            <a:ext cx="1124680" cy="37270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右矢印 9"/>
          <p:cNvSpPr/>
          <p:nvPr/>
        </p:nvSpPr>
        <p:spPr>
          <a:xfrm rot="10800000">
            <a:off x="3518711" y="4067731"/>
            <a:ext cx="1124680" cy="37270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735998" y="2846579"/>
            <a:ext cx="364202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0</a:t>
            </a:r>
            <a:endParaRPr kumimoji="1" lang="ja-JP" altLang="en-US" sz="2800" dirty="0" err="1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735998" y="3992473"/>
            <a:ext cx="902811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3200</a:t>
            </a:r>
            <a:endParaRPr kumimoji="1" lang="ja-JP" altLang="en-US" sz="2800" dirty="0" err="1"/>
          </a:p>
        </p:txBody>
      </p:sp>
      <p:sp>
        <p:nvSpPr>
          <p:cNvPr id="13" name="右矢印 12"/>
          <p:cNvSpPr/>
          <p:nvPr/>
        </p:nvSpPr>
        <p:spPr>
          <a:xfrm rot="10800000">
            <a:off x="3518711" y="6463304"/>
            <a:ext cx="1124680" cy="37270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735997" y="6367272"/>
            <a:ext cx="1082348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10000</a:t>
            </a:r>
            <a:endParaRPr kumimoji="1" lang="ja-JP" altLang="en-US" sz="2800" dirty="0" err="1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6027143" y="2746307"/>
            <a:ext cx="5363969" cy="378565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// </a:t>
            </a:r>
            <a:r>
              <a:rPr lang="ja-JP" altLang="en-US" sz="2400" dirty="0"/>
              <a:t>頂点バッファを設定</a:t>
            </a:r>
            <a:endParaRPr lang="en-US" altLang="ja-JP" sz="2400" dirty="0"/>
          </a:p>
          <a:p>
            <a:r>
              <a:rPr lang="en-US" altLang="ja-JP" sz="2400" dirty="0"/>
              <a:t>IASetVertexBuffers(</a:t>
            </a:r>
            <a:r>
              <a:rPr lang="en-US" altLang="ja-JP" sz="2400" dirty="0" err="1"/>
              <a:t>vb</a:t>
            </a:r>
            <a:r>
              <a:rPr lang="en-US" altLang="ja-JP" sz="2400" dirty="0"/>
              <a:t>);</a:t>
            </a:r>
          </a:p>
          <a:p>
            <a:r>
              <a:rPr lang="en-US" altLang="ja-JP" sz="2400" dirty="0" err="1"/>
              <a:t>IASetIndexBuffer</a:t>
            </a:r>
            <a:r>
              <a:rPr lang="en-US" altLang="ja-JP" sz="2400" dirty="0"/>
              <a:t>(</a:t>
            </a:r>
            <a:r>
              <a:rPr lang="en-US" altLang="ja-JP" sz="2400" dirty="0" err="1"/>
              <a:t>ib</a:t>
            </a:r>
            <a:r>
              <a:rPr lang="en-US" altLang="ja-JP" sz="2400" dirty="0"/>
              <a:t>);</a:t>
            </a:r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// </a:t>
            </a:r>
            <a:r>
              <a:rPr kumimoji="1" lang="ja-JP" altLang="en-US" sz="2400" dirty="0"/>
              <a:t>髪テクスチャを設定して描画</a:t>
            </a:r>
            <a:endParaRPr kumimoji="1" lang="en-US" altLang="ja-JP" sz="2400" dirty="0"/>
          </a:p>
          <a:p>
            <a:r>
              <a:rPr lang="en-US" altLang="ja-JP" sz="2400" dirty="0" err="1"/>
              <a:t>PSSetShaderResources</a:t>
            </a:r>
            <a:r>
              <a:rPr lang="en-US" altLang="ja-JP" sz="2400" dirty="0"/>
              <a:t>(</a:t>
            </a:r>
            <a:r>
              <a:rPr lang="en-US" altLang="ja-JP" sz="2400" dirty="0" err="1"/>
              <a:t>hair_texture</a:t>
            </a:r>
            <a:r>
              <a:rPr lang="en-US" altLang="ja-JP" sz="2400" dirty="0"/>
              <a:t>);</a:t>
            </a:r>
          </a:p>
          <a:p>
            <a:r>
              <a:rPr kumimoji="1" lang="en-US" altLang="ja-JP" sz="2400" dirty="0" err="1"/>
              <a:t>DrawIndexed</a:t>
            </a:r>
            <a:r>
              <a:rPr kumimoji="1" lang="en-US" altLang="ja-JP" sz="2400" dirty="0"/>
              <a:t>(3200, 0);</a:t>
            </a:r>
          </a:p>
          <a:p>
            <a:r>
              <a:rPr kumimoji="1" lang="en-US" altLang="ja-JP" sz="2400" dirty="0"/>
              <a:t>// </a:t>
            </a:r>
            <a:r>
              <a:rPr kumimoji="1" lang="ja-JP" altLang="en-US" sz="2400" dirty="0"/>
              <a:t>体テクスチャを設定して描画</a:t>
            </a:r>
            <a:endParaRPr kumimoji="1" lang="en-US" altLang="ja-JP" sz="2400" dirty="0"/>
          </a:p>
          <a:p>
            <a:r>
              <a:rPr lang="en-US" altLang="ja-JP" sz="2400" dirty="0" err="1"/>
              <a:t>PSSetShaderResources</a:t>
            </a:r>
            <a:r>
              <a:rPr lang="en-US" altLang="ja-JP" sz="2400" dirty="0"/>
              <a:t>(</a:t>
            </a:r>
            <a:r>
              <a:rPr lang="en-US" altLang="ja-JP" sz="2400" dirty="0" err="1"/>
              <a:t>body_texture</a:t>
            </a:r>
            <a:r>
              <a:rPr lang="en-US" altLang="ja-JP" sz="2400" dirty="0"/>
              <a:t>);</a:t>
            </a:r>
          </a:p>
          <a:p>
            <a:r>
              <a:rPr kumimoji="1" lang="en-US" altLang="ja-JP" sz="2400" dirty="0" err="1"/>
              <a:t>DrawIndexed</a:t>
            </a:r>
            <a:r>
              <a:rPr kumimoji="1" lang="en-US" altLang="ja-JP" sz="2400" dirty="0"/>
              <a:t>(10000-3200, 3200);</a:t>
            </a:r>
          </a:p>
        </p:txBody>
      </p:sp>
      <p:sp>
        <p:nvSpPr>
          <p:cNvPr id="16" name="角丸四角形 15"/>
          <p:cNvSpPr/>
          <p:nvPr/>
        </p:nvSpPr>
        <p:spPr>
          <a:xfrm>
            <a:off x="5873329" y="4134924"/>
            <a:ext cx="5671595" cy="2493958"/>
          </a:xfrm>
          <a:prstGeom prst="roundRect">
            <a:avLst/>
          </a:prstGeom>
          <a:noFill/>
          <a:ln w="762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角丸四角形吹き出し 16"/>
          <p:cNvSpPr/>
          <p:nvPr/>
        </p:nvSpPr>
        <p:spPr>
          <a:xfrm>
            <a:off x="9398643" y="3108189"/>
            <a:ext cx="2708474" cy="734606"/>
          </a:xfrm>
          <a:prstGeom prst="wedgeRoundRectCallout">
            <a:avLst>
              <a:gd name="adj1" fmla="val -35406"/>
              <a:gd name="adj2" fmla="val 81408"/>
              <a:gd name="adj3" fmla="val 16667"/>
            </a:avLst>
          </a:prstGeom>
          <a:ln w="381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サブセット化する</a:t>
            </a:r>
          </a:p>
        </p:txBody>
      </p:sp>
    </p:spTree>
    <p:extLst>
      <p:ext uri="{BB962C8B-B14F-4D97-AF65-F5344CB8AC3E}">
        <p14:creationId xmlns:p14="http://schemas.microsoft.com/office/powerpoint/2010/main" val="205200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サブセットとは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共通の頂点バッファを使用し、マテリアル単位で描画する</a:t>
            </a:r>
            <a:r>
              <a:rPr lang="ja-JP" altLang="en-US" dirty="0"/>
              <a:t>ための</a:t>
            </a:r>
            <a:br>
              <a:rPr lang="en-US" altLang="ja-JP" dirty="0"/>
            </a:br>
            <a:r>
              <a:rPr lang="ja-JP" altLang="en-US" dirty="0"/>
              <a:t>メッシュ情報。</a:t>
            </a:r>
            <a:endParaRPr lang="en-US" altLang="ja-JP" dirty="0"/>
          </a:p>
          <a:p>
            <a:endParaRPr lang="en-US" altLang="ja-JP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98654" y="2865279"/>
            <a:ext cx="2754774" cy="193899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struct</a:t>
            </a:r>
            <a:r>
              <a:rPr kumimoji="1" lang="en-US" altLang="ja-JP" sz="2000" dirty="0"/>
              <a:t> Subset</a:t>
            </a:r>
          </a:p>
          <a:p>
            <a:r>
              <a:rPr kumimoji="1" lang="en-US" altLang="ja-JP" sz="2000" dirty="0"/>
              <a:t>{</a:t>
            </a:r>
          </a:p>
          <a:p>
            <a:r>
              <a:rPr kumimoji="1" lang="en-US" altLang="ja-JP" sz="2000" dirty="0"/>
              <a:t>    </a:t>
            </a:r>
            <a:r>
              <a:rPr kumimoji="1" lang="en-US" altLang="ja-JP" sz="2000" dirty="0" err="1"/>
              <a:t>int</a:t>
            </a:r>
            <a:r>
              <a:rPr kumimoji="1" lang="en-US" altLang="ja-JP" sz="2000" dirty="0"/>
              <a:t> </a:t>
            </a:r>
            <a:r>
              <a:rPr kumimoji="1" lang="en-US" altLang="ja-JP" sz="2000" dirty="0" err="1"/>
              <a:t>material_index</a:t>
            </a:r>
            <a:r>
              <a:rPr kumimoji="1" lang="en-US" altLang="ja-JP" sz="2000" dirty="0"/>
              <a:t>;</a:t>
            </a:r>
          </a:p>
          <a:p>
            <a:r>
              <a:rPr kumimoji="1" lang="en-US" altLang="ja-JP" sz="2000" dirty="0"/>
              <a:t>    </a:t>
            </a:r>
            <a:r>
              <a:rPr kumimoji="1" lang="en-US" altLang="ja-JP" sz="2000" dirty="0" err="1"/>
              <a:t>int</a:t>
            </a:r>
            <a:r>
              <a:rPr kumimoji="1" lang="en-US" altLang="ja-JP" sz="2000" dirty="0"/>
              <a:t> </a:t>
            </a:r>
            <a:r>
              <a:rPr kumimoji="1" lang="en-US" altLang="ja-JP" sz="2000" dirty="0" err="1"/>
              <a:t>start_index</a:t>
            </a:r>
            <a:r>
              <a:rPr kumimoji="1" lang="en-US" altLang="ja-JP" sz="2000" dirty="0"/>
              <a:t>;</a:t>
            </a:r>
          </a:p>
          <a:p>
            <a:r>
              <a:rPr kumimoji="1" lang="en-US" altLang="ja-JP" sz="2000" dirty="0"/>
              <a:t>    </a:t>
            </a:r>
            <a:r>
              <a:rPr kumimoji="1" lang="en-US" altLang="ja-JP" sz="2000" dirty="0" err="1"/>
              <a:t>int</a:t>
            </a:r>
            <a:r>
              <a:rPr kumimoji="1" lang="en-US" altLang="ja-JP" sz="2000" dirty="0"/>
              <a:t> </a:t>
            </a:r>
            <a:r>
              <a:rPr kumimoji="1" lang="en-US" altLang="ja-JP" sz="2000" dirty="0" err="1"/>
              <a:t>index_count</a:t>
            </a:r>
            <a:r>
              <a:rPr kumimoji="1" lang="en-US" altLang="ja-JP" sz="2000" dirty="0"/>
              <a:t>;</a:t>
            </a:r>
          </a:p>
          <a:p>
            <a:r>
              <a:rPr kumimoji="1" lang="en-US" altLang="ja-JP" sz="2000" dirty="0"/>
              <a:t>};</a:t>
            </a:r>
            <a:endParaRPr kumimoji="1" lang="ja-JP" altLang="en-US" sz="2000" dirty="0" err="1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98654" y="4804271"/>
            <a:ext cx="2754774" cy="163121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struct</a:t>
            </a:r>
            <a:r>
              <a:rPr kumimoji="1" lang="en-US" altLang="ja-JP" sz="2000" dirty="0"/>
              <a:t> Material</a:t>
            </a:r>
          </a:p>
          <a:p>
            <a:r>
              <a:rPr kumimoji="1" lang="en-US" altLang="ja-JP" sz="2000" dirty="0"/>
              <a:t>{</a:t>
            </a:r>
          </a:p>
          <a:p>
            <a:r>
              <a:rPr kumimoji="1" lang="en-US" altLang="ja-JP" sz="2000" dirty="0"/>
              <a:t>    float4 color;</a:t>
            </a:r>
          </a:p>
          <a:p>
            <a:r>
              <a:rPr kumimoji="1" lang="en-US" altLang="ja-JP" sz="2000" dirty="0"/>
              <a:t>    Texture texture;</a:t>
            </a:r>
          </a:p>
          <a:p>
            <a:r>
              <a:rPr kumimoji="1" lang="en-US" altLang="ja-JP" sz="2000" dirty="0"/>
              <a:t>};</a:t>
            </a:r>
            <a:endParaRPr kumimoji="1" lang="ja-JP" altLang="en-US" sz="2000" dirty="0" err="1"/>
          </a:p>
        </p:txBody>
      </p:sp>
      <p:sp>
        <p:nvSpPr>
          <p:cNvPr id="8" name="正方形/長方形 7"/>
          <p:cNvSpPr/>
          <p:nvPr/>
        </p:nvSpPr>
        <p:spPr>
          <a:xfrm>
            <a:off x="3837600" y="3332148"/>
            <a:ext cx="1733126" cy="793098"/>
          </a:xfrm>
          <a:prstGeom prst="rect">
            <a:avLst/>
          </a:prstGeom>
          <a:solidFill>
            <a:srgbClr val="00B0F0"/>
          </a:solidFill>
          <a:ln w="57150">
            <a:solidFill>
              <a:srgbClr val="0070C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[0]</a:t>
            </a:r>
            <a:br>
              <a:rPr kumimoji="1" lang="en-US" altLang="ja-JP" sz="2000" dirty="0"/>
            </a:br>
            <a:r>
              <a:rPr kumimoji="1" lang="ja-JP" altLang="en-US" sz="2000" dirty="0"/>
              <a:t>髪マテリアル</a:t>
            </a:r>
          </a:p>
        </p:txBody>
      </p:sp>
      <p:sp>
        <p:nvSpPr>
          <p:cNvPr id="9" name="正方形/長方形 8"/>
          <p:cNvSpPr/>
          <p:nvPr/>
        </p:nvSpPr>
        <p:spPr>
          <a:xfrm>
            <a:off x="3837600" y="4125246"/>
            <a:ext cx="1733126" cy="793098"/>
          </a:xfrm>
          <a:prstGeom prst="rect">
            <a:avLst/>
          </a:prstGeom>
          <a:solidFill>
            <a:srgbClr val="00B0F0"/>
          </a:solidFill>
          <a:ln w="57150">
            <a:solidFill>
              <a:srgbClr val="0070C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[1]</a:t>
            </a:r>
            <a:br>
              <a:rPr kumimoji="1" lang="en-US" altLang="ja-JP" sz="2000" dirty="0"/>
            </a:br>
            <a:r>
              <a:rPr kumimoji="1" lang="ja-JP" altLang="en-US" sz="2000" dirty="0"/>
              <a:t>体マテリアル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5891532" y="3332148"/>
            <a:ext cx="1733126" cy="7930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solidFill>
              <a:schemeClr val="accent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/>
              <a:t>髪頂点データ</a:t>
            </a:r>
          </a:p>
        </p:txBody>
      </p:sp>
      <p:sp>
        <p:nvSpPr>
          <p:cNvPr id="11" name="正方形/長方形 10"/>
          <p:cNvSpPr/>
          <p:nvPr/>
        </p:nvSpPr>
        <p:spPr>
          <a:xfrm>
            <a:off x="5891532" y="4125245"/>
            <a:ext cx="1733126" cy="10370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solidFill>
              <a:schemeClr val="accent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/>
              <a:t>顔頂点データ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5891532" y="5162308"/>
            <a:ext cx="1733126" cy="11165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solidFill>
              <a:schemeClr val="accent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/>
              <a:t>体頂点データ</a:t>
            </a:r>
          </a:p>
        </p:txBody>
      </p:sp>
      <p:sp>
        <p:nvSpPr>
          <p:cNvPr id="16" name="正方形/長方形 15"/>
          <p:cNvSpPr/>
          <p:nvPr/>
        </p:nvSpPr>
        <p:spPr>
          <a:xfrm>
            <a:off x="8894586" y="3332148"/>
            <a:ext cx="2829639" cy="10238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2000" dirty="0" err="1"/>
              <a:t>material_index</a:t>
            </a:r>
            <a:r>
              <a:rPr kumimoji="1" lang="en-US" altLang="ja-JP" sz="2000" dirty="0"/>
              <a:t> : 0</a:t>
            </a:r>
          </a:p>
          <a:p>
            <a:r>
              <a:rPr kumimoji="1" lang="en-US" altLang="ja-JP" sz="2000" dirty="0" err="1"/>
              <a:t>start_index</a:t>
            </a:r>
            <a:r>
              <a:rPr kumimoji="1" lang="en-US" altLang="ja-JP" sz="2000" dirty="0"/>
              <a:t>        : 0</a:t>
            </a:r>
          </a:p>
          <a:p>
            <a:r>
              <a:rPr kumimoji="1" lang="en-US" altLang="ja-JP" sz="2000" dirty="0" err="1"/>
              <a:t>index_count</a:t>
            </a:r>
            <a:r>
              <a:rPr kumimoji="1" lang="en-US" altLang="ja-JP" sz="2000" dirty="0"/>
              <a:t>      : 1000</a:t>
            </a:r>
            <a:endParaRPr kumimoji="1" lang="ja-JP" altLang="en-US" sz="2000" dirty="0"/>
          </a:p>
        </p:txBody>
      </p:sp>
      <p:sp>
        <p:nvSpPr>
          <p:cNvPr id="20" name="正方形/長方形 19"/>
          <p:cNvSpPr/>
          <p:nvPr/>
        </p:nvSpPr>
        <p:spPr>
          <a:xfrm>
            <a:off x="8894586" y="4355963"/>
            <a:ext cx="2829639" cy="10238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2000" dirty="0" err="1"/>
              <a:t>material_index</a:t>
            </a:r>
            <a:r>
              <a:rPr kumimoji="1" lang="en-US" altLang="ja-JP" sz="2000" dirty="0"/>
              <a:t> : 1</a:t>
            </a:r>
          </a:p>
          <a:p>
            <a:r>
              <a:rPr kumimoji="1" lang="en-US" altLang="ja-JP" sz="2000" dirty="0" err="1"/>
              <a:t>start_index</a:t>
            </a:r>
            <a:r>
              <a:rPr kumimoji="1" lang="en-US" altLang="ja-JP" sz="2000" dirty="0"/>
              <a:t>        : 1000</a:t>
            </a:r>
          </a:p>
          <a:p>
            <a:r>
              <a:rPr kumimoji="1" lang="en-US" altLang="ja-JP" sz="2000" dirty="0" err="1"/>
              <a:t>index_count</a:t>
            </a:r>
            <a:r>
              <a:rPr kumimoji="1" lang="en-US" altLang="ja-JP" sz="2000" dirty="0"/>
              <a:t>      : 3000</a:t>
            </a:r>
            <a:endParaRPr kumimoji="1" lang="ja-JP" altLang="en-US" sz="2000" dirty="0"/>
          </a:p>
        </p:txBody>
      </p:sp>
      <p:sp>
        <p:nvSpPr>
          <p:cNvPr id="21" name="正方形/長方形 20"/>
          <p:cNvSpPr/>
          <p:nvPr/>
        </p:nvSpPr>
        <p:spPr>
          <a:xfrm>
            <a:off x="8894586" y="5379401"/>
            <a:ext cx="2829639" cy="10238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2000" dirty="0" err="1"/>
              <a:t>material_index</a:t>
            </a:r>
            <a:r>
              <a:rPr kumimoji="1" lang="en-US" altLang="ja-JP" sz="2000" dirty="0"/>
              <a:t> : 1</a:t>
            </a:r>
          </a:p>
          <a:p>
            <a:r>
              <a:rPr kumimoji="1" lang="en-US" altLang="ja-JP" sz="2000" dirty="0" err="1"/>
              <a:t>start_index</a:t>
            </a:r>
            <a:r>
              <a:rPr kumimoji="1" lang="en-US" altLang="ja-JP" sz="2000" dirty="0"/>
              <a:t>        : 3000</a:t>
            </a:r>
          </a:p>
          <a:p>
            <a:r>
              <a:rPr kumimoji="1" lang="en-US" altLang="ja-JP" sz="2000" dirty="0" err="1"/>
              <a:t>index_count</a:t>
            </a:r>
            <a:r>
              <a:rPr kumimoji="1" lang="en-US" altLang="ja-JP" sz="2000" dirty="0"/>
              <a:t>      : 4000</a:t>
            </a:r>
            <a:endParaRPr kumimoji="1" lang="ja-JP" altLang="en-US" sz="2000" dirty="0"/>
          </a:p>
        </p:txBody>
      </p:sp>
      <p:sp>
        <p:nvSpPr>
          <p:cNvPr id="22" name="正方形/長方形 21"/>
          <p:cNvSpPr/>
          <p:nvPr/>
        </p:nvSpPr>
        <p:spPr>
          <a:xfrm>
            <a:off x="7948543" y="3331960"/>
            <a:ext cx="946043" cy="10238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[0]</a:t>
            </a:r>
          </a:p>
          <a:p>
            <a:pPr algn="ctr"/>
            <a:r>
              <a:rPr kumimoji="1" lang="ja-JP" altLang="en-US" sz="2000" dirty="0"/>
              <a:t>髪</a:t>
            </a:r>
          </a:p>
        </p:txBody>
      </p:sp>
      <p:sp>
        <p:nvSpPr>
          <p:cNvPr id="23" name="正方形/長方形 22"/>
          <p:cNvSpPr/>
          <p:nvPr/>
        </p:nvSpPr>
        <p:spPr>
          <a:xfrm>
            <a:off x="7948542" y="4350151"/>
            <a:ext cx="946043" cy="10238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[1]</a:t>
            </a:r>
          </a:p>
          <a:p>
            <a:pPr algn="ctr"/>
            <a:r>
              <a:rPr kumimoji="1" lang="ja-JP" altLang="en-US" sz="2000" dirty="0"/>
              <a:t>顔</a:t>
            </a:r>
          </a:p>
        </p:txBody>
      </p:sp>
      <p:sp>
        <p:nvSpPr>
          <p:cNvPr id="24" name="正方形/長方形 23"/>
          <p:cNvSpPr/>
          <p:nvPr/>
        </p:nvSpPr>
        <p:spPr>
          <a:xfrm>
            <a:off x="7945464" y="5385213"/>
            <a:ext cx="946043" cy="10238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[2]</a:t>
            </a:r>
          </a:p>
          <a:p>
            <a:pPr algn="ctr"/>
            <a:r>
              <a:rPr kumimoji="1" lang="ja-JP" altLang="en-US" sz="2000" dirty="0"/>
              <a:t>体</a:t>
            </a: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4023405" y="2748914"/>
            <a:ext cx="1467068" cy="4001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マテリアル</a:t>
            </a: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6024561" y="2720522"/>
            <a:ext cx="1723549" cy="4001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頂点バッファ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8687312" y="2720522"/>
            <a:ext cx="1467068" cy="4001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サブセット</a:t>
            </a:r>
          </a:p>
        </p:txBody>
      </p:sp>
    </p:spTree>
    <p:extLst>
      <p:ext uri="{BB962C8B-B14F-4D97-AF65-F5344CB8AC3E}">
        <p14:creationId xmlns:p14="http://schemas.microsoft.com/office/powerpoint/2010/main" val="67248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.</a:t>
            </a:r>
            <a:r>
              <a:rPr lang="en-US" altLang="ja-JP" dirty="0" err="1"/>
              <a:t>obj</a:t>
            </a:r>
            <a:r>
              <a:rPr lang="ja-JP" altLang="en-US" dirty="0"/>
              <a:t>からサブセットデータを構築するには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35480"/>
            <a:ext cx="7219697" cy="4922520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8032830" y="2361235"/>
            <a:ext cx="3854370" cy="230832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①</a:t>
            </a:r>
            <a:r>
              <a:rPr kumimoji="1" lang="en-US" altLang="ja-JP" dirty="0"/>
              <a:t>.</a:t>
            </a:r>
            <a:r>
              <a:rPr kumimoji="1" lang="en-US" altLang="ja-JP" dirty="0" err="1"/>
              <a:t>obj</a:t>
            </a:r>
            <a:r>
              <a:rPr kumimoji="1" lang="en-US" altLang="ja-JP" dirty="0"/>
              <a:t> </a:t>
            </a:r>
            <a:r>
              <a:rPr kumimoji="1" lang="ja-JP" altLang="en-US" dirty="0"/>
              <a:t>から </a:t>
            </a:r>
            <a:r>
              <a:rPr kumimoji="1" lang="en-US" altLang="ja-JP" dirty="0" err="1"/>
              <a:t>usemtl</a:t>
            </a:r>
            <a:r>
              <a:rPr kumimoji="1" lang="en-US" altLang="ja-JP" dirty="0"/>
              <a:t> </a:t>
            </a:r>
            <a:r>
              <a:rPr kumimoji="1" lang="ja-JP" altLang="en-US" dirty="0"/>
              <a:t>を探す。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②</a:t>
            </a:r>
            <a:r>
              <a:rPr kumimoji="1" lang="en-US" altLang="ja-JP" dirty="0" err="1"/>
              <a:t>usemtl</a:t>
            </a:r>
            <a:r>
              <a:rPr kumimoji="1" lang="ja-JP" altLang="en-US" dirty="0"/>
              <a:t>単位でサブセット</a:t>
            </a:r>
            <a:endParaRPr kumimoji="1" lang="en-US" altLang="ja-JP" dirty="0"/>
          </a:p>
          <a:p>
            <a:r>
              <a:rPr kumimoji="1" lang="ja-JP" altLang="en-US" dirty="0"/>
              <a:t>　データを作る。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③</a:t>
            </a:r>
            <a:r>
              <a:rPr kumimoji="1" lang="en-US" altLang="ja-JP" dirty="0" err="1"/>
              <a:t>usemtl</a:t>
            </a:r>
            <a:r>
              <a:rPr kumimoji="1" lang="en-US" altLang="ja-JP" dirty="0"/>
              <a:t> </a:t>
            </a:r>
            <a:r>
              <a:rPr kumimoji="1" lang="ja-JP" altLang="en-US" dirty="0"/>
              <a:t>の名前と </a:t>
            </a:r>
            <a:r>
              <a:rPr kumimoji="1" lang="en-US" altLang="ja-JP" dirty="0"/>
              <a:t>.</a:t>
            </a:r>
            <a:r>
              <a:rPr kumimoji="1" lang="en-US" altLang="ja-JP" dirty="0" err="1"/>
              <a:t>mtl</a:t>
            </a:r>
            <a:r>
              <a:rPr kumimoji="1" lang="en-US" altLang="ja-JP" dirty="0"/>
              <a:t> </a:t>
            </a:r>
            <a:r>
              <a:rPr kumimoji="1" lang="ja-JP" altLang="en-US" dirty="0"/>
              <a:t>の </a:t>
            </a:r>
            <a:r>
              <a:rPr kumimoji="1" lang="en-US" altLang="ja-JP" dirty="0" err="1"/>
              <a:t>newmtl</a:t>
            </a:r>
            <a:endParaRPr kumimoji="1" lang="en-US" altLang="ja-JP" dirty="0"/>
          </a:p>
          <a:p>
            <a:r>
              <a:rPr kumimoji="1" lang="ja-JP" altLang="en-US" dirty="0"/>
              <a:t>　の名前が一致したマテリアルを</a:t>
            </a:r>
            <a:br>
              <a:rPr kumimoji="1" lang="en-US" altLang="ja-JP" dirty="0"/>
            </a:br>
            <a:r>
              <a:rPr kumimoji="1" lang="ja-JP" altLang="en-US" dirty="0"/>
              <a:t>　関連付ける。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3705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最適化を意識してプログラムを組む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なんとなくこんな感じになると思う。</a:t>
            </a:r>
            <a:endParaRPr lang="en-US" altLang="ja-JP" dirty="0"/>
          </a:p>
          <a:p>
            <a:r>
              <a:rPr lang="ja-JP" altLang="en-US" dirty="0"/>
              <a:t>なるべく</a:t>
            </a:r>
            <a:r>
              <a:rPr lang="en-US" altLang="ja-JP" dirty="0" err="1"/>
              <a:t>DeviceContext</a:t>
            </a:r>
            <a:r>
              <a:rPr lang="ja-JP" altLang="en-US" dirty="0"/>
              <a:t>で実行する命令を少なくなるように工夫しよう。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76446" y="3116410"/>
            <a:ext cx="6053560" cy="313932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void </a:t>
            </a:r>
            <a:r>
              <a:rPr kumimoji="1" lang="en-US" altLang="ja-JP" dirty="0" err="1"/>
              <a:t>StaticMesh</a:t>
            </a:r>
            <a:r>
              <a:rPr kumimoji="1" lang="en-US" altLang="ja-JP" dirty="0"/>
              <a:t>::Render()</a:t>
            </a:r>
          </a:p>
          <a:p>
            <a:r>
              <a:rPr kumimoji="1" lang="en-US" altLang="ja-JP" dirty="0"/>
              <a:t>{</a:t>
            </a:r>
          </a:p>
          <a:p>
            <a:r>
              <a:rPr kumimoji="1" lang="en-US" altLang="ja-JP" dirty="0"/>
              <a:t>    context-&gt;IASetVertexBuffers();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for (auto&amp; subset : </a:t>
            </a:r>
            <a:r>
              <a:rPr kumimoji="1" lang="en-US" altLang="ja-JP" dirty="0" err="1"/>
              <a:t>sebsets</a:t>
            </a:r>
            <a:r>
              <a:rPr kumimoji="1" lang="en-US" altLang="ja-JP" dirty="0"/>
              <a:t>)</a:t>
            </a:r>
          </a:p>
          <a:p>
            <a:r>
              <a:rPr kumimoji="1" lang="en-US" altLang="ja-JP" dirty="0"/>
              <a:t>    {</a:t>
            </a:r>
          </a:p>
          <a:p>
            <a:r>
              <a:rPr kumimoji="1" lang="en-US" altLang="ja-JP" dirty="0"/>
              <a:t>        Material* mat = &amp;materials[</a:t>
            </a:r>
            <a:r>
              <a:rPr kumimoji="1" lang="en-US" altLang="ja-JP" dirty="0" err="1"/>
              <a:t>subset.mat_index</a:t>
            </a:r>
            <a:r>
              <a:rPr kumimoji="1" lang="en-US" altLang="ja-JP" dirty="0"/>
              <a:t>];</a:t>
            </a:r>
          </a:p>
          <a:p>
            <a:r>
              <a:rPr kumimoji="1" lang="en-US" altLang="ja-JP" dirty="0"/>
              <a:t>        context-&gt;</a:t>
            </a:r>
            <a:r>
              <a:rPr kumimoji="1" lang="en-US" altLang="ja-JP" dirty="0" err="1"/>
              <a:t>PSSetShaderResources</a:t>
            </a:r>
            <a:r>
              <a:rPr kumimoji="1" lang="en-US" altLang="ja-JP" dirty="0"/>
              <a:t>()</a:t>
            </a:r>
          </a:p>
          <a:p>
            <a:r>
              <a:rPr kumimoji="1" lang="en-US" altLang="ja-JP" dirty="0"/>
              <a:t>        context-&gt;</a:t>
            </a:r>
            <a:r>
              <a:rPr kumimoji="1" lang="en-US" altLang="ja-JP" dirty="0" err="1"/>
              <a:t>DrawIndexed</a:t>
            </a:r>
            <a:r>
              <a:rPr kumimoji="1" lang="en-US" altLang="ja-JP" dirty="0"/>
              <a:t>()</a:t>
            </a:r>
          </a:p>
          <a:p>
            <a:r>
              <a:rPr kumimoji="1" lang="en-US" altLang="ja-JP" dirty="0"/>
              <a:t>    }</a:t>
            </a:r>
          </a:p>
          <a:p>
            <a:r>
              <a:rPr kumimoji="1" lang="en-US" altLang="ja-JP" dirty="0"/>
              <a:t>}</a:t>
            </a:r>
            <a:endParaRPr kumimoji="1" lang="ja-JP" altLang="en-US" dirty="0" err="1"/>
          </a:p>
        </p:txBody>
      </p:sp>
    </p:spTree>
    <p:extLst>
      <p:ext uri="{BB962C8B-B14F-4D97-AF65-F5344CB8AC3E}">
        <p14:creationId xmlns:p14="http://schemas.microsoft.com/office/powerpoint/2010/main" val="134685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実習内容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OBJ</a:t>
            </a:r>
            <a:r>
              <a:rPr kumimoji="1" lang="ja-JP" altLang="en-US" dirty="0"/>
              <a:t>ファイルと</a:t>
            </a:r>
            <a:r>
              <a:rPr kumimoji="1" lang="en-US" altLang="ja-JP" dirty="0"/>
              <a:t>MTL</a:t>
            </a:r>
            <a:r>
              <a:rPr kumimoji="1" lang="ja-JP" altLang="en-US" dirty="0"/>
              <a:t>ファイルからデータを抽出し、</a:t>
            </a:r>
            <a:br>
              <a:rPr kumimoji="1" lang="en-US" altLang="ja-JP" dirty="0"/>
            </a:br>
            <a:r>
              <a:rPr kumimoji="1" lang="ja-JP" altLang="en-US" dirty="0"/>
              <a:t>メッシュサブセットを作る。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スタティックメッシュの描画をサブセット単位で</a:t>
            </a:r>
            <a:br>
              <a:rPr lang="en-US" altLang="ja-JP" dirty="0"/>
            </a:br>
            <a:r>
              <a:rPr lang="ja-JP" altLang="en-US" dirty="0"/>
              <a:t>描画できるようにする。</a:t>
            </a:r>
            <a:br>
              <a:rPr lang="en-US" altLang="ja-JP" dirty="0"/>
            </a:b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4059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ブレーンストーミングのプレゼンテーション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5870482_TF03460637.potx" id="{8F3B156D-932A-4C4F-B19B-13DA9C7AB513}" vid="{CAF0C7A8-6467-402F-B5CC-E460ADA54AE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ビジネス ブレーンストーミング プレゼンテーション</Template>
  <TotalTime>879</TotalTime>
  <Words>608</Words>
  <Application>Microsoft Office PowerPoint</Application>
  <PresentationFormat>ワイド画面</PresentationFormat>
  <Paragraphs>118</Paragraphs>
  <Slides>11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Meiryo UI</vt:lpstr>
      <vt:lpstr>ＭＳ 明朝</vt:lpstr>
      <vt:lpstr>Palatino Linotype</vt:lpstr>
      <vt:lpstr>Wingdings 2</vt:lpstr>
      <vt:lpstr>ブレーンストーミングのプレゼンテーション</vt:lpstr>
      <vt:lpstr>描画エンジン開発Ⅰ・Ⅱ</vt:lpstr>
      <vt:lpstr>授業内容</vt:lpstr>
      <vt:lpstr>実行結果</vt:lpstr>
      <vt:lpstr>複数マテリアルを内包するメッシュとは</vt:lpstr>
      <vt:lpstr>メッシュを描画するには</vt:lpstr>
      <vt:lpstr>複数マテリアルのメッシュを描画するには</vt:lpstr>
      <vt:lpstr>頂点バッファを共有する</vt:lpstr>
      <vt:lpstr>サブセットとは</vt:lpstr>
      <vt:lpstr>.objからサブセットデータを構築するには</vt:lpstr>
      <vt:lpstr>最適化を意識してプログラムを組む</vt:lpstr>
      <vt:lpstr>実習内容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描画エンジン制作Ⅰ</dc:title>
  <dc:creator>吉野 広二</dc:creator>
  <cp:lastModifiedBy>小西 陸生</cp:lastModifiedBy>
  <cp:revision>86</cp:revision>
  <dcterms:created xsi:type="dcterms:W3CDTF">2019-03-17T05:51:21Z</dcterms:created>
  <dcterms:modified xsi:type="dcterms:W3CDTF">2026-07-07T00:24:29Z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