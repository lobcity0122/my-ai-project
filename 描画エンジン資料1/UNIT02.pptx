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3"/>
  </p:notesMasterIdLst>
  <p:handoutMasterIdLst>
    <p:handoutMasterId r:id="rId24"/>
  </p:handoutMasterIdLst>
  <p:sldIdLst>
    <p:sldId id="272" r:id="rId2"/>
    <p:sldId id="273" r:id="rId3"/>
    <p:sldId id="287" r:id="rId4"/>
    <p:sldId id="293" r:id="rId5"/>
    <p:sldId id="289" r:id="rId6"/>
    <p:sldId id="288" r:id="rId7"/>
    <p:sldId id="290" r:id="rId8"/>
    <p:sldId id="291" r:id="rId9"/>
    <p:sldId id="280" r:id="rId10"/>
    <p:sldId id="274" r:id="rId11"/>
    <p:sldId id="285" r:id="rId12"/>
    <p:sldId id="275" r:id="rId13"/>
    <p:sldId id="286" r:id="rId14"/>
    <p:sldId id="281" r:id="rId15"/>
    <p:sldId id="292" r:id="rId16"/>
    <p:sldId id="283" r:id="rId17"/>
    <p:sldId id="282" r:id="rId18"/>
    <p:sldId id="276" r:id="rId19"/>
    <p:sldId id="277" r:id="rId20"/>
    <p:sldId id="278" r:id="rId21"/>
    <p:sldId id="279" r:id="rId22"/>
  </p:sldIdLst>
  <p:sldSz cx="12192000" cy="6858000"/>
  <p:notesSz cx="6858000" cy="9144000"/>
  <p:defaultTextStyle>
    <a:defPPr rtl="0">
      <a:defRPr lang="ja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8" autoAdjust="0"/>
    <p:restoredTop sz="75270" autoAdjust="0"/>
  </p:normalViewPr>
  <p:slideViewPr>
    <p:cSldViewPr snapToGrid="0">
      <p:cViewPr varScale="1">
        <p:scale>
          <a:sx n="58" d="100"/>
          <a:sy n="58" d="100"/>
        </p:scale>
        <p:origin x="118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14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DA88A-700E-4959-AD05-3C421866BDC6}" type="datetime4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2021年3月8日</a:t>
            </a:fld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09A4F4-89FA-4551-A9F4-ECDBD52C06D6}" type="slidenum">
              <a:rPr kumimoji="1"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48109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EECA54F6-A409-4052-BA8C-D33E3AF8AD29}" type="datetime4">
              <a:rPr lang="ja-JP" altLang="en-US" smtClean="0"/>
              <a:pPr/>
              <a:t>2021年3月8日</a:t>
            </a:fld>
            <a:endParaRPr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ja-JP" altLang="en-US" noProof="0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893B0CF2-7F87-4E02-A248-870047730F99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14981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5133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6351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5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6900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6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19229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7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04975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8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448037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Normalized</a:t>
            </a:r>
            <a:r>
              <a:rPr kumimoji="1" lang="en-US" altLang="ja-JP" baseline="0" dirty="0" smtClean="0"/>
              <a:t> Device Coordinate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9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660780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10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982443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63582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18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84533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19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267606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20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61003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21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4907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 9"/>
          <p:cNvGrpSpPr/>
          <p:nvPr/>
        </p:nvGrpSpPr>
        <p:grpSpPr>
          <a:xfrm>
            <a:off x="0" y="6208894"/>
            <a:ext cx="12192000" cy="649106"/>
            <a:chOff x="0" y="6208894"/>
            <a:chExt cx="12192000" cy="649106"/>
          </a:xfrm>
        </p:grpSpPr>
        <p:sp>
          <p:nvSpPr>
            <p:cNvPr id="2" name="長方形 1"/>
            <p:cNvSpPr/>
            <p:nvPr/>
          </p:nvSpPr>
          <p:spPr>
            <a:xfrm>
              <a:off x="3048" y="6220178"/>
              <a:ext cx="12188952" cy="637822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/>
            </a:p>
          </p:txBody>
        </p:sp>
        <p:cxnSp>
          <p:nvCxnSpPr>
            <p:cNvPr id="7" name="直線​​コネクタ 6"/>
            <p:cNvCxnSpPr/>
            <p:nvPr/>
          </p:nvCxnSpPr>
          <p:spPr>
            <a:xfrm>
              <a:off x="0" y="6208894"/>
              <a:ext cx="12192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直線​​コネクタ 4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​​コネクタ 10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タイトル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17" name="サブタイトル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 rtlCol="0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ja-JP" altLang="en-US" noProof="0" smtClean="0"/>
              <a:t>マスター サブタイトルの書式設定</a:t>
            </a:r>
            <a:endParaRPr kumimoji="0" lang="ja-JP" altLang="en-US" noProof="0" dirty="0"/>
          </a:p>
        </p:txBody>
      </p:sp>
      <p:sp>
        <p:nvSpPr>
          <p:cNvPr id="30" name="日付プレースホルダー 2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D9F5B4-D2B9-4671-9B63-0110E6386A4E}" type="datetime4">
              <a:rPr lang="ja-JP" altLang="en-US" smtClean="0"/>
              <a:t>2021年3月8日</a:t>
            </a:fld>
            <a:endParaRPr lang="en-US" dirty="0"/>
          </a:p>
        </p:txBody>
      </p:sp>
      <p:sp>
        <p:nvSpPr>
          <p:cNvPr id="19" name="フッター プレースホルダー 1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27" name="スライド番号プレースホルダー 2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98082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0C11D6-D226-45B1-8AA5-91C501F3B0E7}" type="datetime4">
              <a:rPr lang="ja-JP" altLang="en-US" smtClean="0"/>
              <a:t>2021年3月8日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8168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 ヘッダ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rtlCol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rtlCol="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400AA1-06A4-444F-94EA-80BA16484187}" type="datetime4">
              <a:rPr lang="ja-JP" altLang="en-US" smtClean="0"/>
              <a:t>2021年3月8日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5319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段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38B790-6ACD-441F-B06D-4917F8B429D2}" type="datetime4">
              <a:rPr lang="ja-JP" altLang="en-US" smtClean="0"/>
              <a:t>2021年3月8日</a:t>
            </a:fld>
            <a:endParaRPr 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0901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rtlCol="0" anchor="b"/>
          <a:lstStyle>
            <a:lvl1pPr>
              <a:defRPr/>
            </a:lvl1pPr>
          </a:lstStyle>
          <a:p>
            <a:pPr rtl="0"/>
            <a:r>
              <a:rPr lang="ja-JP" altLang="en-US" smtClean="0"/>
              <a:t>マスター タイトルの書式設定</a:t>
            </a:r>
            <a:endParaRPr kumimoji="0" 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rtlCol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rtlCol="0" anchor="ctr"/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 dirty="0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296CEC-F0EC-4499-B406-555829E93D38}" type="datetime4">
              <a:rPr lang="ja-JP" altLang="en-US" smtClean="0"/>
              <a:t>2021年3月8日</a:t>
            </a:fld>
            <a:endParaRPr 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" dirty="0"/>
              <a:t>フッターを追加</a:t>
            </a:r>
            <a:endParaRPr 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18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C8EE4A-0564-4F19-AF56-1B86A81857A1}" type="datetime4">
              <a:rPr lang="ja-JP" altLang="en-US" smtClean="0"/>
              <a:t>2021年3月8日</a:t>
            </a:fld>
            <a:endParaRPr 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07181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D0A0B1-5389-4168-8C71-456999E01C6A}" type="datetime4">
              <a:rPr lang="ja-JP" altLang="en-US" smtClean="0"/>
              <a:t>2021年3月8日</a:t>
            </a:fld>
            <a:endParaRPr 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288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rtlCol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 rtlCol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 rtlCol="0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FAF4E1-8E5B-454D-966C-37225B9702A6}" type="datetime4">
              <a:rPr lang="ja-JP" altLang="en-US" smtClean="0"/>
              <a:t>2021年3月8日</a:t>
            </a:fld>
            <a:endParaRPr 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9192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キャプション付きの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つの角を切り取って丸めた四角形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ja-JP" altLang="en-US" sz="1800" noProof="0" dirty="0"/>
          </a:p>
        </p:txBody>
      </p:sp>
      <p:sp>
        <p:nvSpPr>
          <p:cNvPr id="12" name="直角三角形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ja-JP" altLang="en-US" sz="1800" noProof="0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rtlCol="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図プレースホルダー 2" descr="画像を追加する空のプレースホルダー。プレースホルダーをクリックし、追加する画像を選択します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ja-JP" altLang="en-US" noProof="0" smtClean="0"/>
              <a:t>図を追加</a:t>
            </a:r>
            <a:endParaRPr kumimoji="0" lang="ja-JP" altLang="en-US" noProof="0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rtlCol="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BA228A8-1DDA-4C9E-B7BB-B3D4A4576159}" type="datetime4">
              <a:rPr lang="ja-JP" altLang="en-US" smtClean="0"/>
              <a:t>2021年3月8日</a:t>
            </a:fld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  <p:sp>
        <p:nvSpPr>
          <p:cNvPr id="10" name="フリーフォーム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ja-JP" altLang="en-US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フリーフォーム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ja-JP" altLang="en-US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62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 eaLnBrk="1" latinLnBrk="0" hangingPunct="1"/>
            <a:r>
              <a:rPr lang="ja-JP" altLang="en-US" noProof="0" dirty="0"/>
              <a:t>クリックしてマスター テキストのスタイルを編集</a:t>
            </a:r>
          </a:p>
          <a:p>
            <a:pPr lvl="1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2 </a:t>
            </a:r>
            <a:r>
              <a:rPr kumimoji="1" lang="ja-JP" altLang="en-US" noProof="0" dirty="0" smtClean="0"/>
              <a:t>レベル</a:t>
            </a:r>
          </a:p>
          <a:p>
            <a:pPr lvl="2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3 </a:t>
            </a:r>
            <a:r>
              <a:rPr kumimoji="1" lang="ja-JP" altLang="en-US" noProof="0" dirty="0" smtClean="0"/>
              <a:t>レベル</a:t>
            </a:r>
          </a:p>
          <a:p>
            <a:pPr lvl="3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4 </a:t>
            </a:r>
            <a:r>
              <a:rPr kumimoji="1" lang="ja-JP" altLang="en-US" noProof="0" dirty="0" smtClean="0"/>
              <a:t>レベル</a:t>
            </a:r>
          </a:p>
          <a:p>
            <a:pPr lvl="4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5 </a:t>
            </a:r>
            <a:r>
              <a:rPr kumimoji="1" lang="ja-JP" altLang="en-US" noProof="0" dirty="0" smtClean="0"/>
              <a:t>レベル</a:t>
            </a:r>
            <a:endParaRPr kumimoji="1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89D195-22A8-4E03-A4C1-FF558F7B427F}" type="datetime4">
              <a:rPr lang="ja-JP" altLang="en-US" smtClean="0"/>
              <a:t>2021年3月8日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7777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914402"/>
            <a:ext cx="8026400" cy="5211763"/>
          </a:xfrm>
        </p:spPr>
        <p:txBody>
          <a:bodyPr vert="eaVert" rtlCol="0"/>
          <a:lstStyle/>
          <a:p>
            <a:pPr lvl="0" rtl="0" eaLnBrk="1" latinLnBrk="0" hangingPunct="1"/>
            <a:r>
              <a:rPr lang="ja-JP" altLang="en-US" noProof="0" dirty="0"/>
              <a:t>クリックしてマスター テキストのスタイルを編集</a:t>
            </a:r>
          </a:p>
          <a:p>
            <a:pPr lvl="1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2 </a:t>
            </a:r>
            <a:r>
              <a:rPr kumimoji="1" lang="ja-JP" altLang="en-US" noProof="0" dirty="0" smtClean="0"/>
              <a:t>レベル</a:t>
            </a:r>
          </a:p>
          <a:p>
            <a:pPr lvl="2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3 </a:t>
            </a:r>
            <a:r>
              <a:rPr kumimoji="1" lang="ja-JP" altLang="en-US" noProof="0" dirty="0" smtClean="0"/>
              <a:t>レベル</a:t>
            </a:r>
          </a:p>
          <a:p>
            <a:pPr lvl="3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4 </a:t>
            </a:r>
            <a:r>
              <a:rPr kumimoji="1" lang="ja-JP" altLang="en-US" noProof="0" dirty="0" smtClean="0"/>
              <a:t>レベル</a:t>
            </a:r>
          </a:p>
          <a:p>
            <a:pPr lvl="4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5 </a:t>
            </a:r>
            <a:r>
              <a:rPr kumimoji="1" lang="ja-JP" altLang="en-US" noProof="0" dirty="0" smtClean="0"/>
              <a:t>レベル</a:t>
            </a:r>
            <a:endParaRPr kumimoji="1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9B777F-2BA6-42C0-83EF-2CC97DD0D6E7}" type="datetime4">
              <a:rPr lang="ja-JP" altLang="en-US" smtClean="0"/>
              <a:t>2021年3月8日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3697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グループ 24"/>
          <p:cNvGrpSpPr/>
          <p:nvPr/>
        </p:nvGrpSpPr>
        <p:grpSpPr>
          <a:xfrm>
            <a:off x="-29028" y="-7144"/>
            <a:ext cx="12240731" cy="6879658"/>
            <a:chOff x="0" y="-21658"/>
            <a:chExt cx="12240731" cy="6879658"/>
          </a:xfrm>
        </p:grpSpPr>
        <p:sp>
          <p:nvSpPr>
            <p:cNvPr id="26" name="長方形 25"/>
            <p:cNvSpPr/>
            <p:nvPr/>
          </p:nvSpPr>
          <p:spPr>
            <a:xfrm>
              <a:off x="31633" y="0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/>
            </a:p>
          </p:txBody>
        </p:sp>
        <p:grpSp>
          <p:nvGrpSpPr>
            <p:cNvPr id="27" name="グループ 26"/>
            <p:cNvGrpSpPr/>
            <p:nvPr/>
          </p:nvGrpSpPr>
          <p:grpSpPr>
            <a:xfrm>
              <a:off x="0" y="-21658"/>
              <a:ext cx="12240731" cy="1041400"/>
              <a:chOff x="-25356" y="-7144"/>
              <a:chExt cx="12240731" cy="1041400"/>
            </a:xfrm>
          </p:grpSpPr>
          <p:sp>
            <p:nvSpPr>
              <p:cNvPr id="28" name="フリーフォーム 27"/>
              <p:cNvSpPr>
                <a:spLocks/>
              </p:cNvSpPr>
              <p:nvPr/>
            </p:nvSpPr>
            <p:spPr bwMode="auto">
              <a:xfrm>
                <a:off x="-12700" y="-7144"/>
                <a:ext cx="12217400" cy="1041400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6" y="2"/>
                  </a:cxn>
                  <a:cxn ang="0">
                    <a:pos x="2542" y="0"/>
                  </a:cxn>
                  <a:cxn ang="0">
                    <a:pos x="4374" y="367"/>
                  </a:cxn>
                  <a:cxn ang="0">
                    <a:pos x="5766" y="55"/>
                  </a:cxn>
                  <a:cxn ang="0">
                    <a:pos x="5772" y="213"/>
                  </a:cxn>
                  <a:cxn ang="0">
                    <a:pos x="4302" y="439"/>
                  </a:cxn>
                  <a:cxn ang="0">
                    <a:pos x="1488" y="201"/>
                  </a:cxn>
                  <a:cxn ang="0">
                    <a:pos x="0" y="656"/>
                  </a:cxn>
                  <a:cxn ang="0">
                    <a:pos x="6" y="2"/>
                  </a:cxn>
                </a:cxnLst>
                <a:rect l="0" t="0" r="0" b="0"/>
                <a:pathLst>
                  <a:path w="5772" h="656">
                    <a:moveTo>
                      <a:pt x="6" y="2"/>
                    </a:moveTo>
                    <a:lnTo>
                      <a:pt x="2542" y="0"/>
                    </a:lnTo>
                    <a:cubicBezTo>
                      <a:pt x="2746" y="101"/>
                      <a:pt x="3828" y="367"/>
                      <a:pt x="4374" y="367"/>
                    </a:cubicBezTo>
                    <a:cubicBezTo>
                      <a:pt x="4920" y="367"/>
                      <a:pt x="5526" y="152"/>
                      <a:pt x="5766" y="55"/>
                    </a:cubicBezTo>
                    <a:lnTo>
                      <a:pt x="5772" y="213"/>
                    </a:lnTo>
                    <a:cubicBezTo>
                      <a:pt x="5670" y="257"/>
                      <a:pt x="5016" y="441"/>
                      <a:pt x="4302" y="439"/>
                    </a:cubicBezTo>
                    <a:cubicBezTo>
                      <a:pt x="3588" y="437"/>
                      <a:pt x="2205" y="165"/>
                      <a:pt x="1488" y="201"/>
                    </a:cubicBezTo>
                    <a:cubicBezTo>
                      <a:pt x="750" y="209"/>
                      <a:pt x="270" y="482"/>
                      <a:pt x="0" y="656"/>
                    </a:cubicBezTo>
                    <a:lnTo>
                      <a:pt x="6" y="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shade val="50000"/>
                      <a:alpha val="45000"/>
                      <a:satMod val="120000"/>
                    </a:schemeClr>
                  </a:gs>
                  <a:gs pos="100000">
                    <a:schemeClr val="accent3">
                      <a:shade val="80000"/>
                      <a:alpha val="55000"/>
                      <a:satMod val="155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ja-JP" altLang="en-US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フリーフォーム 28"/>
              <p:cNvSpPr>
                <a:spLocks/>
              </p:cNvSpPr>
              <p:nvPr/>
            </p:nvSpPr>
            <p:spPr bwMode="auto">
              <a:xfrm>
                <a:off x="5842000" y="-7144"/>
                <a:ext cx="6350000" cy="638175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0"/>
                  </a:cxn>
                  <a:cxn ang="0">
                    <a:pos x="1668" y="564"/>
                  </a:cxn>
                  <a:cxn ang="0">
                    <a:pos x="3000" y="186"/>
                  </a:cxn>
                  <a:cxn ang="0">
                    <a:pos x="3000" y="6"/>
                  </a:cxn>
                  <a:cxn ang="0">
                    <a:pos x="0" y="0"/>
                  </a:cxn>
                </a:cxnLst>
                <a:rect l="0" t="0" r="0" b="0"/>
                <a:pathLst>
                  <a:path w="3000" h="595">
                    <a:moveTo>
                      <a:pt x="0" y="0"/>
                    </a:moveTo>
                    <a:cubicBezTo>
                      <a:pt x="174" y="102"/>
                      <a:pt x="1168" y="533"/>
                      <a:pt x="1668" y="564"/>
                    </a:cubicBezTo>
                    <a:cubicBezTo>
                      <a:pt x="2168" y="595"/>
                      <a:pt x="2778" y="279"/>
                      <a:pt x="3000" y="186"/>
                    </a:cubicBezTo>
                    <a:lnTo>
                      <a:pt x="3000" y="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shade val="50000"/>
                      <a:alpha val="30000"/>
                      <a:satMod val="130000"/>
                    </a:schemeClr>
                  </a:gs>
                  <a:gs pos="80000">
                    <a:schemeClr val="accent2">
                      <a:shade val="75000"/>
                      <a:alpha val="45000"/>
                      <a:satMod val="140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ja-JP" altLang="en-US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31" name="グループ 30"/>
              <p:cNvGrpSpPr/>
              <p:nvPr/>
            </p:nvGrpSpPr>
            <p:grpSpPr>
              <a:xfrm>
                <a:off x="-25356" y="202408"/>
                <a:ext cx="12240731" cy="649224"/>
                <a:chOff x="-19045" y="216550"/>
                <a:chExt cx="9180548" cy="649224"/>
              </a:xfrm>
            </p:grpSpPr>
            <p:sp>
              <p:nvSpPr>
                <p:cNvPr id="32" name="フリーフォーム 31"/>
                <p:cNvSpPr>
                  <a:spLocks/>
                </p:cNvSpPr>
                <p:nvPr/>
              </p:nvSpPr>
              <p:spPr bwMode="auto">
                <a:xfrm rot="21435692">
                  <a:off x="-19045" y="216550"/>
                  <a:ext cx="9163050" cy="649224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966"/>
                    </a:cxn>
                    <a:cxn ang="0">
                      <a:pos x="1608" y="282"/>
                    </a:cxn>
                    <a:cxn ang="0">
                      <a:pos x="4110" y="1008"/>
                    </a:cxn>
                    <a:cxn ang="0">
                      <a:pos x="5772" y="0"/>
                    </a:cxn>
                  </a:cxnLst>
                  <a:rect l="0" t="0" r="0" b="0"/>
                  <a:pathLst>
                    <a:path w="5772" h="1055">
                      <a:moveTo>
                        <a:pt x="0" y="966"/>
                      </a:moveTo>
                      <a:cubicBezTo>
                        <a:pt x="282" y="738"/>
                        <a:pt x="923" y="275"/>
                        <a:pt x="1608" y="282"/>
                      </a:cubicBezTo>
                      <a:cubicBezTo>
                        <a:pt x="2293" y="289"/>
                        <a:pt x="3416" y="1055"/>
                        <a:pt x="4110" y="1008"/>
                      </a:cubicBezTo>
                      <a:cubicBezTo>
                        <a:pt x="4804" y="961"/>
                        <a:pt x="5426" y="210"/>
                        <a:pt x="5772" y="0"/>
                      </a:cubicBezTo>
                    </a:path>
                  </a:pathLst>
                </a:custGeom>
                <a:noFill/>
                <a:ln w="10795" cap="flat" cmpd="sng" algn="ctr">
                  <a:gradFill>
                    <a:gsLst>
                      <a:gs pos="74000">
                        <a:schemeClr val="accent3">
                          <a:shade val="75000"/>
                        </a:schemeClr>
                      </a:gs>
                      <a:gs pos="86000">
                        <a:schemeClr val="tx1">
                          <a:alpha val="29000"/>
                        </a:schemeClr>
                      </a:gs>
                      <a:gs pos="16000">
                        <a:schemeClr val="accent2">
                          <a:shade val="75000"/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ja-JP" altLang="en-US" sz="1800" noProof="0" dirty="0"/>
                </a:p>
              </p:txBody>
            </p:sp>
            <p:sp>
              <p:nvSpPr>
                <p:cNvPr id="33" name="フリーフォーム 32"/>
                <p:cNvSpPr>
                  <a:spLocks/>
                </p:cNvSpPr>
                <p:nvPr/>
              </p:nvSpPr>
              <p:spPr bwMode="auto">
                <a:xfrm rot="21435692">
                  <a:off x="-14309" y="290003"/>
                  <a:ext cx="9175812" cy="530352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732"/>
                    </a:cxn>
                    <a:cxn ang="0">
                      <a:pos x="1638" y="228"/>
                    </a:cxn>
                    <a:cxn ang="0">
                      <a:pos x="4122" y="816"/>
                    </a:cxn>
                    <a:cxn ang="0">
                      <a:pos x="5766" y="0"/>
                    </a:cxn>
                  </a:cxnLst>
                  <a:rect l="0" t="0" r="0" b="0"/>
                  <a:pathLst>
                    <a:path w="5766" h="854">
                      <a:moveTo>
                        <a:pt x="0" y="732"/>
                      </a:moveTo>
                      <a:cubicBezTo>
                        <a:pt x="273" y="647"/>
                        <a:pt x="951" y="214"/>
                        <a:pt x="1638" y="228"/>
                      </a:cubicBezTo>
                      <a:cubicBezTo>
                        <a:pt x="2325" y="242"/>
                        <a:pt x="3434" y="854"/>
                        <a:pt x="4122" y="816"/>
                      </a:cubicBezTo>
                      <a:cubicBezTo>
                        <a:pt x="4810" y="778"/>
                        <a:pt x="5424" y="170"/>
                        <a:pt x="5766" y="0"/>
                      </a:cubicBezTo>
                    </a:path>
                  </a:pathLst>
                </a:custGeom>
                <a:noFill/>
                <a:ln w="9525" cap="flat" cmpd="sng" algn="ctr">
                  <a:gradFill>
                    <a:gsLst>
                      <a:gs pos="74000">
                        <a:schemeClr val="accent4"/>
                      </a:gs>
                      <a:gs pos="44000">
                        <a:schemeClr val="accent1"/>
                      </a:gs>
                      <a:gs pos="33000">
                        <a:schemeClr val="accent2"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ja-JP" altLang="en-US" sz="1800" noProof="0" dirty="0"/>
                </a:p>
              </p:txBody>
            </p:sp>
          </p:grpSp>
        </p:grpSp>
      </p:grpSp>
      <p:sp>
        <p:nvSpPr>
          <p:cNvPr id="9" name="タイトル プレースホルダー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rtlCol="0" anchor="b">
            <a:normAutofit/>
          </a:bodyPr>
          <a:lstStyle/>
          <a:p>
            <a:pPr rtl="0"/>
            <a:r>
              <a:rPr lang="ja-JP" altLang="en-US" noProof="0" dirty="0"/>
              <a:t>クリックしてマスター タイトルのスタイルを編集</a:t>
            </a:r>
            <a:endParaRPr kumimoji="0" lang="ja-JP" altLang="en-US" noProof="0" dirty="0"/>
          </a:p>
        </p:txBody>
      </p:sp>
      <p:sp>
        <p:nvSpPr>
          <p:cNvPr id="30" name="テキスト プレースホルダー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434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 eaLnBrk="1" latinLnBrk="0" hangingPunct="1"/>
            <a:r>
              <a:rPr lang="ja-JP" altLang="en-US" noProof="0" dirty="0" smtClean="0"/>
              <a:t>クリックしてマスター テキストのスタイルを編集</a:t>
            </a:r>
          </a:p>
          <a:p>
            <a:pPr lvl="1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2 </a:t>
            </a:r>
            <a:r>
              <a:rPr lang="ja-JP" altLang="en-US" noProof="0" dirty="0" smtClean="0"/>
              <a:t>レベル</a:t>
            </a:r>
          </a:p>
          <a:p>
            <a:pPr lvl="2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3 </a:t>
            </a:r>
            <a:r>
              <a:rPr lang="ja-JP" altLang="en-US" noProof="0" dirty="0" smtClean="0"/>
              <a:t>レベル</a:t>
            </a:r>
          </a:p>
          <a:p>
            <a:pPr lvl="3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4 </a:t>
            </a:r>
            <a:r>
              <a:rPr lang="ja-JP" altLang="en-US" noProof="0" dirty="0" smtClean="0"/>
              <a:t>レベル</a:t>
            </a:r>
          </a:p>
          <a:p>
            <a:pPr lvl="4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5 </a:t>
            </a:r>
            <a:r>
              <a:rPr lang="ja-JP" altLang="en-US" noProof="0" dirty="0" smtClean="0"/>
              <a:t>レベル</a:t>
            </a:r>
            <a:endParaRPr lang="ja-JP" altLang="en-US" noProof="0" dirty="0"/>
          </a:p>
        </p:txBody>
      </p:sp>
      <p:sp>
        <p:nvSpPr>
          <p:cNvPr id="10" name="日付プレースホルダー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196E8732-2B4B-4F0A-8362-53F7A7DF2931}" type="datetime4">
              <a:rPr lang="ja-JP" altLang="en-US" smtClean="0"/>
              <a:t>2021年3月8日</a:t>
            </a:fld>
            <a:endParaRPr lang="en-US" dirty="0"/>
          </a:p>
        </p:txBody>
      </p:sp>
      <p:sp>
        <p:nvSpPr>
          <p:cNvPr id="22" name="フッター プレースホルダー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r>
              <a:rPr lang="ja-JP" altLang="en-US" noProof="0" dirty="0" smtClean="0"/>
              <a:t>フッターを追加</a:t>
            </a:r>
            <a:endParaRPr lang="ja-JP" altLang="en-US" noProof="0" dirty="0"/>
          </a:p>
        </p:txBody>
      </p:sp>
      <p:sp>
        <p:nvSpPr>
          <p:cNvPr id="18" name="スライド番号プレースホルダー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401CF334-2D5C-4859-84A6-CA7E6E43FAEB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9428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lnSpc>
          <a:spcPct val="80000"/>
        </a:lnSpc>
        <a:spcBef>
          <a:spcPct val="0"/>
        </a:spcBef>
        <a:buNone/>
        <a:defRPr kumimoji="1" sz="5000" b="0" kern="1200">
          <a:ln>
            <a:noFill/>
          </a:ln>
          <a:solidFill>
            <a:schemeClr val="tx2"/>
          </a:solidFill>
          <a:effectLst/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95000"/>
        <a:buFont typeface="Wingdings 2"/>
        <a:buChar char=""/>
        <a:defRPr kumimoji="1" sz="26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>
            <a:lumMod val="50000"/>
          </a:schemeClr>
        </a:buClr>
        <a:buSzPct val="85000"/>
        <a:buFont typeface="Wingdings 2"/>
        <a:buChar char=""/>
        <a:defRPr kumimoji="1" sz="24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>
            <a:lumMod val="50000"/>
          </a:schemeClr>
        </a:buClr>
        <a:buSzPct val="70000"/>
        <a:buFont typeface="Wingdings 2"/>
        <a:buChar char=""/>
        <a:defRPr kumimoji="1" sz="21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65000"/>
        <a:buFont typeface="Wingdings 2"/>
        <a:buChar char=""/>
        <a:defRPr kumimoji="1" sz="20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>
            <a:lumMod val="75000"/>
          </a:schemeClr>
        </a:buClr>
        <a:buSzPct val="65000"/>
        <a:buFont typeface="Wingdings 2"/>
        <a:buChar char=""/>
        <a:defRPr kumimoji="1" sz="20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>
            <a:lumMod val="50000"/>
          </a:schemeClr>
        </a:buClr>
        <a:buSzPct val="80000"/>
        <a:buFont typeface="Wingdings 2"/>
        <a:buChar char="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>
            <a:lumMod val="75000"/>
          </a:schemeClr>
        </a:buClr>
        <a:buSzPct val="80000"/>
        <a:buFont typeface="Wingdings 2"/>
        <a:buChar char="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0" algn="l" rtl="0" eaLnBrk="1" latinLnBrk="0" hangingPunct="1">
        <a:spcBef>
          <a:spcPct val="20000"/>
        </a:spcBef>
        <a:buClr>
          <a:schemeClr val="tx2"/>
        </a:buClr>
        <a:buFontTx/>
        <a:buNone/>
        <a:defRPr kumimoji="1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ja-JP" altLang="en-US" dirty="0"/>
              <a:t>描画エンジン開発</a:t>
            </a:r>
            <a:r>
              <a:rPr lang="en-US" altLang="ja-JP" dirty="0"/>
              <a:t>Ⅰ</a:t>
            </a:r>
            <a:r>
              <a:rPr lang="ja-JP" altLang="en-US" dirty="0"/>
              <a:t>・</a:t>
            </a:r>
            <a:r>
              <a:rPr lang="en-US" altLang="ja-JP"/>
              <a:t>Ⅱ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サブタイトル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US" altLang="ja-JP" dirty="0" smtClean="0"/>
              <a:t>UNIT02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4962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dirty="0" smtClean="0"/>
              <a:t>授業</a:t>
            </a:r>
            <a:r>
              <a:rPr lang="ja-JP" altLang="en-US" dirty="0"/>
              <a:t>内容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ja-JP" altLang="en-US" dirty="0" smtClean="0"/>
              <a:t>グラフィックスデバイス上の座標系</a:t>
            </a:r>
            <a:r>
              <a:rPr lang="en-US" altLang="ja-JP" dirty="0" smtClean="0"/>
              <a:t>(NDC)</a:t>
            </a:r>
            <a:r>
              <a:rPr lang="ja-JP" altLang="en-US" dirty="0" smtClean="0"/>
              <a:t>について</a:t>
            </a:r>
            <a:endParaRPr lang="en-US" altLang="ja-JP" dirty="0" smtClean="0"/>
          </a:p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r>
              <a:rPr lang="ja-JP" altLang="en-US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ポリゴンの描画するまでの流れ</a:t>
            </a:r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endParaRPr lang="ja-JP" altLang="en-US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r>
              <a:rPr lang="ja-JP" altLang="en-US" dirty="0"/>
              <a:t>スプライトクラスの作成</a:t>
            </a:r>
            <a:endParaRPr lang="en-US" altLang="ja-JP" dirty="0"/>
          </a:p>
          <a:p>
            <a:pPr rtl="0"/>
            <a:endParaRPr lang="ja-JP" altLang="en-US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0891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実行結果</a:t>
            </a:r>
            <a:endParaRPr kumimoji="1" lang="ja-JP" altLang="en-US" dirty="0"/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3713" y="1935163"/>
            <a:ext cx="740457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37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実行結果</a:t>
            </a:r>
            <a:endParaRPr kumimoji="1" lang="ja-JP" altLang="en-US" dirty="0"/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3713" y="1935163"/>
            <a:ext cx="740457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86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ポリゴンを描くために必要なもの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707691"/>
          </a:xfrm>
        </p:spPr>
        <p:txBody>
          <a:bodyPr>
            <a:normAutofit fontScale="85000" lnSpcReduction="20000"/>
          </a:bodyPr>
          <a:lstStyle/>
          <a:p>
            <a:r>
              <a:rPr kumimoji="1" lang="ja-JP" altLang="en-US" dirty="0" smtClean="0"/>
              <a:t>頂点データ</a:t>
            </a:r>
            <a:endParaRPr kumimoji="1" lang="en-US" altLang="ja-JP" dirty="0" smtClean="0"/>
          </a:p>
          <a:p>
            <a:pPr marL="393192" lvl="1" indent="0">
              <a:buNone/>
            </a:pPr>
            <a:r>
              <a:rPr kumimoji="1" lang="ja-JP" altLang="en-US" dirty="0" smtClean="0"/>
              <a:t>座標、色などのポリゴンを構成するために必要な情報</a:t>
            </a:r>
            <a:endParaRPr kumimoji="1" lang="en-US" altLang="ja-JP" dirty="0" smtClean="0"/>
          </a:p>
          <a:p>
            <a:pPr marL="393192" lvl="1" indent="0">
              <a:buNone/>
            </a:pPr>
            <a:endParaRPr kumimoji="1" lang="en-US" altLang="ja-JP" dirty="0" smtClean="0"/>
          </a:p>
          <a:p>
            <a:r>
              <a:rPr lang="ja-JP" altLang="en-US" dirty="0" smtClean="0"/>
              <a:t>入力レイアウト</a:t>
            </a:r>
            <a:endParaRPr lang="en-US" altLang="ja-JP" dirty="0" smtClean="0"/>
          </a:p>
          <a:p>
            <a:pPr marL="393192" lvl="1" indent="0">
              <a:buNone/>
            </a:pPr>
            <a:r>
              <a:rPr lang="ja-JP" altLang="en-US" dirty="0" smtClean="0"/>
              <a:t>頂点データにどのような情報があるか定義し、シェーダーに教えるやつ</a:t>
            </a:r>
            <a:endParaRPr lang="en-US" altLang="ja-JP" dirty="0" smtClean="0"/>
          </a:p>
          <a:p>
            <a:pPr marL="393192" lvl="1" indent="0">
              <a:buNone/>
            </a:pPr>
            <a:endParaRPr lang="en-US" altLang="ja-JP" dirty="0" smtClean="0"/>
          </a:p>
          <a:p>
            <a:r>
              <a:rPr lang="ja-JP" altLang="en-US" dirty="0" smtClean="0"/>
              <a:t>頂点シェーダー</a:t>
            </a:r>
            <a:endParaRPr lang="en-US" altLang="ja-JP" dirty="0" smtClean="0"/>
          </a:p>
          <a:p>
            <a:pPr marL="393192" lvl="1" indent="0">
              <a:buNone/>
            </a:pPr>
            <a:r>
              <a:rPr lang="ja-JP" altLang="en-US" dirty="0" smtClean="0"/>
              <a:t>頂点データを受け取ってスクリーン座標に変換する計算をする</a:t>
            </a:r>
            <a:endParaRPr lang="en-US" altLang="ja-JP" dirty="0" smtClean="0"/>
          </a:p>
          <a:p>
            <a:pPr marL="393192" lvl="1" indent="0">
              <a:buNone/>
            </a:pPr>
            <a:endParaRPr kumimoji="1" lang="en-US" altLang="ja-JP" dirty="0"/>
          </a:p>
          <a:p>
            <a:r>
              <a:rPr lang="ja-JP" altLang="en-US" dirty="0" smtClean="0"/>
              <a:t>ピクセルシェーダー</a:t>
            </a:r>
            <a:endParaRPr lang="en-US" altLang="ja-JP" dirty="0" smtClean="0"/>
          </a:p>
          <a:p>
            <a:pPr marL="393192" lvl="1" indent="0">
              <a:buNone/>
            </a:pPr>
            <a:r>
              <a:rPr lang="ja-JP" altLang="en-US" dirty="0" smtClean="0"/>
              <a:t>ポリゴンの色をピクセル単位で計算する</a:t>
            </a:r>
            <a:endParaRPr lang="en-US" altLang="ja-JP" dirty="0" smtClean="0"/>
          </a:p>
          <a:p>
            <a:pPr marL="393192" lvl="1" indent="0">
              <a:buNone/>
            </a:pPr>
            <a:endParaRPr kumimoji="1" lang="en-US" altLang="ja-JP" dirty="0"/>
          </a:p>
          <a:p>
            <a:r>
              <a:rPr lang="ja-JP" altLang="en-US" dirty="0" smtClean="0"/>
              <a:t>描画ステート</a:t>
            </a:r>
            <a:endParaRPr lang="en-US" altLang="ja-JP" dirty="0" smtClean="0"/>
          </a:p>
          <a:p>
            <a:pPr marL="393192" lvl="1" indent="0">
              <a:buNone/>
            </a:pPr>
            <a:r>
              <a:rPr kumimoji="1" lang="ja-JP" altLang="en-US" dirty="0" smtClean="0"/>
              <a:t>ポリゴンの表示方法や奥行比較方法などの様々な設定をする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今回はラスタライザステートを設定する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80952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描画パイプライン</a:t>
            </a:r>
            <a:endParaRPr kumimoji="1" lang="ja-JP" altLang="en-US" dirty="0"/>
          </a:p>
        </p:txBody>
      </p:sp>
      <p:sp>
        <p:nvSpPr>
          <p:cNvPr id="4" name="角丸四角形 3"/>
          <p:cNvSpPr/>
          <p:nvPr/>
        </p:nvSpPr>
        <p:spPr>
          <a:xfrm>
            <a:off x="977618" y="2017733"/>
            <a:ext cx="1578295" cy="12596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Window</a:t>
            </a:r>
            <a:br>
              <a:rPr kumimoji="1" lang="en-US" altLang="ja-JP" dirty="0" smtClean="0"/>
            </a:b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endParaRPr kumimoji="1" lang="ja-JP" altLang="en-US" dirty="0"/>
          </a:p>
        </p:txBody>
      </p:sp>
      <p:sp>
        <p:nvSpPr>
          <p:cNvPr id="5" name="角丸四角形 4"/>
          <p:cNvSpPr/>
          <p:nvPr/>
        </p:nvSpPr>
        <p:spPr>
          <a:xfrm>
            <a:off x="1773716" y="3612593"/>
            <a:ext cx="2710149" cy="1532284"/>
          </a:xfrm>
          <a:prstGeom prst="roundRect">
            <a:avLst/>
          </a:prstGeom>
          <a:solidFill>
            <a:srgbClr val="FADE90"/>
          </a:solidFill>
          <a:ln w="28575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SwapChain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endParaRPr lang="en-US" altLang="ja-JP" dirty="0" smtClean="0"/>
          </a:p>
          <a:p>
            <a:pPr algn="ctr"/>
            <a:endParaRPr kumimoji="1" lang="ja-JP" altLang="en-US" dirty="0"/>
          </a:p>
        </p:txBody>
      </p:sp>
      <p:sp>
        <p:nvSpPr>
          <p:cNvPr id="7" name="正方形/長方形 6"/>
          <p:cNvSpPr/>
          <p:nvPr/>
        </p:nvSpPr>
        <p:spPr>
          <a:xfrm>
            <a:off x="1341742" y="2399014"/>
            <a:ext cx="850046" cy="803297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2012502" y="4135820"/>
            <a:ext cx="850046" cy="803297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Front</a:t>
            </a:r>
            <a:br>
              <a:rPr kumimoji="1" lang="en-US" altLang="ja-JP" dirty="0" smtClean="0"/>
            </a:br>
            <a:r>
              <a:rPr kumimoji="1" lang="en-US" altLang="ja-JP" dirty="0" smtClean="0"/>
              <a:t>Buffer</a:t>
            </a:r>
            <a:endParaRPr kumimoji="1" lang="ja-JP" altLang="en-US" dirty="0"/>
          </a:p>
        </p:txBody>
      </p:sp>
      <p:sp>
        <p:nvSpPr>
          <p:cNvPr id="9" name="正方形/長方形 8"/>
          <p:cNvSpPr/>
          <p:nvPr/>
        </p:nvSpPr>
        <p:spPr>
          <a:xfrm>
            <a:off x="3293170" y="4135819"/>
            <a:ext cx="850046" cy="803297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Buck</a:t>
            </a:r>
            <a:br>
              <a:rPr kumimoji="1" lang="en-US" altLang="ja-JP" dirty="0" smtClean="0"/>
            </a:br>
            <a:r>
              <a:rPr kumimoji="1" lang="en-US" altLang="ja-JP" dirty="0" smtClean="0"/>
              <a:t>Buffer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/>
        </p:nvSpPr>
        <p:spPr>
          <a:xfrm>
            <a:off x="3128790" y="5555159"/>
            <a:ext cx="970358" cy="889708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Depth</a:t>
            </a:r>
            <a:br>
              <a:rPr kumimoji="1" lang="en-US" altLang="ja-JP" dirty="0" smtClean="0"/>
            </a:br>
            <a:r>
              <a:rPr kumimoji="1" lang="en-US" altLang="ja-JP" dirty="0" smtClean="0"/>
              <a:t>Stencil</a:t>
            </a:r>
            <a:br>
              <a:rPr kumimoji="1" lang="en-US" altLang="ja-JP" dirty="0" smtClean="0"/>
            </a:br>
            <a:r>
              <a:rPr kumimoji="1" lang="en-US" altLang="ja-JP" dirty="0" smtClean="0"/>
              <a:t>Buffer</a:t>
            </a:r>
            <a:endParaRPr kumimoji="1" lang="ja-JP" altLang="en-US" dirty="0"/>
          </a:p>
        </p:txBody>
      </p:sp>
      <p:sp>
        <p:nvSpPr>
          <p:cNvPr id="12" name="角丸四角形 11"/>
          <p:cNvSpPr/>
          <p:nvPr/>
        </p:nvSpPr>
        <p:spPr>
          <a:xfrm>
            <a:off x="5275246" y="4275112"/>
            <a:ext cx="2414528" cy="524710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RenderTargetView</a:t>
            </a:r>
            <a:endParaRPr kumimoji="1" lang="ja-JP" altLang="en-US" dirty="0"/>
          </a:p>
        </p:txBody>
      </p:sp>
      <p:sp>
        <p:nvSpPr>
          <p:cNvPr id="13" name="角丸四角形 12"/>
          <p:cNvSpPr/>
          <p:nvPr/>
        </p:nvSpPr>
        <p:spPr>
          <a:xfrm>
            <a:off x="5275246" y="5737658"/>
            <a:ext cx="2414528" cy="524710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DepthStencilView</a:t>
            </a:r>
            <a:endParaRPr kumimoji="1" lang="ja-JP" altLang="en-US" dirty="0"/>
          </a:p>
        </p:txBody>
      </p:sp>
      <p:sp>
        <p:nvSpPr>
          <p:cNvPr id="14" name="楕円 13"/>
          <p:cNvSpPr/>
          <p:nvPr/>
        </p:nvSpPr>
        <p:spPr>
          <a:xfrm>
            <a:off x="9077899" y="4939116"/>
            <a:ext cx="1424543" cy="75533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Draw()</a:t>
            </a:r>
            <a:endParaRPr kumimoji="1" lang="ja-JP" altLang="en-US" dirty="0"/>
          </a:p>
        </p:txBody>
      </p:sp>
      <p:cxnSp>
        <p:nvCxnSpPr>
          <p:cNvPr id="16" name="直線矢印コネクタ 15"/>
          <p:cNvCxnSpPr>
            <a:stCxn id="14" idx="2"/>
            <a:endCxn id="13" idx="3"/>
          </p:cNvCxnSpPr>
          <p:nvPr/>
        </p:nvCxnSpPr>
        <p:spPr>
          <a:xfrm flipH="1">
            <a:off x="7689774" y="5316785"/>
            <a:ext cx="1388125" cy="68322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/>
          <p:cNvCxnSpPr>
            <a:stCxn id="14" idx="2"/>
            <a:endCxn id="12" idx="3"/>
          </p:cNvCxnSpPr>
          <p:nvPr/>
        </p:nvCxnSpPr>
        <p:spPr>
          <a:xfrm flipH="1" flipV="1">
            <a:off x="7689774" y="4537467"/>
            <a:ext cx="1388125" cy="77931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/>
          <p:cNvCxnSpPr>
            <a:stCxn id="12" idx="1"/>
            <a:endCxn id="9" idx="3"/>
          </p:cNvCxnSpPr>
          <p:nvPr/>
        </p:nvCxnSpPr>
        <p:spPr>
          <a:xfrm flipH="1">
            <a:off x="4143216" y="4537467"/>
            <a:ext cx="1132030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/>
          <p:cNvCxnSpPr>
            <a:stCxn id="13" idx="1"/>
            <a:endCxn id="10" idx="3"/>
          </p:cNvCxnSpPr>
          <p:nvPr/>
        </p:nvCxnSpPr>
        <p:spPr>
          <a:xfrm flipH="1">
            <a:off x="4099148" y="6000013"/>
            <a:ext cx="117609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/>
          <p:cNvCxnSpPr>
            <a:endCxn id="8" idx="3"/>
          </p:cNvCxnSpPr>
          <p:nvPr/>
        </p:nvCxnSpPr>
        <p:spPr>
          <a:xfrm flipH="1">
            <a:off x="2862548" y="4537467"/>
            <a:ext cx="430622" cy="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/>
          <p:cNvCxnSpPr>
            <a:stCxn id="8" idx="0"/>
            <a:endCxn id="7" idx="2"/>
          </p:cNvCxnSpPr>
          <p:nvPr/>
        </p:nvCxnSpPr>
        <p:spPr>
          <a:xfrm flipH="1" flipV="1">
            <a:off x="1766765" y="3202311"/>
            <a:ext cx="670760" cy="93350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/>
          <p:cNvCxnSpPr>
            <a:stCxn id="9" idx="2"/>
            <a:endCxn id="10" idx="0"/>
          </p:cNvCxnSpPr>
          <p:nvPr/>
        </p:nvCxnSpPr>
        <p:spPr>
          <a:xfrm flipH="1">
            <a:off x="3613969" y="4939116"/>
            <a:ext cx="104224" cy="616043"/>
          </a:xfrm>
          <a:prstGeom prst="straightConnector1">
            <a:avLst/>
          </a:prstGeom>
          <a:ln w="762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楕円 37"/>
          <p:cNvSpPr/>
          <p:nvPr/>
        </p:nvSpPr>
        <p:spPr>
          <a:xfrm>
            <a:off x="1641513" y="2667568"/>
            <a:ext cx="264405" cy="264405"/>
          </a:xfrm>
          <a:prstGeom prst="ellipse">
            <a:avLst/>
          </a:prstGeom>
          <a:solidFill>
            <a:srgbClr val="FF0000"/>
          </a:solidFill>
          <a:ln>
            <a:solidFill>
              <a:srgbClr val="0020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二等辺三角形 38"/>
          <p:cNvSpPr/>
          <p:nvPr/>
        </p:nvSpPr>
        <p:spPr>
          <a:xfrm>
            <a:off x="1584702" y="2773353"/>
            <a:ext cx="364125" cy="345125"/>
          </a:xfrm>
          <a:prstGeom prst="triangl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角丸四角形 51"/>
          <p:cNvSpPr/>
          <p:nvPr/>
        </p:nvSpPr>
        <p:spPr>
          <a:xfrm>
            <a:off x="3027804" y="2212972"/>
            <a:ext cx="2414528" cy="524710"/>
          </a:xfrm>
          <a:prstGeom prst="roundRect">
            <a:avLst/>
          </a:prstGeom>
          <a:solidFill>
            <a:srgbClr val="FFFFCC"/>
          </a:solidFill>
          <a:ln w="28575">
            <a:solidFill>
              <a:srgbClr val="CCCC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Device</a:t>
            </a:r>
            <a:endParaRPr kumimoji="1" lang="ja-JP" altLang="en-US" dirty="0"/>
          </a:p>
        </p:txBody>
      </p:sp>
      <p:sp>
        <p:nvSpPr>
          <p:cNvPr id="53" name="角丸四角形 52"/>
          <p:cNvSpPr/>
          <p:nvPr/>
        </p:nvSpPr>
        <p:spPr>
          <a:xfrm>
            <a:off x="5751725" y="2210309"/>
            <a:ext cx="2414528" cy="52471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DeviceContext</a:t>
            </a:r>
            <a:endParaRPr kumimoji="1" lang="ja-JP" altLang="en-US" dirty="0"/>
          </a:p>
        </p:txBody>
      </p:sp>
      <p:sp>
        <p:nvSpPr>
          <p:cNvPr id="28" name="円形吹き出し 27"/>
          <p:cNvSpPr/>
          <p:nvPr/>
        </p:nvSpPr>
        <p:spPr>
          <a:xfrm>
            <a:off x="8166253" y="2997374"/>
            <a:ext cx="3533660" cy="1368217"/>
          </a:xfrm>
          <a:prstGeom prst="wedgeEllipseCallout">
            <a:avLst>
              <a:gd name="adj1" fmla="val -5243"/>
              <a:gd name="adj2" fmla="val 76524"/>
            </a:avLst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これを実行するために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必要な手続きをする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7996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右矢印 40"/>
          <p:cNvSpPr/>
          <p:nvPr/>
        </p:nvSpPr>
        <p:spPr>
          <a:xfrm rot="5400000">
            <a:off x="9589248" y="2539132"/>
            <a:ext cx="1105905" cy="926063"/>
          </a:xfrm>
          <a:prstGeom prst="rightArrow">
            <a:avLst>
              <a:gd name="adj1" fmla="val 45351"/>
              <a:gd name="adj2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0" name="右矢印 39"/>
          <p:cNvSpPr/>
          <p:nvPr/>
        </p:nvSpPr>
        <p:spPr>
          <a:xfrm rot="5400000">
            <a:off x="7354099" y="2539133"/>
            <a:ext cx="1105906" cy="926063"/>
          </a:xfrm>
          <a:prstGeom prst="rightArrow">
            <a:avLst>
              <a:gd name="adj1" fmla="val 45351"/>
              <a:gd name="adj2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7" name="右矢印 36"/>
          <p:cNvSpPr/>
          <p:nvPr/>
        </p:nvSpPr>
        <p:spPr>
          <a:xfrm rot="5400000">
            <a:off x="5225092" y="2539133"/>
            <a:ext cx="1105907" cy="926063"/>
          </a:xfrm>
          <a:prstGeom prst="rightArrow">
            <a:avLst>
              <a:gd name="adj1" fmla="val 45351"/>
              <a:gd name="adj2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6" name="右矢印 35"/>
          <p:cNvSpPr/>
          <p:nvPr/>
        </p:nvSpPr>
        <p:spPr>
          <a:xfrm rot="5400000">
            <a:off x="3098037" y="2539829"/>
            <a:ext cx="1107298" cy="926063"/>
          </a:xfrm>
          <a:prstGeom prst="rightArrow">
            <a:avLst>
              <a:gd name="adj1" fmla="val 45351"/>
              <a:gd name="adj2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6" name="右矢印 25"/>
          <p:cNvSpPr/>
          <p:nvPr/>
        </p:nvSpPr>
        <p:spPr>
          <a:xfrm rot="5400000">
            <a:off x="970352" y="2539829"/>
            <a:ext cx="1107299" cy="926063"/>
          </a:xfrm>
          <a:prstGeom prst="rightArrow">
            <a:avLst>
              <a:gd name="adj1" fmla="val 45351"/>
              <a:gd name="adj2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描画パイプライン</a:t>
            </a:r>
            <a:endParaRPr kumimoji="1" lang="ja-JP" altLang="en-US" dirty="0"/>
          </a:p>
        </p:txBody>
      </p:sp>
      <p:sp>
        <p:nvSpPr>
          <p:cNvPr id="52" name="角丸四角形 51"/>
          <p:cNvSpPr/>
          <p:nvPr/>
        </p:nvSpPr>
        <p:spPr>
          <a:xfrm>
            <a:off x="631533" y="1924501"/>
            <a:ext cx="10339540" cy="524710"/>
          </a:xfrm>
          <a:prstGeom prst="roundRect">
            <a:avLst/>
          </a:prstGeom>
          <a:solidFill>
            <a:srgbClr val="FFFFCC"/>
          </a:solidFill>
          <a:ln w="28575">
            <a:solidFill>
              <a:srgbClr val="CCCC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Device</a:t>
            </a:r>
            <a:endParaRPr kumimoji="1" lang="ja-JP" altLang="en-US" dirty="0"/>
          </a:p>
        </p:txBody>
      </p:sp>
      <p:sp>
        <p:nvSpPr>
          <p:cNvPr id="30" name="角丸四角形 29"/>
          <p:cNvSpPr/>
          <p:nvPr/>
        </p:nvSpPr>
        <p:spPr>
          <a:xfrm>
            <a:off x="631533" y="3556510"/>
            <a:ext cx="1784942" cy="524710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VertexBuffer</a:t>
            </a:r>
            <a:endParaRPr kumimoji="1" lang="ja-JP" altLang="en-US" dirty="0"/>
          </a:p>
        </p:txBody>
      </p:sp>
      <p:sp>
        <p:nvSpPr>
          <p:cNvPr id="31" name="角丸四角形 30"/>
          <p:cNvSpPr/>
          <p:nvPr/>
        </p:nvSpPr>
        <p:spPr>
          <a:xfrm>
            <a:off x="4886899" y="3556510"/>
            <a:ext cx="1784942" cy="524710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VertexShader</a:t>
            </a:r>
            <a:endParaRPr kumimoji="1" lang="ja-JP" altLang="en-US" dirty="0"/>
          </a:p>
        </p:txBody>
      </p:sp>
      <p:sp>
        <p:nvSpPr>
          <p:cNvPr id="32" name="角丸四角形 31"/>
          <p:cNvSpPr/>
          <p:nvPr/>
        </p:nvSpPr>
        <p:spPr>
          <a:xfrm>
            <a:off x="7014582" y="3556510"/>
            <a:ext cx="1784942" cy="524710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PixelShader</a:t>
            </a:r>
            <a:endParaRPr kumimoji="1" lang="ja-JP" altLang="en-US" dirty="0"/>
          </a:p>
        </p:txBody>
      </p:sp>
      <p:sp>
        <p:nvSpPr>
          <p:cNvPr id="34" name="角丸四角形 33"/>
          <p:cNvSpPr/>
          <p:nvPr/>
        </p:nvSpPr>
        <p:spPr>
          <a:xfrm>
            <a:off x="2759216" y="3556510"/>
            <a:ext cx="1784942" cy="524710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InputLayout</a:t>
            </a:r>
            <a:endParaRPr kumimoji="1" lang="ja-JP" altLang="en-US" dirty="0"/>
          </a:p>
        </p:txBody>
      </p:sp>
      <p:sp>
        <p:nvSpPr>
          <p:cNvPr id="35" name="角丸四角形 34"/>
          <p:cNvSpPr/>
          <p:nvPr/>
        </p:nvSpPr>
        <p:spPr>
          <a:xfrm>
            <a:off x="9186131" y="3556510"/>
            <a:ext cx="1784942" cy="524710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RasterizerState</a:t>
            </a:r>
            <a:endParaRPr kumimoji="1" lang="ja-JP" altLang="en-US" dirty="0"/>
          </a:p>
        </p:txBody>
      </p:sp>
      <p:sp>
        <p:nvSpPr>
          <p:cNvPr id="42" name="横巻き 41"/>
          <p:cNvSpPr/>
          <p:nvPr/>
        </p:nvSpPr>
        <p:spPr>
          <a:xfrm>
            <a:off x="631533" y="2487540"/>
            <a:ext cx="1754434" cy="604988"/>
          </a:xfrm>
          <a:prstGeom prst="horizontalScroll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 smtClean="0"/>
              <a:t>CreateBuffer</a:t>
            </a:r>
            <a:r>
              <a:rPr kumimoji="1" lang="en-US" altLang="ja-JP" sz="1400" dirty="0" smtClean="0"/>
              <a:t>()</a:t>
            </a:r>
            <a:endParaRPr kumimoji="1" lang="ja-JP" altLang="en-US" sz="1400" dirty="0"/>
          </a:p>
        </p:txBody>
      </p:sp>
      <p:sp>
        <p:nvSpPr>
          <p:cNvPr id="43" name="横巻き 42"/>
          <p:cNvSpPr/>
          <p:nvPr/>
        </p:nvSpPr>
        <p:spPr>
          <a:xfrm>
            <a:off x="2670942" y="2487540"/>
            <a:ext cx="1958844" cy="604988"/>
          </a:xfrm>
          <a:prstGeom prst="horizontalScroll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 smtClean="0"/>
              <a:t>CreateInputLayout</a:t>
            </a:r>
            <a:r>
              <a:rPr kumimoji="1" lang="en-US" altLang="ja-JP" sz="1400" dirty="0" smtClean="0"/>
              <a:t>()</a:t>
            </a:r>
            <a:endParaRPr kumimoji="1" lang="ja-JP" altLang="en-US" sz="1400" dirty="0"/>
          </a:p>
        </p:txBody>
      </p:sp>
      <p:sp>
        <p:nvSpPr>
          <p:cNvPr id="44" name="横巻き 43"/>
          <p:cNvSpPr/>
          <p:nvPr/>
        </p:nvSpPr>
        <p:spPr>
          <a:xfrm>
            <a:off x="4758494" y="2485467"/>
            <a:ext cx="2042387" cy="604988"/>
          </a:xfrm>
          <a:prstGeom prst="horizontalScroll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 smtClean="0"/>
              <a:t>CreateVertexShader</a:t>
            </a:r>
            <a:r>
              <a:rPr kumimoji="1" lang="en-US" altLang="ja-JP" sz="1400" dirty="0" smtClean="0"/>
              <a:t>()</a:t>
            </a:r>
            <a:endParaRPr kumimoji="1" lang="ja-JP" altLang="en-US" sz="1400" dirty="0"/>
          </a:p>
        </p:txBody>
      </p:sp>
      <p:sp>
        <p:nvSpPr>
          <p:cNvPr id="45" name="横巻き 44"/>
          <p:cNvSpPr/>
          <p:nvPr/>
        </p:nvSpPr>
        <p:spPr>
          <a:xfrm>
            <a:off x="6885858" y="2485467"/>
            <a:ext cx="2042387" cy="604988"/>
          </a:xfrm>
          <a:prstGeom prst="horizontalScroll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 smtClean="0"/>
              <a:t>CreatePixelShader</a:t>
            </a:r>
            <a:r>
              <a:rPr kumimoji="1" lang="en-US" altLang="ja-JP" sz="1400" dirty="0" smtClean="0"/>
              <a:t>()</a:t>
            </a:r>
            <a:endParaRPr kumimoji="1" lang="ja-JP" altLang="en-US" sz="1400" dirty="0"/>
          </a:p>
        </p:txBody>
      </p:sp>
      <p:sp>
        <p:nvSpPr>
          <p:cNvPr id="46" name="横巻き 45"/>
          <p:cNvSpPr/>
          <p:nvPr/>
        </p:nvSpPr>
        <p:spPr>
          <a:xfrm>
            <a:off x="9057394" y="2485467"/>
            <a:ext cx="2211230" cy="604988"/>
          </a:xfrm>
          <a:prstGeom prst="horizontalScroll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 smtClean="0"/>
              <a:t>CreateRasterizerState</a:t>
            </a:r>
            <a:r>
              <a:rPr kumimoji="1" lang="en-US" altLang="ja-JP" sz="1400" dirty="0" smtClean="0"/>
              <a:t>()</a:t>
            </a:r>
            <a:endParaRPr kumimoji="1" lang="ja-JP" altLang="en-US" sz="1400" dirty="0"/>
          </a:p>
        </p:txBody>
      </p:sp>
      <p:sp>
        <p:nvSpPr>
          <p:cNvPr id="71" name="円形吹き出し 70"/>
          <p:cNvSpPr/>
          <p:nvPr/>
        </p:nvSpPr>
        <p:spPr>
          <a:xfrm>
            <a:off x="1209212" y="4815157"/>
            <a:ext cx="3869564" cy="1368217"/>
          </a:xfrm>
          <a:prstGeom prst="wedgeEllipseCallout">
            <a:avLst>
              <a:gd name="adj1" fmla="val 10827"/>
              <a:gd name="adj2" fmla="val -78880"/>
            </a:avLst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GPU</a:t>
            </a:r>
            <a:r>
              <a:rPr kumimoji="1" lang="ja-JP" altLang="en-US" dirty="0" smtClean="0"/>
              <a:t>に渡すための必要なオブジェクトを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en-US" altLang="ja-JP" dirty="0" smtClean="0"/>
              <a:t>Device</a:t>
            </a:r>
            <a:r>
              <a:rPr kumimoji="1" lang="ja-JP" altLang="en-US" dirty="0" smtClean="0"/>
              <a:t>が作る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34045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右矢印 40"/>
          <p:cNvSpPr/>
          <p:nvPr/>
        </p:nvSpPr>
        <p:spPr>
          <a:xfrm rot="5400000">
            <a:off x="9589248" y="2539132"/>
            <a:ext cx="1105905" cy="926063"/>
          </a:xfrm>
          <a:prstGeom prst="rightArrow">
            <a:avLst>
              <a:gd name="adj1" fmla="val 45351"/>
              <a:gd name="adj2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0" name="右矢印 39"/>
          <p:cNvSpPr/>
          <p:nvPr/>
        </p:nvSpPr>
        <p:spPr>
          <a:xfrm rot="5400000">
            <a:off x="7354099" y="2539133"/>
            <a:ext cx="1105906" cy="926063"/>
          </a:xfrm>
          <a:prstGeom prst="rightArrow">
            <a:avLst>
              <a:gd name="adj1" fmla="val 45351"/>
              <a:gd name="adj2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7" name="右矢印 36"/>
          <p:cNvSpPr/>
          <p:nvPr/>
        </p:nvSpPr>
        <p:spPr>
          <a:xfrm rot="5400000">
            <a:off x="5225092" y="2539133"/>
            <a:ext cx="1105907" cy="926063"/>
          </a:xfrm>
          <a:prstGeom prst="rightArrow">
            <a:avLst>
              <a:gd name="adj1" fmla="val 45351"/>
              <a:gd name="adj2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6" name="右矢印 35"/>
          <p:cNvSpPr/>
          <p:nvPr/>
        </p:nvSpPr>
        <p:spPr>
          <a:xfrm rot="5400000">
            <a:off x="3098037" y="2539829"/>
            <a:ext cx="1107298" cy="926063"/>
          </a:xfrm>
          <a:prstGeom prst="rightArrow">
            <a:avLst>
              <a:gd name="adj1" fmla="val 45351"/>
              <a:gd name="adj2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6" name="右矢印 25"/>
          <p:cNvSpPr/>
          <p:nvPr/>
        </p:nvSpPr>
        <p:spPr>
          <a:xfrm rot="5400000">
            <a:off x="970352" y="2539829"/>
            <a:ext cx="1107299" cy="926063"/>
          </a:xfrm>
          <a:prstGeom prst="rightArrow">
            <a:avLst>
              <a:gd name="adj1" fmla="val 45351"/>
              <a:gd name="adj2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描画パイプライン</a:t>
            </a:r>
            <a:endParaRPr kumimoji="1" lang="ja-JP" altLang="en-US" dirty="0"/>
          </a:p>
        </p:txBody>
      </p:sp>
      <p:sp>
        <p:nvSpPr>
          <p:cNvPr id="52" name="角丸四角形 51"/>
          <p:cNvSpPr/>
          <p:nvPr/>
        </p:nvSpPr>
        <p:spPr>
          <a:xfrm>
            <a:off x="631533" y="1924501"/>
            <a:ext cx="10339540" cy="524710"/>
          </a:xfrm>
          <a:prstGeom prst="roundRect">
            <a:avLst/>
          </a:prstGeom>
          <a:solidFill>
            <a:srgbClr val="FFFFCC"/>
          </a:solidFill>
          <a:ln w="28575">
            <a:solidFill>
              <a:srgbClr val="CCCC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Device</a:t>
            </a:r>
            <a:endParaRPr kumimoji="1" lang="ja-JP" altLang="en-US" dirty="0"/>
          </a:p>
        </p:txBody>
      </p:sp>
      <p:sp>
        <p:nvSpPr>
          <p:cNvPr id="53" name="角丸四角形 52"/>
          <p:cNvSpPr/>
          <p:nvPr/>
        </p:nvSpPr>
        <p:spPr>
          <a:xfrm>
            <a:off x="631533" y="4401454"/>
            <a:ext cx="10339540" cy="52471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DeviceContext</a:t>
            </a:r>
            <a:endParaRPr kumimoji="1" lang="ja-JP" altLang="en-US" dirty="0"/>
          </a:p>
        </p:txBody>
      </p:sp>
      <p:sp>
        <p:nvSpPr>
          <p:cNvPr id="30" name="角丸四角形 29"/>
          <p:cNvSpPr/>
          <p:nvPr/>
        </p:nvSpPr>
        <p:spPr>
          <a:xfrm>
            <a:off x="631533" y="3556510"/>
            <a:ext cx="1784942" cy="524710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VertexBuffer</a:t>
            </a:r>
            <a:endParaRPr kumimoji="1" lang="ja-JP" altLang="en-US" dirty="0"/>
          </a:p>
        </p:txBody>
      </p:sp>
      <p:sp>
        <p:nvSpPr>
          <p:cNvPr id="31" name="角丸四角形 30"/>
          <p:cNvSpPr/>
          <p:nvPr/>
        </p:nvSpPr>
        <p:spPr>
          <a:xfrm>
            <a:off x="4886899" y="3556510"/>
            <a:ext cx="1784942" cy="524710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VertexShader</a:t>
            </a:r>
            <a:endParaRPr kumimoji="1" lang="ja-JP" altLang="en-US" dirty="0"/>
          </a:p>
        </p:txBody>
      </p:sp>
      <p:sp>
        <p:nvSpPr>
          <p:cNvPr id="32" name="角丸四角形 31"/>
          <p:cNvSpPr/>
          <p:nvPr/>
        </p:nvSpPr>
        <p:spPr>
          <a:xfrm>
            <a:off x="7014582" y="3556510"/>
            <a:ext cx="1784942" cy="524710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PixelShader</a:t>
            </a:r>
            <a:endParaRPr kumimoji="1" lang="ja-JP" altLang="en-US" dirty="0"/>
          </a:p>
        </p:txBody>
      </p:sp>
      <p:sp>
        <p:nvSpPr>
          <p:cNvPr id="34" name="角丸四角形 33"/>
          <p:cNvSpPr/>
          <p:nvPr/>
        </p:nvSpPr>
        <p:spPr>
          <a:xfrm>
            <a:off x="2759216" y="3556510"/>
            <a:ext cx="1784942" cy="524710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InputLayout</a:t>
            </a:r>
            <a:endParaRPr kumimoji="1" lang="ja-JP" altLang="en-US" dirty="0"/>
          </a:p>
        </p:txBody>
      </p:sp>
      <p:sp>
        <p:nvSpPr>
          <p:cNvPr id="35" name="角丸四角形 34"/>
          <p:cNvSpPr/>
          <p:nvPr/>
        </p:nvSpPr>
        <p:spPr>
          <a:xfrm>
            <a:off x="9186131" y="3556510"/>
            <a:ext cx="1784942" cy="524710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RasterizerState</a:t>
            </a:r>
            <a:endParaRPr kumimoji="1" lang="ja-JP" altLang="en-US" dirty="0"/>
          </a:p>
        </p:txBody>
      </p:sp>
      <p:sp>
        <p:nvSpPr>
          <p:cNvPr id="42" name="横巻き 41"/>
          <p:cNvSpPr/>
          <p:nvPr/>
        </p:nvSpPr>
        <p:spPr>
          <a:xfrm>
            <a:off x="631533" y="2487540"/>
            <a:ext cx="1754434" cy="604988"/>
          </a:xfrm>
          <a:prstGeom prst="horizontalScroll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 smtClean="0"/>
              <a:t>CreateBuffer</a:t>
            </a:r>
            <a:r>
              <a:rPr kumimoji="1" lang="en-US" altLang="ja-JP" sz="1400" dirty="0" smtClean="0"/>
              <a:t>()</a:t>
            </a:r>
            <a:endParaRPr kumimoji="1" lang="ja-JP" altLang="en-US" sz="1400" dirty="0"/>
          </a:p>
        </p:txBody>
      </p:sp>
      <p:sp>
        <p:nvSpPr>
          <p:cNvPr id="43" name="横巻き 42"/>
          <p:cNvSpPr/>
          <p:nvPr/>
        </p:nvSpPr>
        <p:spPr>
          <a:xfrm>
            <a:off x="2670942" y="2487540"/>
            <a:ext cx="1958844" cy="604988"/>
          </a:xfrm>
          <a:prstGeom prst="horizontalScroll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 smtClean="0"/>
              <a:t>CreateInputLayout</a:t>
            </a:r>
            <a:r>
              <a:rPr kumimoji="1" lang="en-US" altLang="ja-JP" sz="1400" dirty="0" smtClean="0"/>
              <a:t>()</a:t>
            </a:r>
            <a:endParaRPr kumimoji="1" lang="ja-JP" altLang="en-US" sz="1400" dirty="0"/>
          </a:p>
        </p:txBody>
      </p:sp>
      <p:sp>
        <p:nvSpPr>
          <p:cNvPr id="44" name="横巻き 43"/>
          <p:cNvSpPr/>
          <p:nvPr/>
        </p:nvSpPr>
        <p:spPr>
          <a:xfrm>
            <a:off x="4758494" y="2485467"/>
            <a:ext cx="2042387" cy="604988"/>
          </a:xfrm>
          <a:prstGeom prst="horizontalScroll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 smtClean="0"/>
              <a:t>CreateVertexShader</a:t>
            </a:r>
            <a:r>
              <a:rPr kumimoji="1" lang="en-US" altLang="ja-JP" sz="1400" dirty="0" smtClean="0"/>
              <a:t>()</a:t>
            </a:r>
            <a:endParaRPr kumimoji="1" lang="ja-JP" altLang="en-US" sz="1400" dirty="0"/>
          </a:p>
        </p:txBody>
      </p:sp>
      <p:sp>
        <p:nvSpPr>
          <p:cNvPr id="45" name="横巻き 44"/>
          <p:cNvSpPr/>
          <p:nvPr/>
        </p:nvSpPr>
        <p:spPr>
          <a:xfrm>
            <a:off x="6885858" y="2485467"/>
            <a:ext cx="2042387" cy="604988"/>
          </a:xfrm>
          <a:prstGeom prst="horizontalScroll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 smtClean="0"/>
              <a:t>CreatePixelShader</a:t>
            </a:r>
            <a:r>
              <a:rPr kumimoji="1" lang="en-US" altLang="ja-JP" sz="1400" dirty="0" smtClean="0"/>
              <a:t>()</a:t>
            </a:r>
            <a:endParaRPr kumimoji="1" lang="ja-JP" altLang="en-US" sz="1400" dirty="0"/>
          </a:p>
        </p:txBody>
      </p:sp>
      <p:sp>
        <p:nvSpPr>
          <p:cNvPr id="46" name="横巻き 45"/>
          <p:cNvSpPr/>
          <p:nvPr/>
        </p:nvSpPr>
        <p:spPr>
          <a:xfrm>
            <a:off x="9057394" y="2485467"/>
            <a:ext cx="2211230" cy="604988"/>
          </a:xfrm>
          <a:prstGeom prst="horizontalScroll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 smtClean="0"/>
              <a:t>CreateRasterizerState</a:t>
            </a:r>
            <a:r>
              <a:rPr kumimoji="1" lang="en-US" altLang="ja-JP" sz="1400" dirty="0" smtClean="0"/>
              <a:t>()</a:t>
            </a:r>
            <a:endParaRPr kumimoji="1" lang="ja-JP" altLang="en-US" sz="1400" dirty="0"/>
          </a:p>
        </p:txBody>
      </p:sp>
      <p:sp>
        <p:nvSpPr>
          <p:cNvPr id="47" name="右矢印 46"/>
          <p:cNvSpPr/>
          <p:nvPr/>
        </p:nvSpPr>
        <p:spPr>
          <a:xfrm rot="5400000">
            <a:off x="9525043" y="5109948"/>
            <a:ext cx="1234313" cy="926063"/>
          </a:xfrm>
          <a:prstGeom prst="rightArrow">
            <a:avLst>
              <a:gd name="adj1" fmla="val 45351"/>
              <a:gd name="adj2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8" name="右矢印 47"/>
          <p:cNvSpPr/>
          <p:nvPr/>
        </p:nvSpPr>
        <p:spPr>
          <a:xfrm rot="5400000">
            <a:off x="7289895" y="5109949"/>
            <a:ext cx="1234314" cy="926063"/>
          </a:xfrm>
          <a:prstGeom prst="rightArrow">
            <a:avLst>
              <a:gd name="adj1" fmla="val 45351"/>
              <a:gd name="adj2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9" name="右矢印 48"/>
          <p:cNvSpPr/>
          <p:nvPr/>
        </p:nvSpPr>
        <p:spPr>
          <a:xfrm rot="5400000">
            <a:off x="5160888" y="5109948"/>
            <a:ext cx="1234313" cy="926063"/>
          </a:xfrm>
          <a:prstGeom prst="rightArrow">
            <a:avLst>
              <a:gd name="adj1" fmla="val 45351"/>
              <a:gd name="adj2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0" name="右矢印 49"/>
          <p:cNvSpPr/>
          <p:nvPr/>
        </p:nvSpPr>
        <p:spPr>
          <a:xfrm rot="5400000">
            <a:off x="3034529" y="5109949"/>
            <a:ext cx="1234314" cy="926063"/>
          </a:xfrm>
          <a:prstGeom prst="rightArrow">
            <a:avLst>
              <a:gd name="adj1" fmla="val 45351"/>
              <a:gd name="adj2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1" name="右矢印 50"/>
          <p:cNvSpPr/>
          <p:nvPr/>
        </p:nvSpPr>
        <p:spPr>
          <a:xfrm rot="5400000">
            <a:off x="906844" y="5109948"/>
            <a:ext cx="1234313" cy="926063"/>
          </a:xfrm>
          <a:prstGeom prst="rightArrow">
            <a:avLst>
              <a:gd name="adj1" fmla="val 45351"/>
              <a:gd name="adj2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9" name="横巻き 58"/>
          <p:cNvSpPr/>
          <p:nvPr/>
        </p:nvSpPr>
        <p:spPr>
          <a:xfrm>
            <a:off x="631533" y="4994152"/>
            <a:ext cx="1754434" cy="604988"/>
          </a:xfrm>
          <a:prstGeom prst="horizontalScroll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 smtClean="0"/>
              <a:t>SetVertexBuffer</a:t>
            </a:r>
            <a:r>
              <a:rPr kumimoji="1" lang="en-US" altLang="ja-JP" sz="1400" dirty="0" smtClean="0"/>
              <a:t>()</a:t>
            </a:r>
            <a:endParaRPr kumimoji="1" lang="ja-JP" altLang="en-US" sz="1400" dirty="0"/>
          </a:p>
        </p:txBody>
      </p:sp>
      <p:sp>
        <p:nvSpPr>
          <p:cNvPr id="60" name="横巻き 59"/>
          <p:cNvSpPr/>
          <p:nvPr/>
        </p:nvSpPr>
        <p:spPr>
          <a:xfrm>
            <a:off x="2670942" y="4994152"/>
            <a:ext cx="1958844" cy="604988"/>
          </a:xfrm>
          <a:prstGeom prst="horizontalScroll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 smtClean="0"/>
              <a:t>SetInputLayout</a:t>
            </a:r>
            <a:r>
              <a:rPr kumimoji="1" lang="en-US" altLang="ja-JP" sz="1400" dirty="0" smtClean="0"/>
              <a:t>()</a:t>
            </a:r>
            <a:endParaRPr kumimoji="1" lang="ja-JP" altLang="en-US" sz="1400" dirty="0"/>
          </a:p>
        </p:txBody>
      </p:sp>
      <p:sp>
        <p:nvSpPr>
          <p:cNvPr id="61" name="横巻き 60"/>
          <p:cNvSpPr/>
          <p:nvPr/>
        </p:nvSpPr>
        <p:spPr>
          <a:xfrm>
            <a:off x="4758494" y="4992079"/>
            <a:ext cx="2042387" cy="604988"/>
          </a:xfrm>
          <a:prstGeom prst="horizontalScroll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 smtClean="0"/>
              <a:t>SetVertexShader</a:t>
            </a:r>
            <a:r>
              <a:rPr kumimoji="1" lang="en-US" altLang="ja-JP" sz="1400" dirty="0" smtClean="0"/>
              <a:t>()</a:t>
            </a:r>
            <a:endParaRPr kumimoji="1" lang="ja-JP" altLang="en-US" sz="1400" dirty="0"/>
          </a:p>
        </p:txBody>
      </p:sp>
      <p:sp>
        <p:nvSpPr>
          <p:cNvPr id="62" name="横巻き 61"/>
          <p:cNvSpPr/>
          <p:nvPr/>
        </p:nvSpPr>
        <p:spPr>
          <a:xfrm>
            <a:off x="6885858" y="4992079"/>
            <a:ext cx="2042387" cy="604988"/>
          </a:xfrm>
          <a:prstGeom prst="horizontalScroll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 smtClean="0"/>
              <a:t>SetPixelShader</a:t>
            </a:r>
            <a:r>
              <a:rPr kumimoji="1" lang="en-US" altLang="ja-JP" sz="1400" dirty="0" smtClean="0"/>
              <a:t>()</a:t>
            </a:r>
            <a:endParaRPr kumimoji="1" lang="ja-JP" altLang="en-US" sz="1400" dirty="0"/>
          </a:p>
        </p:txBody>
      </p:sp>
      <p:sp>
        <p:nvSpPr>
          <p:cNvPr id="63" name="横巻き 62"/>
          <p:cNvSpPr/>
          <p:nvPr/>
        </p:nvSpPr>
        <p:spPr>
          <a:xfrm>
            <a:off x="9057394" y="4992079"/>
            <a:ext cx="2211230" cy="604988"/>
          </a:xfrm>
          <a:prstGeom prst="horizontalScroll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 smtClean="0"/>
              <a:t>SetRasterizerState</a:t>
            </a:r>
            <a:r>
              <a:rPr kumimoji="1" lang="en-US" altLang="ja-JP" sz="1400" dirty="0" smtClean="0"/>
              <a:t>()</a:t>
            </a:r>
            <a:endParaRPr kumimoji="1" lang="ja-JP" altLang="en-US" sz="1400" dirty="0"/>
          </a:p>
        </p:txBody>
      </p:sp>
      <p:cxnSp>
        <p:nvCxnSpPr>
          <p:cNvPr id="64" name="曲線コネクタ 63"/>
          <p:cNvCxnSpPr>
            <a:stCxn id="30" idx="1"/>
            <a:endCxn id="59" idx="1"/>
          </p:cNvCxnSpPr>
          <p:nvPr/>
        </p:nvCxnSpPr>
        <p:spPr>
          <a:xfrm rot="10800000" flipV="1">
            <a:off x="631533" y="3818864"/>
            <a:ext cx="12700" cy="1477781"/>
          </a:xfrm>
          <a:prstGeom prst="curvedConnector3">
            <a:avLst>
              <a:gd name="adj1" fmla="val 1800000"/>
            </a:avLst>
          </a:prstGeom>
          <a:ln w="38100">
            <a:solidFill>
              <a:srgbClr val="FF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曲線コネクタ 64"/>
          <p:cNvCxnSpPr>
            <a:stCxn id="34" idx="1"/>
            <a:endCxn id="60" idx="1"/>
          </p:cNvCxnSpPr>
          <p:nvPr/>
        </p:nvCxnSpPr>
        <p:spPr>
          <a:xfrm rot="10800000" flipV="1">
            <a:off x="2670942" y="3818864"/>
            <a:ext cx="88274" cy="1477781"/>
          </a:xfrm>
          <a:prstGeom prst="curvedConnector3">
            <a:avLst>
              <a:gd name="adj1" fmla="val 358966"/>
            </a:avLst>
          </a:prstGeom>
          <a:ln w="38100">
            <a:solidFill>
              <a:srgbClr val="FF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曲線コネクタ 65"/>
          <p:cNvCxnSpPr>
            <a:stCxn id="31" idx="1"/>
            <a:endCxn id="61" idx="1"/>
          </p:cNvCxnSpPr>
          <p:nvPr/>
        </p:nvCxnSpPr>
        <p:spPr>
          <a:xfrm rot="10800000" flipV="1">
            <a:off x="4758495" y="3818865"/>
            <a:ext cx="128405" cy="1475708"/>
          </a:xfrm>
          <a:prstGeom prst="curvedConnector3">
            <a:avLst>
              <a:gd name="adj1" fmla="val 278030"/>
            </a:avLst>
          </a:prstGeom>
          <a:ln w="38100">
            <a:solidFill>
              <a:srgbClr val="FF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曲線コネクタ 66"/>
          <p:cNvCxnSpPr>
            <a:stCxn id="32" idx="1"/>
            <a:endCxn id="62" idx="1"/>
          </p:cNvCxnSpPr>
          <p:nvPr/>
        </p:nvCxnSpPr>
        <p:spPr>
          <a:xfrm rot="10800000" flipV="1">
            <a:off x="6885858" y="3818865"/>
            <a:ext cx="128724" cy="1475708"/>
          </a:xfrm>
          <a:prstGeom prst="curvedConnector3">
            <a:avLst>
              <a:gd name="adj1" fmla="val 277589"/>
            </a:avLst>
          </a:prstGeom>
          <a:ln w="38100">
            <a:solidFill>
              <a:srgbClr val="FF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曲線コネクタ 67"/>
          <p:cNvCxnSpPr>
            <a:stCxn id="35" idx="1"/>
            <a:endCxn id="63" idx="1"/>
          </p:cNvCxnSpPr>
          <p:nvPr/>
        </p:nvCxnSpPr>
        <p:spPr>
          <a:xfrm rot="10800000" flipV="1">
            <a:off x="9057395" y="3818865"/>
            <a:ext cx="128737" cy="1475708"/>
          </a:xfrm>
          <a:prstGeom prst="curvedConnector3">
            <a:avLst>
              <a:gd name="adj1" fmla="val 277571"/>
            </a:avLst>
          </a:prstGeom>
          <a:ln w="38100">
            <a:solidFill>
              <a:srgbClr val="FF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横巻き 23"/>
          <p:cNvSpPr/>
          <p:nvPr/>
        </p:nvSpPr>
        <p:spPr>
          <a:xfrm>
            <a:off x="644233" y="6142364"/>
            <a:ext cx="10624391" cy="604988"/>
          </a:xfrm>
          <a:prstGeom prst="horizontalScroll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Draw()</a:t>
            </a:r>
            <a:endParaRPr kumimoji="1" lang="ja-JP" altLang="en-US" dirty="0"/>
          </a:p>
        </p:txBody>
      </p:sp>
      <p:sp>
        <p:nvSpPr>
          <p:cNvPr id="38" name="円形吹き出し 37"/>
          <p:cNvSpPr/>
          <p:nvPr/>
        </p:nvSpPr>
        <p:spPr>
          <a:xfrm>
            <a:off x="6164145" y="1852764"/>
            <a:ext cx="3869564" cy="1368217"/>
          </a:xfrm>
          <a:prstGeom prst="wedgeEllipseCallout">
            <a:avLst>
              <a:gd name="adj1" fmla="val -45545"/>
              <a:gd name="adj2" fmla="val 119199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DeviceContext</a:t>
            </a:r>
            <a:r>
              <a:rPr kumimoji="1" lang="ja-JP" altLang="en-US" dirty="0" smtClean="0"/>
              <a:t>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これから描画するための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データ・情報を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en-US" altLang="ja-JP" dirty="0" smtClean="0"/>
              <a:t>GPU</a:t>
            </a:r>
            <a:r>
              <a:rPr kumimoji="1" lang="ja-JP" altLang="en-US" dirty="0" smtClean="0"/>
              <a:t>に渡す</a:t>
            </a:r>
            <a:endParaRPr kumimoji="1" lang="ja-JP" altLang="en-US" dirty="0"/>
          </a:p>
        </p:txBody>
      </p:sp>
      <p:sp>
        <p:nvSpPr>
          <p:cNvPr id="39" name="円形吹き出し 38"/>
          <p:cNvSpPr/>
          <p:nvPr/>
        </p:nvSpPr>
        <p:spPr>
          <a:xfrm>
            <a:off x="7744387" y="4110879"/>
            <a:ext cx="3511660" cy="1025053"/>
          </a:xfrm>
          <a:prstGeom prst="wedgeEllipseCallout">
            <a:avLst>
              <a:gd name="adj1" fmla="val -26685"/>
              <a:gd name="adj2" fmla="val 107124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必要なデータ・情報を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en-US" altLang="ja-JP" dirty="0" smtClean="0"/>
              <a:t>GPU</a:t>
            </a:r>
            <a:r>
              <a:rPr kumimoji="1" lang="ja-JP" altLang="en-US" dirty="0" smtClean="0"/>
              <a:t>に渡したら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描画命令を実行する</a:t>
            </a:r>
            <a:endParaRPr kumimoji="1" lang="ja-JP" altLang="en-US" dirty="0"/>
          </a:p>
        </p:txBody>
      </p:sp>
      <p:sp>
        <p:nvSpPr>
          <p:cNvPr id="54" name="横巻き 53"/>
          <p:cNvSpPr/>
          <p:nvPr/>
        </p:nvSpPr>
        <p:spPr>
          <a:xfrm>
            <a:off x="2543551" y="5877162"/>
            <a:ext cx="2312596" cy="604988"/>
          </a:xfrm>
          <a:prstGeom prst="horizontalScroll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 smtClean="0"/>
              <a:t>SetPrimitiveTopology</a:t>
            </a:r>
            <a:r>
              <a:rPr kumimoji="1" lang="en-US" altLang="ja-JP" sz="1400" dirty="0" smtClean="0"/>
              <a:t>()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0988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  <p:bldP spid="49" grpId="0" animBg="1"/>
      <p:bldP spid="50" grpId="0" animBg="1"/>
      <p:bldP spid="51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24" grpId="0" animBg="1"/>
      <p:bldP spid="38" grpId="0" animBg="1"/>
      <p:bldP spid="39" grpId="0" animBg="1"/>
      <p:bldP spid="5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/>
              <a:t>グラフィックスデバイス上の座標系</a:t>
            </a:r>
            <a:r>
              <a:rPr lang="en-US" altLang="ja-JP" dirty="0" smtClean="0"/>
              <a:t>(NDC)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ja-JP" dirty="0" smtClean="0"/>
          </a:p>
          <a:p>
            <a:endParaRPr kumimoji="1" lang="en-US" altLang="ja-JP" dirty="0" smtClean="0"/>
          </a:p>
        </p:txBody>
      </p:sp>
      <p:pic>
        <p:nvPicPr>
          <p:cNvPr id="4098" name="Picture 2" descr="Normalized Device Coordinat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574" y="2038439"/>
            <a:ext cx="7229560" cy="4507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2007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ポリゴン描画の流れ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122" name="Picture 2" descr="é¢é£ç»å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76" y="1944234"/>
            <a:ext cx="5556239" cy="4444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é¢é£ç»å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003" y="1944234"/>
            <a:ext cx="5556239" cy="4444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テキスト ボックス 1"/>
          <p:cNvSpPr txBox="1"/>
          <p:nvPr/>
        </p:nvSpPr>
        <p:spPr>
          <a:xfrm>
            <a:off x="1215342" y="6486371"/>
            <a:ext cx="10243595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※</a:t>
            </a:r>
            <a:r>
              <a:rPr kumimoji="1" lang="ja-JP" altLang="en-US" dirty="0" smtClean="0"/>
              <a:t>フラグメントシェーダーは</a:t>
            </a:r>
            <a:r>
              <a:rPr kumimoji="1" lang="en-US" altLang="ja-JP" dirty="0" smtClean="0"/>
              <a:t>OpenGL</a:t>
            </a:r>
            <a:r>
              <a:rPr kumimoji="1" lang="ja-JP" altLang="en-US" dirty="0" err="1" smtClean="0"/>
              <a:t>での</a:t>
            </a:r>
            <a:r>
              <a:rPr kumimoji="1" lang="ja-JP" altLang="en-US" dirty="0" smtClean="0"/>
              <a:t>呼び方。</a:t>
            </a:r>
            <a:r>
              <a:rPr kumimoji="1" lang="en-US" altLang="ja-JP" dirty="0" smtClean="0"/>
              <a:t>DirectX</a:t>
            </a:r>
            <a:r>
              <a:rPr kumimoji="1" lang="ja-JP" altLang="en-US" dirty="0" smtClean="0"/>
              <a:t>ではピクセルシェーダーのこと。</a:t>
            </a:r>
          </a:p>
        </p:txBody>
      </p:sp>
    </p:spTree>
    <p:extLst>
      <p:ext uri="{BB962C8B-B14F-4D97-AF65-F5344CB8AC3E}">
        <p14:creationId xmlns:p14="http://schemas.microsoft.com/office/powerpoint/2010/main" val="3339554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pic>
        <p:nvPicPr>
          <p:cNvPr id="3074" name="Picture 2" descr="ããªã´ã³ã©ã¹ã¿ã©ã¤ã¶&#10;ã¹ã¯ãªã¼ã³ç©ºéã«å¤æ&#10;é ç¹ã·ã§ã¼ã&#10;å¡ããã¯ã»ã«ãé¸æã©ã¹ã¿ã©ã¤ã¶&#10;ãã¯ã»ã«ã·ã§ã¼ã&#10;è²ãå¡ã&#10;ã¬ã³ãã¼ã¿ã¼ã²ãã(RT)&#10;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704088"/>
            <a:ext cx="9907290" cy="5574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5334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609600" y="704886"/>
            <a:ext cx="10972800" cy="1143000"/>
          </a:xfrm>
        </p:spPr>
        <p:txBody>
          <a:bodyPr rtlCol="0"/>
          <a:lstStyle/>
          <a:p>
            <a:pPr rtl="0"/>
            <a:r>
              <a: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頂点バッファ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>
          <a:xfrm>
            <a:off x="609600" y="1913708"/>
            <a:ext cx="10972800" cy="4343400"/>
          </a:xfrm>
        </p:spPr>
        <p:txBody>
          <a:bodyPr rtlCol="0"/>
          <a:lstStyle/>
          <a:p>
            <a:pPr rtl="0"/>
            <a:r>
              <a:rPr lang="ja-JP" altLang="en-US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頂点データを</a:t>
            </a:r>
            <a:r>
              <a:rPr lang="en-US" altLang="ja-JP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GPU</a:t>
            </a:r>
            <a:r>
              <a:rPr lang="ja-JP" altLang="en-US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で扱うための格納用バッファ</a:t>
            </a:r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lvl="1"/>
            <a:r>
              <a:rPr lang="en-US" altLang="ja-JP" dirty="0" smtClean="0"/>
              <a:t>ID3D11Buffer</a:t>
            </a:r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endParaRPr lang="en-US" altLang="ja-JP" dirty="0"/>
          </a:p>
          <a:p>
            <a:endParaRPr lang="en-US" altLang="ja-JP" dirty="0" smtClean="0"/>
          </a:p>
          <a:p>
            <a:endParaRPr lang="en-US" altLang="ja-JP" dirty="0"/>
          </a:p>
          <a:p>
            <a:r>
              <a:rPr lang="en-US" altLang="ja-JP" dirty="0" smtClean="0"/>
              <a:t>GPU</a:t>
            </a:r>
            <a:r>
              <a:rPr lang="ja-JP" altLang="en-US" dirty="0" smtClean="0"/>
              <a:t>に渡された</a:t>
            </a:r>
            <a:r>
              <a:rPr lang="ja-JP" altLang="en-US" dirty="0"/>
              <a:t>頂点</a:t>
            </a:r>
            <a:r>
              <a:rPr lang="ja-JP" altLang="en-US" dirty="0" smtClean="0"/>
              <a:t>データは頂点シェーダーで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頂点を加工するために使う。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→</a:t>
            </a:r>
            <a:r>
              <a:rPr lang="ja-JP" altLang="en-US" dirty="0"/>
              <a:t>頂点位置を</a:t>
            </a:r>
            <a:r>
              <a:rPr lang="en-US" altLang="ja-JP" dirty="0"/>
              <a:t>NDC</a:t>
            </a:r>
            <a:r>
              <a:rPr lang="ja-JP" altLang="en-US" dirty="0"/>
              <a:t>座標</a:t>
            </a:r>
            <a:r>
              <a:rPr lang="ja-JP" altLang="en-US" dirty="0" smtClean="0"/>
              <a:t>に変換したり、ライティング計算したりする。</a:t>
            </a:r>
            <a:endParaRPr lang="en-US" altLang="ja-JP" dirty="0"/>
          </a:p>
          <a:p>
            <a:pPr rtl="0"/>
            <a:endParaRPr lang="en-US" altLang="ja-JP" dirty="0"/>
          </a:p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endParaRPr lang="en-US" altLang="ja-JP" dirty="0"/>
          </a:p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endParaRPr lang="en-US" altLang="ja-JP" dirty="0"/>
          </a:p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endParaRPr lang="en-US" altLang="ja-JP" dirty="0"/>
          </a:p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0" indent="0" rtl="0">
              <a:buNone/>
            </a:pPr>
            <a:endParaRPr lang="ja-JP" altLang="en-US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116" y="1359054"/>
            <a:ext cx="2257063" cy="350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8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プリミティブトポロジー</a:t>
            </a:r>
            <a:endParaRPr kumimoji="1" lang="ja-JP" altLang="en-US" dirty="0"/>
          </a:p>
        </p:txBody>
      </p:sp>
      <p:pic>
        <p:nvPicPr>
          <p:cNvPr id="1026" name="Picture 2" descr="Primitive Topologi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728" y="1935480"/>
            <a:ext cx="5845216" cy="4775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359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入力レイアウト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 dirty="0" smtClean="0"/>
              <a:t>１頂点に内包するデータを定義する。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ID3D11InputLayout</a:t>
            </a:r>
          </a:p>
          <a:p>
            <a:endParaRPr lang="en-US" altLang="ja-JP" dirty="0" smtClean="0"/>
          </a:p>
          <a:p>
            <a:r>
              <a:rPr lang="ja-JP" altLang="en-US" dirty="0" smtClean="0"/>
              <a:t>内包するデータ</a:t>
            </a:r>
            <a:endParaRPr lang="en-US" altLang="ja-JP" dirty="0" smtClean="0"/>
          </a:p>
          <a:p>
            <a:pPr lvl="1"/>
            <a:r>
              <a:rPr kumimoji="1" lang="ja-JP" altLang="en-US" dirty="0" smtClean="0"/>
              <a:t>座標</a:t>
            </a:r>
            <a:r>
              <a:rPr kumimoji="1" lang="en-US" altLang="ja-JP" dirty="0" smtClean="0"/>
              <a:t>(POSITION)</a:t>
            </a:r>
          </a:p>
          <a:p>
            <a:pPr lvl="1"/>
            <a:r>
              <a:rPr lang="ja-JP" altLang="en-US" dirty="0" smtClean="0"/>
              <a:t>色</a:t>
            </a:r>
            <a:r>
              <a:rPr lang="en-US" altLang="ja-JP" dirty="0" smtClean="0"/>
              <a:t>(COLOR)</a:t>
            </a:r>
          </a:p>
          <a:p>
            <a:pPr lvl="1"/>
            <a:r>
              <a:rPr lang="en-US" altLang="ja-JP" dirty="0" smtClean="0"/>
              <a:t>etc..</a:t>
            </a:r>
          </a:p>
          <a:p>
            <a:endParaRPr lang="en-US" altLang="ja-JP" dirty="0" smtClean="0"/>
          </a:p>
          <a:p>
            <a:r>
              <a:rPr lang="en-US" altLang="ja-JP" dirty="0" smtClean="0"/>
              <a:t>GPU</a:t>
            </a:r>
            <a:r>
              <a:rPr lang="ja-JP" altLang="en-US" dirty="0" smtClean="0"/>
              <a:t>が送られてきた頂点データの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内容を理解するためのもの。</a:t>
            </a:r>
            <a:endParaRPr lang="en-US" altLang="ja-JP" dirty="0" smtClean="0"/>
          </a:p>
          <a:p>
            <a:pPr marL="0" indent="0">
              <a:buNone/>
            </a:pPr>
            <a:endParaRPr kumimoji="1" lang="ja-JP" altLang="en-US" dirty="0"/>
          </a:p>
        </p:txBody>
      </p:sp>
      <p:pic>
        <p:nvPicPr>
          <p:cNvPr id="1026" name="Picture 2" descr="ã¤ã³ã¿ã¼ãªã¼ãéåãç¨ããå ´åã®ã¤ã¡ã¼ã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4401363"/>
            <a:ext cx="5867400" cy="220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ã¤ã³ã¿ã¼ãªã¼ãéåãç¨ããå ´åã®ã¤ã¡ã¼ã¸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7099" y="2169846"/>
            <a:ext cx="5581208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正方形/長方形 3"/>
          <p:cNvSpPr/>
          <p:nvPr/>
        </p:nvSpPr>
        <p:spPr>
          <a:xfrm>
            <a:off x="6684160" y="1377387"/>
            <a:ext cx="5243331" cy="5224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" name="グループ化 9"/>
          <p:cNvGrpSpPr/>
          <p:nvPr/>
        </p:nvGrpSpPr>
        <p:grpSpPr>
          <a:xfrm rot="16200000">
            <a:off x="6408663" y="2976905"/>
            <a:ext cx="1782626" cy="1623905"/>
            <a:chOff x="3293898" y="2739829"/>
            <a:chExt cx="2405430" cy="1346538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" name="正方形/長方形 10"/>
            <p:cNvSpPr/>
            <p:nvPr/>
          </p:nvSpPr>
          <p:spPr>
            <a:xfrm>
              <a:off x="3293899" y="2739829"/>
              <a:ext cx="2405429" cy="133340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ja-JP" altLang="en-US" dirty="0">
                <a:latin typeface="ＭＳ 明朝" panose="02020609040205080304" pitchFamily="17" charset="-128"/>
                <a:ea typeface="ＭＳ 明朝" panose="02020609040205080304" pitchFamily="17" charset="-128"/>
              </a:endParaRPr>
            </a:p>
          </p:txBody>
        </p:sp>
        <p:grpSp>
          <p:nvGrpSpPr>
            <p:cNvPr id="13" name="グループ化 12"/>
            <p:cNvGrpSpPr/>
            <p:nvPr/>
          </p:nvGrpSpPr>
          <p:grpSpPr>
            <a:xfrm>
              <a:off x="3293898" y="3088184"/>
              <a:ext cx="602666" cy="998183"/>
              <a:chOff x="1485900" y="3088184"/>
              <a:chExt cx="602666" cy="998183"/>
            </a:xfrm>
            <a:grpFill/>
          </p:grpSpPr>
          <p:sp>
            <p:nvSpPr>
              <p:cNvPr id="26" name="正方形/長方形 25"/>
              <p:cNvSpPr/>
              <p:nvPr/>
            </p:nvSpPr>
            <p:spPr>
              <a:xfrm>
                <a:off x="1485900" y="3088184"/>
                <a:ext cx="301333" cy="99818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/>
                    </a:solidFill>
                    <a:latin typeface="ＭＳ 明朝" panose="02020609040205080304" pitchFamily="17" charset="-128"/>
                    <a:ea typeface="ＭＳ 明朝" panose="02020609040205080304" pitchFamily="17" charset="-128"/>
                  </a:rPr>
                  <a:t>0,0,1,1</a:t>
                </a:r>
                <a:endParaRPr kumimoji="1" lang="ja-JP" altLang="en-US" dirty="0">
                  <a:solidFill>
                    <a:schemeClr val="tx1"/>
                  </a:solidFill>
                  <a:latin typeface="ＭＳ 明朝" panose="02020609040205080304" pitchFamily="17" charset="-128"/>
                  <a:ea typeface="ＭＳ 明朝" panose="02020609040205080304" pitchFamily="17" charset="-128"/>
                </a:endParaRPr>
              </a:p>
            </p:txBody>
          </p:sp>
          <p:sp>
            <p:nvSpPr>
              <p:cNvPr id="27" name="正方形/長方形 26"/>
              <p:cNvSpPr/>
              <p:nvPr/>
            </p:nvSpPr>
            <p:spPr>
              <a:xfrm>
                <a:off x="1787233" y="3088184"/>
                <a:ext cx="301333" cy="99818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/>
                    </a:solidFill>
                    <a:latin typeface="ＭＳ 明朝" panose="02020609040205080304" pitchFamily="17" charset="-128"/>
                    <a:ea typeface="ＭＳ 明朝" panose="02020609040205080304" pitchFamily="17" charset="-128"/>
                  </a:rPr>
                  <a:t>1,-1,0</a:t>
                </a:r>
              </a:p>
            </p:txBody>
          </p:sp>
        </p:grpSp>
        <p:grpSp>
          <p:nvGrpSpPr>
            <p:cNvPr id="14" name="グループ化 13"/>
            <p:cNvGrpSpPr/>
            <p:nvPr/>
          </p:nvGrpSpPr>
          <p:grpSpPr>
            <a:xfrm>
              <a:off x="3891329" y="3088183"/>
              <a:ext cx="1807997" cy="998184"/>
              <a:chOff x="280569" y="3088183"/>
              <a:chExt cx="1807997" cy="998184"/>
            </a:xfrm>
            <a:grpFill/>
          </p:grpSpPr>
          <p:sp>
            <p:nvSpPr>
              <p:cNvPr id="16" name="正方形/長方形 15"/>
              <p:cNvSpPr/>
              <p:nvPr/>
            </p:nvSpPr>
            <p:spPr>
              <a:xfrm>
                <a:off x="280569" y="3088183"/>
                <a:ext cx="301333" cy="99818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/>
                    </a:solidFill>
                    <a:latin typeface="ＭＳ 明朝" panose="02020609040205080304" pitchFamily="17" charset="-128"/>
                    <a:ea typeface="ＭＳ 明朝" panose="02020609040205080304" pitchFamily="17" charset="-128"/>
                  </a:rPr>
                  <a:t>0,1,0,1</a:t>
                </a:r>
                <a:endParaRPr kumimoji="1" lang="ja-JP" altLang="en-US" dirty="0">
                  <a:solidFill>
                    <a:schemeClr val="tx1"/>
                  </a:solidFill>
                  <a:latin typeface="ＭＳ 明朝" panose="02020609040205080304" pitchFamily="17" charset="-128"/>
                  <a:ea typeface="ＭＳ 明朝" panose="02020609040205080304" pitchFamily="17" charset="-128"/>
                </a:endParaRPr>
              </a:p>
            </p:txBody>
          </p:sp>
          <p:sp>
            <p:nvSpPr>
              <p:cNvPr id="17" name="正方形/長方形 16"/>
              <p:cNvSpPr/>
              <p:nvPr/>
            </p:nvSpPr>
            <p:spPr>
              <a:xfrm>
                <a:off x="581902" y="3088183"/>
                <a:ext cx="301333" cy="99818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/>
                    </a:solidFill>
                    <a:latin typeface="ＭＳ 明朝" panose="02020609040205080304" pitchFamily="17" charset="-128"/>
                    <a:ea typeface="ＭＳ 明朝" panose="02020609040205080304" pitchFamily="17" charset="-128"/>
                  </a:rPr>
                  <a:t>-1,-1,0</a:t>
                </a:r>
                <a:endParaRPr kumimoji="1" lang="ja-JP" altLang="en-US" dirty="0">
                  <a:solidFill>
                    <a:schemeClr val="tx1"/>
                  </a:solidFill>
                  <a:latin typeface="ＭＳ 明朝" panose="02020609040205080304" pitchFamily="17" charset="-128"/>
                  <a:ea typeface="ＭＳ 明朝" panose="02020609040205080304" pitchFamily="17" charset="-128"/>
                </a:endParaRPr>
              </a:p>
            </p:txBody>
          </p:sp>
          <p:sp>
            <p:nvSpPr>
              <p:cNvPr id="18" name="正方形/長方形 17"/>
              <p:cNvSpPr/>
              <p:nvPr/>
            </p:nvSpPr>
            <p:spPr>
              <a:xfrm>
                <a:off x="883235" y="3088183"/>
                <a:ext cx="301333" cy="99818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/>
                    </a:solidFill>
                    <a:latin typeface="ＭＳ 明朝" panose="02020609040205080304" pitchFamily="17" charset="-128"/>
                    <a:ea typeface="ＭＳ 明朝" panose="02020609040205080304" pitchFamily="17" charset="-128"/>
                  </a:rPr>
                  <a:t>1,0,0,1</a:t>
                </a:r>
                <a:endParaRPr kumimoji="1" lang="ja-JP" altLang="en-US" dirty="0">
                  <a:solidFill>
                    <a:schemeClr val="tx1"/>
                  </a:solidFill>
                  <a:latin typeface="ＭＳ 明朝" panose="02020609040205080304" pitchFamily="17" charset="-128"/>
                  <a:ea typeface="ＭＳ 明朝" panose="02020609040205080304" pitchFamily="17" charset="-128"/>
                </a:endParaRPr>
              </a:p>
            </p:txBody>
          </p:sp>
          <p:sp>
            <p:nvSpPr>
              <p:cNvPr id="19" name="正方形/長方形 18"/>
              <p:cNvSpPr/>
              <p:nvPr/>
            </p:nvSpPr>
            <p:spPr>
              <a:xfrm>
                <a:off x="1184568" y="3088183"/>
                <a:ext cx="301333" cy="99818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/>
                    </a:solidFill>
                    <a:latin typeface="ＭＳ 明朝" panose="02020609040205080304" pitchFamily="17" charset="-128"/>
                    <a:ea typeface="ＭＳ 明朝" panose="02020609040205080304" pitchFamily="17" charset="-128"/>
                  </a:rPr>
                  <a:t>1,1,0</a:t>
                </a:r>
                <a:endParaRPr kumimoji="1" lang="ja-JP" altLang="en-US" dirty="0">
                  <a:solidFill>
                    <a:schemeClr val="tx1"/>
                  </a:solidFill>
                  <a:latin typeface="ＭＳ 明朝" panose="02020609040205080304" pitchFamily="17" charset="-128"/>
                  <a:ea typeface="ＭＳ 明朝" panose="02020609040205080304" pitchFamily="17" charset="-128"/>
                </a:endParaRPr>
              </a:p>
            </p:txBody>
          </p:sp>
          <p:sp>
            <p:nvSpPr>
              <p:cNvPr id="20" name="正方形/長方形 19"/>
              <p:cNvSpPr/>
              <p:nvPr/>
            </p:nvSpPr>
            <p:spPr>
              <a:xfrm>
                <a:off x="1485902" y="3088183"/>
                <a:ext cx="301333" cy="99818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/>
                    </a:solidFill>
                    <a:latin typeface="ＭＳ 明朝" panose="02020609040205080304" pitchFamily="17" charset="-128"/>
                    <a:ea typeface="ＭＳ 明朝" panose="02020609040205080304" pitchFamily="17" charset="-128"/>
                  </a:rPr>
                  <a:t>1,1,1,1</a:t>
                </a:r>
                <a:endParaRPr kumimoji="1" lang="ja-JP" altLang="en-US" dirty="0">
                  <a:solidFill>
                    <a:schemeClr val="tx1"/>
                  </a:solidFill>
                  <a:latin typeface="ＭＳ 明朝" panose="02020609040205080304" pitchFamily="17" charset="-128"/>
                  <a:ea typeface="ＭＳ 明朝" panose="02020609040205080304" pitchFamily="17" charset="-128"/>
                </a:endParaRPr>
              </a:p>
            </p:txBody>
          </p:sp>
          <p:sp>
            <p:nvSpPr>
              <p:cNvPr id="21" name="正方形/長方形 20"/>
              <p:cNvSpPr/>
              <p:nvPr/>
            </p:nvSpPr>
            <p:spPr>
              <a:xfrm>
                <a:off x="1787233" y="3088184"/>
                <a:ext cx="301333" cy="99818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/>
                    </a:solidFill>
                    <a:latin typeface="ＭＳ 明朝" panose="02020609040205080304" pitchFamily="17" charset="-128"/>
                    <a:ea typeface="ＭＳ 明朝" panose="02020609040205080304" pitchFamily="17" charset="-128"/>
                  </a:rPr>
                  <a:t>-1,1,0</a:t>
                </a:r>
                <a:endParaRPr kumimoji="1" lang="ja-JP" altLang="en-US" dirty="0">
                  <a:solidFill>
                    <a:schemeClr val="tx1"/>
                  </a:solidFill>
                  <a:latin typeface="ＭＳ 明朝" panose="02020609040205080304" pitchFamily="17" charset="-128"/>
                  <a:ea typeface="ＭＳ 明朝" panose="02020609040205080304" pitchFamily="17" charset="-128"/>
                </a:endParaRPr>
              </a:p>
            </p:txBody>
          </p:sp>
        </p:grpSp>
        <p:sp>
          <p:nvSpPr>
            <p:cNvPr id="15" name="テキスト ボックス 14"/>
            <p:cNvSpPr txBox="1"/>
            <p:nvPr/>
          </p:nvSpPr>
          <p:spPr>
            <a:xfrm>
              <a:off x="3371980" y="2746215"/>
              <a:ext cx="2242651" cy="307776"/>
            </a:xfrm>
            <a:prstGeom prst="rect">
              <a:avLst/>
            </a:prstGeom>
            <a:noFill/>
            <a:ln>
              <a:noFill/>
            </a:ln>
          </p:spPr>
          <p:txBody>
            <a:bodyPr vert="eaVert" wrap="square" rtlCol="0" anchor="ctr">
              <a:spAutoFit/>
            </a:bodyPr>
            <a:lstStyle/>
            <a:p>
              <a:pPr algn="ctr"/>
              <a:r>
                <a:rPr kumimoji="1" lang="ja-JP" altLang="en-US" sz="1600" b="1" dirty="0">
                  <a:latin typeface="ＭＳ 明朝" panose="02020609040205080304" pitchFamily="17" charset="-128"/>
                  <a:ea typeface="ＭＳ 明朝" panose="02020609040205080304" pitchFamily="17" charset="-128"/>
                </a:rPr>
                <a:t>頂点バッファ</a:t>
              </a:r>
            </a:p>
          </p:txBody>
        </p:sp>
      </p:grpSp>
      <p:sp>
        <p:nvSpPr>
          <p:cNvPr id="42" name="角丸四角形 41"/>
          <p:cNvSpPr/>
          <p:nvPr/>
        </p:nvSpPr>
        <p:spPr>
          <a:xfrm rot="16200000">
            <a:off x="7459426" y="4063959"/>
            <a:ext cx="3239612" cy="90677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2400" dirty="0" smtClean="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Ｇ</a:t>
            </a:r>
            <a:endParaRPr kumimoji="1" lang="en-US" altLang="ja-JP" sz="2400" dirty="0" smtClean="0">
              <a:solidFill>
                <a:schemeClr val="tx1"/>
              </a:solidFill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algn="ctr"/>
            <a:r>
              <a:rPr kumimoji="1" lang="ja-JP" altLang="en-US" sz="2400" dirty="0" smtClean="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Ｐ</a:t>
            </a:r>
            <a:endParaRPr kumimoji="1" lang="en-US" altLang="ja-JP" sz="2400" dirty="0" smtClean="0">
              <a:solidFill>
                <a:schemeClr val="tx1"/>
              </a:solidFill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algn="ctr"/>
            <a:r>
              <a:rPr kumimoji="1" lang="ja-JP" altLang="en-US" sz="2400" dirty="0" smtClean="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Ｕ　　</a:t>
            </a:r>
            <a:endParaRPr kumimoji="1" lang="ja-JP" altLang="en-US" sz="2400" dirty="0">
              <a:solidFill>
                <a:schemeClr val="tx1"/>
              </a:solidFill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sp>
        <p:nvSpPr>
          <p:cNvPr id="41" name="右矢印 40"/>
          <p:cNvSpPr/>
          <p:nvPr/>
        </p:nvSpPr>
        <p:spPr>
          <a:xfrm>
            <a:off x="8119427" y="3357841"/>
            <a:ext cx="448303" cy="926063"/>
          </a:xfrm>
          <a:prstGeom prst="rightArrow">
            <a:avLst>
              <a:gd name="adj1" fmla="val 45351"/>
              <a:gd name="adj2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3" name="円形吹き出し 62"/>
          <p:cNvSpPr/>
          <p:nvPr/>
        </p:nvSpPr>
        <p:spPr>
          <a:xfrm>
            <a:off x="8209151" y="928613"/>
            <a:ext cx="3869564" cy="1368217"/>
          </a:xfrm>
          <a:prstGeom prst="wedgeEllipseCallout">
            <a:avLst>
              <a:gd name="adj1" fmla="val -29991"/>
              <a:gd name="adj2" fmla="val 11835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頂点バッファだけではどういう構造なのか、</a:t>
            </a:r>
            <a:r>
              <a:rPr kumimoji="1" lang="en-US" altLang="ja-JP" dirty="0" smtClean="0"/>
              <a:t>GPU</a:t>
            </a:r>
            <a:r>
              <a:rPr kumimoji="1" lang="ja-JP" altLang="en-US" dirty="0" smtClean="0"/>
              <a:t>は分からない</a:t>
            </a:r>
            <a:endParaRPr kumimoji="1" lang="ja-JP" altLang="en-US" dirty="0"/>
          </a:p>
        </p:txBody>
      </p:sp>
      <p:grpSp>
        <p:nvGrpSpPr>
          <p:cNvPr id="68" name="グループ化 67"/>
          <p:cNvGrpSpPr/>
          <p:nvPr/>
        </p:nvGrpSpPr>
        <p:grpSpPr>
          <a:xfrm>
            <a:off x="6496068" y="4825155"/>
            <a:ext cx="1600803" cy="1311999"/>
            <a:chOff x="1362489" y="4056852"/>
            <a:chExt cx="1277983" cy="811171"/>
          </a:xfrm>
        </p:grpSpPr>
        <p:sp>
          <p:nvSpPr>
            <p:cNvPr id="77" name="正方形/長方形 76"/>
            <p:cNvSpPr/>
            <p:nvPr/>
          </p:nvSpPr>
          <p:spPr>
            <a:xfrm>
              <a:off x="1362489" y="4056852"/>
              <a:ext cx="445254" cy="81117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kumimoji="1" lang="ja-JP" altLang="en-US" dirty="0" smtClean="0">
                  <a:solidFill>
                    <a:schemeClr val="tx1"/>
                  </a:solidFill>
                  <a:latin typeface="ＭＳ 明朝" panose="02020609040205080304" pitchFamily="17" charset="-128"/>
                  <a:ea typeface="ＭＳ 明朝" panose="02020609040205080304" pitchFamily="17" charset="-128"/>
                </a:rPr>
                <a:t>入力</a:t>
              </a:r>
              <a:endParaRPr kumimoji="1" lang="en-US" altLang="ja-JP" dirty="0" smtClean="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endParaRPr>
            </a:p>
            <a:p>
              <a:pPr algn="ctr"/>
              <a:r>
                <a:rPr kumimoji="1" lang="ja-JP" altLang="en-US" dirty="0" smtClean="0">
                  <a:solidFill>
                    <a:schemeClr val="tx1"/>
                  </a:solidFill>
                  <a:latin typeface="ＭＳ 明朝" panose="02020609040205080304" pitchFamily="17" charset="-128"/>
                  <a:ea typeface="ＭＳ 明朝" panose="02020609040205080304" pitchFamily="17" charset="-128"/>
                </a:rPr>
                <a:t>レイアウト</a:t>
              </a:r>
              <a:endParaRPr kumimoji="1" lang="ja-JP" altLang="en-US" dirty="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endParaRPr>
            </a:p>
          </p:txBody>
        </p:sp>
        <p:sp>
          <p:nvSpPr>
            <p:cNvPr id="78" name="正方形/長方形 77"/>
            <p:cNvSpPr/>
            <p:nvPr/>
          </p:nvSpPr>
          <p:spPr>
            <a:xfrm>
              <a:off x="1807743" y="4056852"/>
              <a:ext cx="832729" cy="41794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  <a:latin typeface="ＭＳ 明朝" panose="02020609040205080304" pitchFamily="17" charset="-128"/>
                  <a:ea typeface="ＭＳ 明朝" panose="02020609040205080304" pitchFamily="17" charset="-128"/>
                </a:rPr>
                <a:t>座標</a:t>
              </a:r>
            </a:p>
          </p:txBody>
        </p:sp>
        <p:sp>
          <p:nvSpPr>
            <p:cNvPr id="79" name="正方形/長方形 78"/>
            <p:cNvSpPr/>
            <p:nvPr/>
          </p:nvSpPr>
          <p:spPr>
            <a:xfrm>
              <a:off x="1807743" y="4474795"/>
              <a:ext cx="832729" cy="39322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  <a:latin typeface="ＭＳ 明朝" panose="02020609040205080304" pitchFamily="17" charset="-128"/>
                  <a:ea typeface="ＭＳ 明朝" panose="02020609040205080304" pitchFamily="17" charset="-128"/>
                </a:rPr>
                <a:t>色</a:t>
              </a:r>
            </a:p>
          </p:txBody>
        </p:sp>
      </p:grpSp>
      <p:sp>
        <p:nvSpPr>
          <p:cNvPr id="80" name="右矢印 79"/>
          <p:cNvSpPr/>
          <p:nvPr/>
        </p:nvSpPr>
        <p:spPr>
          <a:xfrm>
            <a:off x="8156428" y="4957203"/>
            <a:ext cx="448303" cy="926063"/>
          </a:xfrm>
          <a:prstGeom prst="rightArrow">
            <a:avLst>
              <a:gd name="adj1" fmla="val 45351"/>
              <a:gd name="adj2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1" name="円形吹き出し 80"/>
          <p:cNvSpPr/>
          <p:nvPr/>
        </p:nvSpPr>
        <p:spPr>
          <a:xfrm>
            <a:off x="8427561" y="5489888"/>
            <a:ext cx="3869564" cy="1368217"/>
          </a:xfrm>
          <a:prstGeom prst="wedgeEllipseCallout">
            <a:avLst>
              <a:gd name="adj1" fmla="val -65586"/>
              <a:gd name="adj2" fmla="val -36459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入力レイアウトを渡して１頂点の構造を教える事で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5459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80" grpId="0" animBg="1"/>
      <p:bldP spid="8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入力レイアウト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 dirty="0" smtClean="0"/>
              <a:t>１頂点に内包するデータを定義する。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ID3D11InputLayout</a:t>
            </a:r>
          </a:p>
          <a:p>
            <a:endParaRPr lang="en-US" altLang="ja-JP" dirty="0" smtClean="0"/>
          </a:p>
          <a:p>
            <a:r>
              <a:rPr lang="ja-JP" altLang="en-US" dirty="0" smtClean="0"/>
              <a:t>内包するデータ</a:t>
            </a:r>
            <a:endParaRPr lang="en-US" altLang="ja-JP" dirty="0" smtClean="0"/>
          </a:p>
          <a:p>
            <a:pPr lvl="1"/>
            <a:r>
              <a:rPr kumimoji="1" lang="ja-JP" altLang="en-US" dirty="0" smtClean="0"/>
              <a:t>座標</a:t>
            </a:r>
            <a:r>
              <a:rPr kumimoji="1" lang="en-US" altLang="ja-JP" dirty="0" smtClean="0"/>
              <a:t>(POSITION)</a:t>
            </a:r>
          </a:p>
          <a:p>
            <a:pPr lvl="1"/>
            <a:r>
              <a:rPr lang="ja-JP" altLang="en-US" dirty="0" smtClean="0"/>
              <a:t>色</a:t>
            </a:r>
            <a:r>
              <a:rPr lang="en-US" altLang="ja-JP" dirty="0" smtClean="0"/>
              <a:t>(COLOR)</a:t>
            </a:r>
          </a:p>
          <a:p>
            <a:pPr lvl="1"/>
            <a:r>
              <a:rPr lang="en-US" altLang="ja-JP" dirty="0" smtClean="0"/>
              <a:t>etc..</a:t>
            </a:r>
          </a:p>
          <a:p>
            <a:endParaRPr lang="en-US" altLang="ja-JP" dirty="0" smtClean="0"/>
          </a:p>
          <a:p>
            <a:r>
              <a:rPr lang="en-US" altLang="ja-JP" dirty="0" smtClean="0"/>
              <a:t>GPU</a:t>
            </a:r>
            <a:r>
              <a:rPr lang="ja-JP" altLang="en-US" dirty="0" smtClean="0"/>
              <a:t>が送られてきた頂点データの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内容を理解するためのもの。</a:t>
            </a:r>
            <a:endParaRPr lang="en-US" altLang="ja-JP" dirty="0" smtClean="0"/>
          </a:p>
          <a:p>
            <a:pPr marL="0" indent="0">
              <a:buNone/>
            </a:pPr>
            <a:endParaRPr kumimoji="1" lang="ja-JP" altLang="en-US" dirty="0"/>
          </a:p>
        </p:txBody>
      </p:sp>
      <p:pic>
        <p:nvPicPr>
          <p:cNvPr id="1026" name="Picture 2" descr="ã¤ã³ã¿ã¼ãªã¼ãéåãç¨ããå ´åã®ã¤ã¡ã¼ã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4401363"/>
            <a:ext cx="5867400" cy="220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ã¤ã³ã¿ã¼ãªã¼ãéåãç¨ããå ´åã®ã¤ã¡ã¼ã¸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7099" y="2169846"/>
            <a:ext cx="5581208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正方形/長方形 3"/>
          <p:cNvSpPr/>
          <p:nvPr/>
        </p:nvSpPr>
        <p:spPr>
          <a:xfrm>
            <a:off x="6684160" y="1377387"/>
            <a:ext cx="5243331" cy="5224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" name="グループ化 9"/>
          <p:cNvGrpSpPr/>
          <p:nvPr/>
        </p:nvGrpSpPr>
        <p:grpSpPr>
          <a:xfrm rot="16200000">
            <a:off x="6408663" y="2976905"/>
            <a:ext cx="1782626" cy="1623905"/>
            <a:chOff x="3293898" y="2739829"/>
            <a:chExt cx="2405430" cy="1346538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" name="正方形/長方形 10"/>
            <p:cNvSpPr/>
            <p:nvPr/>
          </p:nvSpPr>
          <p:spPr>
            <a:xfrm>
              <a:off x="3293899" y="2739829"/>
              <a:ext cx="2405429" cy="133340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ja-JP" altLang="en-US" dirty="0">
                <a:latin typeface="ＭＳ 明朝" panose="02020609040205080304" pitchFamily="17" charset="-128"/>
                <a:ea typeface="ＭＳ 明朝" panose="02020609040205080304" pitchFamily="17" charset="-128"/>
              </a:endParaRPr>
            </a:p>
          </p:txBody>
        </p:sp>
        <p:grpSp>
          <p:nvGrpSpPr>
            <p:cNvPr id="13" name="グループ化 12"/>
            <p:cNvGrpSpPr/>
            <p:nvPr/>
          </p:nvGrpSpPr>
          <p:grpSpPr>
            <a:xfrm>
              <a:off x="3293898" y="3088184"/>
              <a:ext cx="602666" cy="998183"/>
              <a:chOff x="1485900" y="3088184"/>
              <a:chExt cx="602666" cy="998183"/>
            </a:xfrm>
            <a:grpFill/>
          </p:grpSpPr>
          <p:sp>
            <p:nvSpPr>
              <p:cNvPr id="26" name="正方形/長方形 25"/>
              <p:cNvSpPr/>
              <p:nvPr/>
            </p:nvSpPr>
            <p:spPr>
              <a:xfrm>
                <a:off x="1485900" y="3088184"/>
                <a:ext cx="301333" cy="99818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/>
                    </a:solidFill>
                    <a:latin typeface="ＭＳ 明朝" panose="02020609040205080304" pitchFamily="17" charset="-128"/>
                    <a:ea typeface="ＭＳ 明朝" panose="02020609040205080304" pitchFamily="17" charset="-128"/>
                  </a:rPr>
                  <a:t>0,0,1,1</a:t>
                </a:r>
                <a:endParaRPr kumimoji="1" lang="ja-JP" altLang="en-US" dirty="0">
                  <a:solidFill>
                    <a:schemeClr val="tx1"/>
                  </a:solidFill>
                  <a:latin typeface="ＭＳ 明朝" panose="02020609040205080304" pitchFamily="17" charset="-128"/>
                  <a:ea typeface="ＭＳ 明朝" panose="02020609040205080304" pitchFamily="17" charset="-128"/>
                </a:endParaRPr>
              </a:p>
            </p:txBody>
          </p:sp>
          <p:sp>
            <p:nvSpPr>
              <p:cNvPr id="27" name="正方形/長方形 26"/>
              <p:cNvSpPr/>
              <p:nvPr/>
            </p:nvSpPr>
            <p:spPr>
              <a:xfrm>
                <a:off x="1787233" y="3088184"/>
                <a:ext cx="301333" cy="99818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/>
                    </a:solidFill>
                    <a:latin typeface="ＭＳ 明朝" panose="02020609040205080304" pitchFamily="17" charset="-128"/>
                    <a:ea typeface="ＭＳ 明朝" panose="02020609040205080304" pitchFamily="17" charset="-128"/>
                  </a:rPr>
                  <a:t>1,-1,0</a:t>
                </a:r>
              </a:p>
            </p:txBody>
          </p:sp>
        </p:grpSp>
        <p:grpSp>
          <p:nvGrpSpPr>
            <p:cNvPr id="14" name="グループ化 13"/>
            <p:cNvGrpSpPr/>
            <p:nvPr/>
          </p:nvGrpSpPr>
          <p:grpSpPr>
            <a:xfrm>
              <a:off x="3891329" y="3088183"/>
              <a:ext cx="1807997" cy="998184"/>
              <a:chOff x="280569" y="3088183"/>
              <a:chExt cx="1807997" cy="998184"/>
            </a:xfrm>
            <a:grpFill/>
          </p:grpSpPr>
          <p:sp>
            <p:nvSpPr>
              <p:cNvPr id="16" name="正方形/長方形 15"/>
              <p:cNvSpPr/>
              <p:nvPr/>
            </p:nvSpPr>
            <p:spPr>
              <a:xfrm>
                <a:off x="280569" y="3088183"/>
                <a:ext cx="301333" cy="99818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/>
                    </a:solidFill>
                    <a:latin typeface="ＭＳ 明朝" panose="02020609040205080304" pitchFamily="17" charset="-128"/>
                    <a:ea typeface="ＭＳ 明朝" panose="02020609040205080304" pitchFamily="17" charset="-128"/>
                  </a:rPr>
                  <a:t>0,1,0,1</a:t>
                </a:r>
                <a:endParaRPr kumimoji="1" lang="ja-JP" altLang="en-US" dirty="0">
                  <a:solidFill>
                    <a:schemeClr val="tx1"/>
                  </a:solidFill>
                  <a:latin typeface="ＭＳ 明朝" panose="02020609040205080304" pitchFamily="17" charset="-128"/>
                  <a:ea typeface="ＭＳ 明朝" panose="02020609040205080304" pitchFamily="17" charset="-128"/>
                </a:endParaRPr>
              </a:p>
            </p:txBody>
          </p:sp>
          <p:sp>
            <p:nvSpPr>
              <p:cNvPr id="17" name="正方形/長方形 16"/>
              <p:cNvSpPr/>
              <p:nvPr/>
            </p:nvSpPr>
            <p:spPr>
              <a:xfrm>
                <a:off x="581902" y="3088183"/>
                <a:ext cx="301333" cy="99818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/>
                    </a:solidFill>
                    <a:latin typeface="ＭＳ 明朝" panose="02020609040205080304" pitchFamily="17" charset="-128"/>
                    <a:ea typeface="ＭＳ 明朝" panose="02020609040205080304" pitchFamily="17" charset="-128"/>
                  </a:rPr>
                  <a:t>-1,-1,0</a:t>
                </a:r>
                <a:endParaRPr kumimoji="1" lang="ja-JP" altLang="en-US" dirty="0">
                  <a:solidFill>
                    <a:schemeClr val="tx1"/>
                  </a:solidFill>
                  <a:latin typeface="ＭＳ 明朝" panose="02020609040205080304" pitchFamily="17" charset="-128"/>
                  <a:ea typeface="ＭＳ 明朝" panose="02020609040205080304" pitchFamily="17" charset="-128"/>
                </a:endParaRPr>
              </a:p>
            </p:txBody>
          </p:sp>
          <p:sp>
            <p:nvSpPr>
              <p:cNvPr id="18" name="正方形/長方形 17"/>
              <p:cNvSpPr/>
              <p:nvPr/>
            </p:nvSpPr>
            <p:spPr>
              <a:xfrm>
                <a:off x="883235" y="3088183"/>
                <a:ext cx="301333" cy="99818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/>
                    </a:solidFill>
                    <a:latin typeface="ＭＳ 明朝" panose="02020609040205080304" pitchFamily="17" charset="-128"/>
                    <a:ea typeface="ＭＳ 明朝" panose="02020609040205080304" pitchFamily="17" charset="-128"/>
                  </a:rPr>
                  <a:t>1,0,0,1</a:t>
                </a:r>
                <a:endParaRPr kumimoji="1" lang="ja-JP" altLang="en-US" dirty="0">
                  <a:solidFill>
                    <a:schemeClr val="tx1"/>
                  </a:solidFill>
                  <a:latin typeface="ＭＳ 明朝" panose="02020609040205080304" pitchFamily="17" charset="-128"/>
                  <a:ea typeface="ＭＳ 明朝" panose="02020609040205080304" pitchFamily="17" charset="-128"/>
                </a:endParaRPr>
              </a:p>
            </p:txBody>
          </p:sp>
          <p:sp>
            <p:nvSpPr>
              <p:cNvPr id="19" name="正方形/長方形 18"/>
              <p:cNvSpPr/>
              <p:nvPr/>
            </p:nvSpPr>
            <p:spPr>
              <a:xfrm>
                <a:off x="1184568" y="3088183"/>
                <a:ext cx="301333" cy="99818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/>
                    </a:solidFill>
                    <a:latin typeface="ＭＳ 明朝" panose="02020609040205080304" pitchFamily="17" charset="-128"/>
                    <a:ea typeface="ＭＳ 明朝" panose="02020609040205080304" pitchFamily="17" charset="-128"/>
                  </a:rPr>
                  <a:t>1,1,0</a:t>
                </a:r>
                <a:endParaRPr kumimoji="1" lang="ja-JP" altLang="en-US" dirty="0">
                  <a:solidFill>
                    <a:schemeClr val="tx1"/>
                  </a:solidFill>
                  <a:latin typeface="ＭＳ 明朝" panose="02020609040205080304" pitchFamily="17" charset="-128"/>
                  <a:ea typeface="ＭＳ 明朝" panose="02020609040205080304" pitchFamily="17" charset="-128"/>
                </a:endParaRPr>
              </a:p>
            </p:txBody>
          </p:sp>
          <p:sp>
            <p:nvSpPr>
              <p:cNvPr id="20" name="正方形/長方形 19"/>
              <p:cNvSpPr/>
              <p:nvPr/>
            </p:nvSpPr>
            <p:spPr>
              <a:xfrm>
                <a:off x="1485902" y="3088183"/>
                <a:ext cx="301333" cy="99818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/>
                    </a:solidFill>
                    <a:latin typeface="ＭＳ 明朝" panose="02020609040205080304" pitchFamily="17" charset="-128"/>
                    <a:ea typeface="ＭＳ 明朝" panose="02020609040205080304" pitchFamily="17" charset="-128"/>
                  </a:rPr>
                  <a:t>1,1,1,1</a:t>
                </a:r>
                <a:endParaRPr kumimoji="1" lang="ja-JP" altLang="en-US" dirty="0">
                  <a:solidFill>
                    <a:schemeClr val="tx1"/>
                  </a:solidFill>
                  <a:latin typeface="ＭＳ 明朝" panose="02020609040205080304" pitchFamily="17" charset="-128"/>
                  <a:ea typeface="ＭＳ 明朝" panose="02020609040205080304" pitchFamily="17" charset="-128"/>
                </a:endParaRPr>
              </a:p>
            </p:txBody>
          </p:sp>
          <p:sp>
            <p:nvSpPr>
              <p:cNvPr id="21" name="正方形/長方形 20"/>
              <p:cNvSpPr/>
              <p:nvPr/>
            </p:nvSpPr>
            <p:spPr>
              <a:xfrm>
                <a:off x="1787233" y="3088184"/>
                <a:ext cx="301333" cy="99818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/>
                    </a:solidFill>
                    <a:latin typeface="ＭＳ 明朝" panose="02020609040205080304" pitchFamily="17" charset="-128"/>
                    <a:ea typeface="ＭＳ 明朝" panose="02020609040205080304" pitchFamily="17" charset="-128"/>
                  </a:rPr>
                  <a:t>-1,1,0</a:t>
                </a:r>
                <a:endParaRPr kumimoji="1" lang="ja-JP" altLang="en-US" dirty="0">
                  <a:solidFill>
                    <a:schemeClr val="tx1"/>
                  </a:solidFill>
                  <a:latin typeface="ＭＳ 明朝" panose="02020609040205080304" pitchFamily="17" charset="-128"/>
                  <a:ea typeface="ＭＳ 明朝" panose="02020609040205080304" pitchFamily="17" charset="-128"/>
                </a:endParaRPr>
              </a:p>
            </p:txBody>
          </p:sp>
        </p:grpSp>
        <p:sp>
          <p:nvSpPr>
            <p:cNvPr id="15" name="テキスト ボックス 14"/>
            <p:cNvSpPr txBox="1"/>
            <p:nvPr/>
          </p:nvSpPr>
          <p:spPr>
            <a:xfrm>
              <a:off x="3371980" y="2746215"/>
              <a:ext cx="2242651" cy="307776"/>
            </a:xfrm>
            <a:prstGeom prst="rect">
              <a:avLst/>
            </a:prstGeom>
            <a:noFill/>
            <a:ln>
              <a:noFill/>
            </a:ln>
          </p:spPr>
          <p:txBody>
            <a:bodyPr vert="eaVert" wrap="square" rtlCol="0" anchor="ctr">
              <a:spAutoFit/>
            </a:bodyPr>
            <a:lstStyle/>
            <a:p>
              <a:pPr algn="ctr"/>
              <a:r>
                <a:rPr kumimoji="1" lang="ja-JP" altLang="en-US" sz="1600" b="1" dirty="0">
                  <a:latin typeface="ＭＳ 明朝" panose="02020609040205080304" pitchFamily="17" charset="-128"/>
                  <a:ea typeface="ＭＳ 明朝" panose="02020609040205080304" pitchFamily="17" charset="-128"/>
                </a:rPr>
                <a:t>頂点バッファ</a:t>
              </a:r>
            </a:p>
          </p:txBody>
        </p:sp>
      </p:grpSp>
      <p:grpSp>
        <p:nvGrpSpPr>
          <p:cNvPr id="35" name="グループ化 34"/>
          <p:cNvGrpSpPr/>
          <p:nvPr/>
        </p:nvGrpSpPr>
        <p:grpSpPr>
          <a:xfrm>
            <a:off x="6496068" y="4825155"/>
            <a:ext cx="1600803" cy="1311999"/>
            <a:chOff x="1362489" y="4056852"/>
            <a:chExt cx="1277983" cy="811171"/>
          </a:xfrm>
        </p:grpSpPr>
        <p:sp>
          <p:nvSpPr>
            <p:cNvPr id="36" name="正方形/長方形 35"/>
            <p:cNvSpPr/>
            <p:nvPr/>
          </p:nvSpPr>
          <p:spPr>
            <a:xfrm>
              <a:off x="1362489" y="4056852"/>
              <a:ext cx="445254" cy="81117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kumimoji="1" lang="ja-JP" altLang="en-US" dirty="0" smtClean="0">
                  <a:solidFill>
                    <a:schemeClr val="tx1"/>
                  </a:solidFill>
                  <a:latin typeface="ＭＳ 明朝" panose="02020609040205080304" pitchFamily="17" charset="-128"/>
                  <a:ea typeface="ＭＳ 明朝" panose="02020609040205080304" pitchFamily="17" charset="-128"/>
                </a:rPr>
                <a:t>入力</a:t>
              </a:r>
              <a:endParaRPr kumimoji="1" lang="en-US" altLang="ja-JP" dirty="0" smtClean="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endParaRPr>
            </a:p>
            <a:p>
              <a:pPr algn="ctr"/>
              <a:r>
                <a:rPr kumimoji="1" lang="ja-JP" altLang="en-US" dirty="0" smtClean="0">
                  <a:solidFill>
                    <a:schemeClr val="tx1"/>
                  </a:solidFill>
                  <a:latin typeface="ＭＳ 明朝" panose="02020609040205080304" pitchFamily="17" charset="-128"/>
                  <a:ea typeface="ＭＳ 明朝" panose="02020609040205080304" pitchFamily="17" charset="-128"/>
                </a:rPr>
                <a:t>レイアウト</a:t>
              </a:r>
              <a:endParaRPr kumimoji="1" lang="ja-JP" altLang="en-US" dirty="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endParaRPr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1807743" y="4056852"/>
              <a:ext cx="832729" cy="41794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  <a:latin typeface="ＭＳ 明朝" panose="02020609040205080304" pitchFamily="17" charset="-128"/>
                  <a:ea typeface="ＭＳ 明朝" panose="02020609040205080304" pitchFamily="17" charset="-128"/>
                </a:rPr>
                <a:t>座標</a:t>
              </a:r>
            </a:p>
          </p:txBody>
        </p:sp>
        <p:sp>
          <p:nvSpPr>
            <p:cNvPr id="38" name="正方形/長方形 37"/>
            <p:cNvSpPr/>
            <p:nvPr/>
          </p:nvSpPr>
          <p:spPr>
            <a:xfrm>
              <a:off x="1807743" y="4474795"/>
              <a:ext cx="832729" cy="39322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  <a:latin typeface="ＭＳ 明朝" panose="02020609040205080304" pitchFamily="17" charset="-128"/>
                  <a:ea typeface="ＭＳ 明朝" panose="02020609040205080304" pitchFamily="17" charset="-128"/>
                </a:rPr>
                <a:t>色</a:t>
              </a:r>
            </a:p>
          </p:txBody>
        </p:sp>
      </p:grpSp>
      <p:sp>
        <p:nvSpPr>
          <p:cNvPr id="42" name="角丸四角形 41"/>
          <p:cNvSpPr/>
          <p:nvPr/>
        </p:nvSpPr>
        <p:spPr>
          <a:xfrm rot="16200000">
            <a:off x="7459426" y="4063959"/>
            <a:ext cx="3239612" cy="90677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2400" dirty="0" smtClean="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Ｇ</a:t>
            </a:r>
            <a:endParaRPr kumimoji="1" lang="en-US" altLang="ja-JP" sz="2400" dirty="0" smtClean="0">
              <a:solidFill>
                <a:schemeClr val="tx1"/>
              </a:solidFill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algn="ctr"/>
            <a:r>
              <a:rPr kumimoji="1" lang="ja-JP" altLang="en-US" sz="2400" dirty="0" smtClean="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Ｐ</a:t>
            </a:r>
            <a:endParaRPr kumimoji="1" lang="en-US" altLang="ja-JP" sz="2400" dirty="0" smtClean="0">
              <a:solidFill>
                <a:schemeClr val="tx1"/>
              </a:solidFill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algn="ctr"/>
            <a:r>
              <a:rPr kumimoji="1" lang="ja-JP" altLang="en-US" sz="2400" dirty="0" smtClean="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Ｕ　　</a:t>
            </a:r>
            <a:endParaRPr kumimoji="1" lang="ja-JP" altLang="en-US" sz="2400" dirty="0">
              <a:solidFill>
                <a:schemeClr val="tx1"/>
              </a:solidFill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sp>
        <p:nvSpPr>
          <p:cNvPr id="44" name="右矢印 43"/>
          <p:cNvSpPr/>
          <p:nvPr/>
        </p:nvSpPr>
        <p:spPr>
          <a:xfrm>
            <a:off x="9582599" y="3976873"/>
            <a:ext cx="438571" cy="926063"/>
          </a:xfrm>
          <a:prstGeom prst="rightArrow">
            <a:avLst>
              <a:gd name="adj1" fmla="val 45351"/>
              <a:gd name="adj2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1" name="右矢印 40"/>
          <p:cNvSpPr/>
          <p:nvPr/>
        </p:nvSpPr>
        <p:spPr>
          <a:xfrm>
            <a:off x="8119427" y="3357841"/>
            <a:ext cx="448303" cy="926063"/>
          </a:xfrm>
          <a:prstGeom prst="rightArrow">
            <a:avLst>
              <a:gd name="adj1" fmla="val 45351"/>
              <a:gd name="adj2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2" name="右矢印 61"/>
          <p:cNvSpPr/>
          <p:nvPr/>
        </p:nvSpPr>
        <p:spPr>
          <a:xfrm>
            <a:off x="8112530" y="5073702"/>
            <a:ext cx="448303" cy="926063"/>
          </a:xfrm>
          <a:prstGeom prst="rightArrow">
            <a:avLst>
              <a:gd name="adj1" fmla="val 45351"/>
              <a:gd name="adj2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64" name="グループ化 63"/>
          <p:cNvGrpSpPr/>
          <p:nvPr/>
        </p:nvGrpSpPr>
        <p:grpSpPr>
          <a:xfrm rot="16200000">
            <a:off x="10035488" y="3704674"/>
            <a:ext cx="1782625" cy="1608068"/>
            <a:chOff x="3293899" y="2739829"/>
            <a:chExt cx="2405429" cy="1333406"/>
          </a:xfrm>
        </p:grpSpPr>
        <p:sp>
          <p:nvSpPr>
            <p:cNvPr id="65" name="正方形/長方形 64"/>
            <p:cNvSpPr/>
            <p:nvPr/>
          </p:nvSpPr>
          <p:spPr>
            <a:xfrm>
              <a:off x="3293899" y="2739829"/>
              <a:ext cx="2405429" cy="133340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ja-JP" altLang="en-US" dirty="0">
                <a:latin typeface="ＭＳ 明朝" panose="02020609040205080304" pitchFamily="17" charset="-128"/>
                <a:ea typeface="ＭＳ 明朝" panose="02020609040205080304" pitchFamily="17" charset="-128"/>
              </a:endParaRPr>
            </a:p>
          </p:txBody>
        </p:sp>
        <p:grpSp>
          <p:nvGrpSpPr>
            <p:cNvPr id="66" name="グループ化 65"/>
            <p:cNvGrpSpPr/>
            <p:nvPr/>
          </p:nvGrpSpPr>
          <p:grpSpPr>
            <a:xfrm>
              <a:off x="3293899" y="3075052"/>
              <a:ext cx="602666" cy="998183"/>
              <a:chOff x="1485901" y="3075052"/>
              <a:chExt cx="602666" cy="998183"/>
            </a:xfrm>
          </p:grpSpPr>
          <p:sp>
            <p:nvSpPr>
              <p:cNvPr id="75" name="正方形/長方形 74"/>
              <p:cNvSpPr/>
              <p:nvPr/>
            </p:nvSpPr>
            <p:spPr>
              <a:xfrm>
                <a:off x="1485901" y="3075052"/>
                <a:ext cx="301333" cy="99818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>
                        <a:alpha val="18000"/>
                      </a:schemeClr>
                    </a:solidFill>
                    <a:latin typeface="ＭＳ 明朝" panose="02020609040205080304" pitchFamily="17" charset="-128"/>
                    <a:ea typeface="ＭＳ 明朝" panose="02020609040205080304" pitchFamily="17" charset="-128"/>
                  </a:rPr>
                  <a:t>0,0,1,1</a:t>
                </a:r>
                <a:endParaRPr kumimoji="1" lang="ja-JP" altLang="en-US" dirty="0">
                  <a:solidFill>
                    <a:schemeClr val="tx1">
                      <a:alpha val="18000"/>
                    </a:schemeClr>
                  </a:solidFill>
                  <a:latin typeface="ＭＳ 明朝" panose="02020609040205080304" pitchFamily="17" charset="-128"/>
                  <a:ea typeface="ＭＳ 明朝" panose="02020609040205080304" pitchFamily="17" charset="-128"/>
                </a:endParaRPr>
              </a:p>
            </p:txBody>
          </p:sp>
          <p:sp>
            <p:nvSpPr>
              <p:cNvPr id="76" name="正方形/長方形 75"/>
              <p:cNvSpPr/>
              <p:nvPr/>
            </p:nvSpPr>
            <p:spPr>
              <a:xfrm>
                <a:off x="1787234" y="3075052"/>
                <a:ext cx="301333" cy="99818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>
                        <a:alpha val="18000"/>
                      </a:schemeClr>
                    </a:solidFill>
                    <a:latin typeface="ＭＳ 明朝" panose="02020609040205080304" pitchFamily="17" charset="-128"/>
                    <a:ea typeface="ＭＳ 明朝" panose="02020609040205080304" pitchFamily="17" charset="-128"/>
                  </a:rPr>
                  <a:t>1,-1,0</a:t>
                </a:r>
              </a:p>
            </p:txBody>
          </p:sp>
        </p:grpSp>
        <p:grpSp>
          <p:nvGrpSpPr>
            <p:cNvPr id="67" name="グループ化 66"/>
            <p:cNvGrpSpPr/>
            <p:nvPr/>
          </p:nvGrpSpPr>
          <p:grpSpPr>
            <a:xfrm>
              <a:off x="3891329" y="3075052"/>
              <a:ext cx="1807998" cy="998183"/>
              <a:chOff x="280569" y="3075052"/>
              <a:chExt cx="1807998" cy="998183"/>
            </a:xfrm>
          </p:grpSpPr>
          <p:sp>
            <p:nvSpPr>
              <p:cNvPr id="69" name="正方形/長方形 68"/>
              <p:cNvSpPr/>
              <p:nvPr/>
            </p:nvSpPr>
            <p:spPr>
              <a:xfrm>
                <a:off x="280569" y="3075052"/>
                <a:ext cx="301333" cy="99818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>
                        <a:alpha val="18000"/>
                      </a:schemeClr>
                    </a:solidFill>
                    <a:latin typeface="ＭＳ 明朝" panose="02020609040205080304" pitchFamily="17" charset="-128"/>
                    <a:ea typeface="ＭＳ 明朝" panose="02020609040205080304" pitchFamily="17" charset="-128"/>
                  </a:rPr>
                  <a:t>0,1,0,1</a:t>
                </a:r>
                <a:endParaRPr kumimoji="1" lang="ja-JP" altLang="en-US" dirty="0">
                  <a:solidFill>
                    <a:schemeClr val="tx1">
                      <a:alpha val="18000"/>
                    </a:schemeClr>
                  </a:solidFill>
                  <a:latin typeface="ＭＳ 明朝" panose="02020609040205080304" pitchFamily="17" charset="-128"/>
                  <a:ea typeface="ＭＳ 明朝" panose="02020609040205080304" pitchFamily="17" charset="-128"/>
                </a:endParaRPr>
              </a:p>
            </p:txBody>
          </p:sp>
          <p:sp>
            <p:nvSpPr>
              <p:cNvPr id="70" name="正方形/長方形 69"/>
              <p:cNvSpPr/>
              <p:nvPr/>
            </p:nvSpPr>
            <p:spPr>
              <a:xfrm>
                <a:off x="581902" y="3075052"/>
                <a:ext cx="301333" cy="99818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>
                        <a:alpha val="18000"/>
                      </a:schemeClr>
                    </a:solidFill>
                    <a:latin typeface="ＭＳ 明朝" panose="02020609040205080304" pitchFamily="17" charset="-128"/>
                    <a:ea typeface="ＭＳ 明朝" panose="02020609040205080304" pitchFamily="17" charset="-128"/>
                  </a:rPr>
                  <a:t>-1,-1,0</a:t>
                </a:r>
                <a:endParaRPr kumimoji="1" lang="ja-JP" altLang="en-US" dirty="0">
                  <a:solidFill>
                    <a:schemeClr val="tx1">
                      <a:alpha val="18000"/>
                    </a:schemeClr>
                  </a:solidFill>
                  <a:latin typeface="ＭＳ 明朝" panose="02020609040205080304" pitchFamily="17" charset="-128"/>
                  <a:ea typeface="ＭＳ 明朝" panose="02020609040205080304" pitchFamily="17" charset="-128"/>
                </a:endParaRPr>
              </a:p>
            </p:txBody>
          </p:sp>
          <p:sp>
            <p:nvSpPr>
              <p:cNvPr id="71" name="正方形/長方形 70"/>
              <p:cNvSpPr/>
              <p:nvPr/>
            </p:nvSpPr>
            <p:spPr>
              <a:xfrm>
                <a:off x="883235" y="3075052"/>
                <a:ext cx="301333" cy="99818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>
                        <a:alpha val="18000"/>
                      </a:schemeClr>
                    </a:solidFill>
                    <a:latin typeface="ＭＳ 明朝" panose="02020609040205080304" pitchFamily="17" charset="-128"/>
                    <a:ea typeface="ＭＳ 明朝" panose="02020609040205080304" pitchFamily="17" charset="-128"/>
                  </a:rPr>
                  <a:t>1,0,0,1</a:t>
                </a:r>
                <a:endParaRPr kumimoji="1" lang="ja-JP" altLang="en-US" dirty="0">
                  <a:solidFill>
                    <a:schemeClr val="tx1">
                      <a:alpha val="18000"/>
                    </a:schemeClr>
                  </a:solidFill>
                  <a:latin typeface="ＭＳ 明朝" panose="02020609040205080304" pitchFamily="17" charset="-128"/>
                  <a:ea typeface="ＭＳ 明朝" panose="02020609040205080304" pitchFamily="17" charset="-128"/>
                </a:endParaRPr>
              </a:p>
            </p:txBody>
          </p:sp>
          <p:sp>
            <p:nvSpPr>
              <p:cNvPr id="72" name="正方形/長方形 71"/>
              <p:cNvSpPr/>
              <p:nvPr/>
            </p:nvSpPr>
            <p:spPr>
              <a:xfrm>
                <a:off x="1184568" y="3075052"/>
                <a:ext cx="301333" cy="99818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>
                        <a:alpha val="18000"/>
                      </a:schemeClr>
                    </a:solidFill>
                    <a:latin typeface="ＭＳ 明朝" panose="02020609040205080304" pitchFamily="17" charset="-128"/>
                    <a:ea typeface="ＭＳ 明朝" panose="02020609040205080304" pitchFamily="17" charset="-128"/>
                  </a:rPr>
                  <a:t>1,1,0</a:t>
                </a:r>
                <a:endParaRPr kumimoji="1" lang="ja-JP" altLang="en-US" dirty="0">
                  <a:solidFill>
                    <a:schemeClr val="tx1">
                      <a:alpha val="18000"/>
                    </a:schemeClr>
                  </a:solidFill>
                  <a:latin typeface="ＭＳ 明朝" panose="02020609040205080304" pitchFamily="17" charset="-128"/>
                  <a:ea typeface="ＭＳ 明朝" panose="02020609040205080304" pitchFamily="17" charset="-128"/>
                </a:endParaRPr>
              </a:p>
            </p:txBody>
          </p:sp>
          <p:sp>
            <p:nvSpPr>
              <p:cNvPr id="73" name="正方形/長方形 72"/>
              <p:cNvSpPr/>
              <p:nvPr/>
            </p:nvSpPr>
            <p:spPr>
              <a:xfrm>
                <a:off x="1485901" y="3075052"/>
                <a:ext cx="301333" cy="99818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>
                        <a:alpha val="18000"/>
                      </a:schemeClr>
                    </a:solidFill>
                    <a:latin typeface="ＭＳ 明朝" panose="02020609040205080304" pitchFamily="17" charset="-128"/>
                    <a:ea typeface="ＭＳ 明朝" panose="02020609040205080304" pitchFamily="17" charset="-128"/>
                  </a:rPr>
                  <a:t>1,1,1,1</a:t>
                </a:r>
                <a:endParaRPr kumimoji="1" lang="ja-JP" altLang="en-US" dirty="0">
                  <a:solidFill>
                    <a:schemeClr val="tx1">
                      <a:alpha val="18000"/>
                    </a:schemeClr>
                  </a:solidFill>
                  <a:latin typeface="ＭＳ 明朝" panose="02020609040205080304" pitchFamily="17" charset="-128"/>
                  <a:ea typeface="ＭＳ 明朝" panose="02020609040205080304" pitchFamily="17" charset="-128"/>
                </a:endParaRPr>
              </a:p>
            </p:txBody>
          </p:sp>
          <p:sp>
            <p:nvSpPr>
              <p:cNvPr id="74" name="正方形/長方形 73"/>
              <p:cNvSpPr/>
              <p:nvPr/>
            </p:nvSpPr>
            <p:spPr>
              <a:xfrm>
                <a:off x="1787234" y="3075052"/>
                <a:ext cx="301333" cy="99818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kumimoji="1" lang="en-US" altLang="ja-JP" dirty="0" smtClean="0">
                    <a:solidFill>
                      <a:schemeClr val="tx1">
                        <a:alpha val="18000"/>
                      </a:schemeClr>
                    </a:solidFill>
                    <a:latin typeface="ＭＳ 明朝" panose="02020609040205080304" pitchFamily="17" charset="-128"/>
                    <a:ea typeface="ＭＳ 明朝" panose="02020609040205080304" pitchFamily="17" charset="-128"/>
                  </a:rPr>
                  <a:t>-1,1,0</a:t>
                </a:r>
                <a:endParaRPr kumimoji="1" lang="ja-JP" altLang="en-US" dirty="0">
                  <a:solidFill>
                    <a:schemeClr val="tx1">
                      <a:alpha val="18000"/>
                    </a:schemeClr>
                  </a:solidFill>
                  <a:latin typeface="ＭＳ 明朝" panose="02020609040205080304" pitchFamily="17" charset="-128"/>
                  <a:ea typeface="ＭＳ 明朝" panose="02020609040205080304" pitchFamily="17" charset="-128"/>
                </a:endParaRPr>
              </a:p>
            </p:txBody>
          </p:sp>
        </p:grpSp>
      </p:grpSp>
      <p:sp>
        <p:nvSpPr>
          <p:cNvPr id="86" name="正方形/長方形 85"/>
          <p:cNvSpPr/>
          <p:nvPr/>
        </p:nvSpPr>
        <p:spPr>
          <a:xfrm rot="16200000">
            <a:off x="10993013" y="4686467"/>
            <a:ext cx="223313" cy="1203794"/>
          </a:xfrm>
          <a:prstGeom prst="rect">
            <a:avLst/>
          </a:pr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色</a:t>
            </a:r>
          </a:p>
        </p:txBody>
      </p:sp>
      <p:sp>
        <p:nvSpPr>
          <p:cNvPr id="87" name="正方形/長方形 86"/>
          <p:cNvSpPr/>
          <p:nvPr/>
        </p:nvSpPr>
        <p:spPr>
          <a:xfrm rot="16200000">
            <a:off x="10993013" y="4463154"/>
            <a:ext cx="223313" cy="1203794"/>
          </a:xfrm>
          <a:prstGeom prst="rect">
            <a:avLst/>
          </a:pr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座標</a:t>
            </a:r>
          </a:p>
        </p:txBody>
      </p:sp>
      <p:sp>
        <p:nvSpPr>
          <p:cNvPr id="88" name="正方形/長方形 87"/>
          <p:cNvSpPr/>
          <p:nvPr/>
        </p:nvSpPr>
        <p:spPr>
          <a:xfrm rot="16200000">
            <a:off x="10993013" y="4239841"/>
            <a:ext cx="223313" cy="1203794"/>
          </a:xfrm>
          <a:prstGeom prst="rect">
            <a:avLst/>
          </a:pr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色</a:t>
            </a:r>
          </a:p>
        </p:txBody>
      </p:sp>
      <p:sp>
        <p:nvSpPr>
          <p:cNvPr id="89" name="正方形/長方形 88"/>
          <p:cNvSpPr/>
          <p:nvPr/>
        </p:nvSpPr>
        <p:spPr>
          <a:xfrm rot="16200000">
            <a:off x="10993013" y="4020408"/>
            <a:ext cx="223313" cy="1203794"/>
          </a:xfrm>
          <a:prstGeom prst="rect">
            <a:avLst/>
          </a:pr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座標</a:t>
            </a:r>
          </a:p>
        </p:txBody>
      </p:sp>
      <p:sp>
        <p:nvSpPr>
          <p:cNvPr id="90" name="正方形/長方形 89"/>
          <p:cNvSpPr/>
          <p:nvPr/>
        </p:nvSpPr>
        <p:spPr>
          <a:xfrm rot="16200000">
            <a:off x="10993013" y="3797095"/>
            <a:ext cx="223313" cy="1203794"/>
          </a:xfrm>
          <a:prstGeom prst="rect">
            <a:avLst/>
          </a:pr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色</a:t>
            </a:r>
          </a:p>
        </p:txBody>
      </p:sp>
      <p:sp>
        <p:nvSpPr>
          <p:cNvPr id="91" name="正方形/長方形 90"/>
          <p:cNvSpPr/>
          <p:nvPr/>
        </p:nvSpPr>
        <p:spPr>
          <a:xfrm rot="16200000">
            <a:off x="10993013" y="3573782"/>
            <a:ext cx="223313" cy="1203794"/>
          </a:xfrm>
          <a:prstGeom prst="rect">
            <a:avLst/>
          </a:pr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座標</a:t>
            </a:r>
          </a:p>
        </p:txBody>
      </p:sp>
      <p:sp>
        <p:nvSpPr>
          <p:cNvPr id="92" name="正方形/長方形 91"/>
          <p:cNvSpPr/>
          <p:nvPr/>
        </p:nvSpPr>
        <p:spPr>
          <a:xfrm rot="16200000">
            <a:off x="10993013" y="3350469"/>
            <a:ext cx="223313" cy="1203794"/>
          </a:xfrm>
          <a:prstGeom prst="rect">
            <a:avLst/>
          </a:pr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色</a:t>
            </a:r>
          </a:p>
        </p:txBody>
      </p:sp>
      <p:sp>
        <p:nvSpPr>
          <p:cNvPr id="93" name="正方形/長方形 92"/>
          <p:cNvSpPr/>
          <p:nvPr/>
        </p:nvSpPr>
        <p:spPr>
          <a:xfrm rot="16200000">
            <a:off x="10993013" y="3127156"/>
            <a:ext cx="223313" cy="1203794"/>
          </a:xfrm>
          <a:prstGeom prst="rect">
            <a:avLst/>
          </a:pr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2000" b="1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座標</a:t>
            </a:r>
          </a:p>
        </p:txBody>
      </p:sp>
      <p:sp>
        <p:nvSpPr>
          <p:cNvPr id="94" name="テキスト ボックス 93"/>
          <p:cNvSpPr txBox="1"/>
          <p:nvPr/>
        </p:nvSpPr>
        <p:spPr>
          <a:xfrm rot="16200000">
            <a:off x="9459659" y="4305228"/>
            <a:ext cx="1661993" cy="371173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 anchor="ctr">
            <a:spAutoFit/>
          </a:bodyPr>
          <a:lstStyle/>
          <a:p>
            <a:pPr algn="ctr"/>
            <a:r>
              <a:rPr kumimoji="1" lang="ja-JP" altLang="en-US" sz="1600" b="1" dirty="0">
                <a:latin typeface="ＭＳ 明朝" panose="02020609040205080304" pitchFamily="17" charset="-128"/>
                <a:ea typeface="ＭＳ 明朝" panose="02020609040205080304" pitchFamily="17" charset="-128"/>
              </a:rPr>
              <a:t>頂点バッファ</a:t>
            </a:r>
          </a:p>
        </p:txBody>
      </p:sp>
      <p:sp>
        <p:nvSpPr>
          <p:cNvPr id="49" name="円形吹き出し 48"/>
          <p:cNvSpPr/>
          <p:nvPr/>
        </p:nvSpPr>
        <p:spPr>
          <a:xfrm>
            <a:off x="8209151" y="1116096"/>
            <a:ext cx="3869564" cy="1368217"/>
          </a:xfrm>
          <a:prstGeom prst="wedgeEllipseCallout">
            <a:avLst>
              <a:gd name="adj1" fmla="val -21615"/>
              <a:gd name="adj2" fmla="val 101434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頂点バッファがどういう構造なのか分かりました。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86365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入力</a:t>
            </a:r>
            <a:r>
              <a:rPr lang="ja-JP" altLang="en-US" dirty="0"/>
              <a:t>レイアウト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CPU</a:t>
            </a:r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 smtClean="0"/>
          </a:p>
          <a:p>
            <a:r>
              <a:rPr lang="en-US" altLang="ja-JP" dirty="0" smtClean="0"/>
              <a:t>GPU</a:t>
            </a:r>
          </a:p>
          <a:p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83" y="2480867"/>
            <a:ext cx="11576234" cy="1257755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681" y="4284009"/>
            <a:ext cx="3706905" cy="2383009"/>
          </a:xfrm>
          <a:prstGeom prst="rect">
            <a:avLst/>
          </a:prstGeom>
        </p:spPr>
      </p:pic>
      <p:sp>
        <p:nvSpPr>
          <p:cNvPr id="26" name="右矢印 25"/>
          <p:cNvSpPr/>
          <p:nvPr/>
        </p:nvSpPr>
        <p:spPr>
          <a:xfrm rot="2867685">
            <a:off x="1341429" y="3723943"/>
            <a:ext cx="977651" cy="427503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699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入力レイアウト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ja-JP" dirty="0" smtClean="0"/>
          </a:p>
          <a:p>
            <a:endParaRPr lang="en-US" altLang="ja-JP" dirty="0"/>
          </a:p>
          <a:p>
            <a:endParaRPr lang="en-US" altLang="ja-JP" dirty="0" smtClean="0"/>
          </a:p>
          <a:p>
            <a:endParaRPr lang="en-US" altLang="ja-JP" dirty="0"/>
          </a:p>
          <a:p>
            <a:r>
              <a:rPr lang="ja-JP" altLang="en-US" dirty="0" smtClean="0"/>
              <a:t>頂点</a:t>
            </a:r>
            <a:r>
              <a:rPr lang="ja-JP" altLang="en-US" dirty="0"/>
              <a:t>バッファに格納する頂点データの構造を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/>
              <a:t>頂点シェーダーで使えるようにする。</a:t>
            </a:r>
            <a:endParaRPr lang="en-US" altLang="ja-JP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832" y="3241065"/>
            <a:ext cx="3726981" cy="3124805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916" y="2089410"/>
            <a:ext cx="9863574" cy="10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411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dirty="0" smtClean="0"/>
              <a:t>頂点シェーダー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ja-JP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HLSL</a:t>
            </a:r>
            <a:r>
              <a:rPr lang="ja-JP" altLang="en-US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というシェーダー言語でプログラムを書き、</a:t>
            </a:r>
            <a:r>
              <a:rPr lang="en-US" altLang="ja-JP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/>
            </a:r>
            <a:br>
              <a:rPr lang="en-US" altLang="ja-JP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</a:br>
            <a:r>
              <a:rPr lang="en-US" altLang="ja-JP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GPU</a:t>
            </a:r>
            <a:r>
              <a:rPr lang="ja-JP" altLang="en-US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で頂点データを加工する。</a:t>
            </a:r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endParaRPr lang="en-US" altLang="ja-JP" dirty="0" smtClean="0"/>
          </a:p>
          <a:p>
            <a:pPr rtl="0"/>
            <a:r>
              <a:rPr lang="ja-JP" altLang="en-US" dirty="0" smtClean="0"/>
              <a:t>頂点座標の</a:t>
            </a:r>
            <a:r>
              <a:rPr lang="en-US" altLang="ja-JP" dirty="0" smtClean="0"/>
              <a:t>NDC</a:t>
            </a:r>
            <a:r>
              <a:rPr lang="ja-JP" altLang="en-US" dirty="0" smtClean="0"/>
              <a:t>座標変換や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ライティング計算などを行う。</a:t>
            </a:r>
            <a:endParaRPr lang="en-US" altLang="ja-JP" dirty="0" smtClean="0"/>
          </a:p>
          <a:p>
            <a:pPr rtl="0"/>
            <a:endParaRPr lang="en-US" altLang="ja-JP" dirty="0"/>
          </a:p>
          <a:p>
            <a:pPr rtl="0"/>
            <a:r>
              <a:rPr lang="ja-JP" altLang="en-US" dirty="0" smtClean="0"/>
              <a:t>計算結果を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ピクセルシェーダーに渡す。</a:t>
            </a:r>
            <a:endParaRPr lang="en-US" altLang="ja-JP" dirty="0" smtClean="0"/>
          </a:p>
          <a:p>
            <a:pPr marL="0" indent="0" rtl="0">
              <a:buNone/>
            </a:pPr>
            <a:endParaRPr lang="en-US" altLang="ja-JP" dirty="0" smtClean="0"/>
          </a:p>
          <a:p>
            <a:pPr marL="0" indent="0" rtl="0">
              <a:buNone/>
            </a:pPr>
            <a:endParaRPr lang="en-US" altLang="ja-JP" dirty="0" smtClean="0"/>
          </a:p>
          <a:p>
            <a:pPr rtl="0"/>
            <a:endParaRPr lang="en-US" altLang="ja-JP" dirty="0" smtClean="0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255" y="2598583"/>
            <a:ext cx="6515745" cy="376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00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ja-JP" altLang="en-US" dirty="0" smtClean="0"/>
              <a:t>ラスタライズ</a:t>
            </a:r>
            <a:endParaRPr lang="ja-JP" altLang="en-US" dirty="0"/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ja-JP" altLang="en-US" dirty="0" smtClean="0"/>
              <a:t>ピクセルシェーダーに行く前にポリゴンのピクセル化す</a:t>
            </a:r>
            <a:r>
              <a:rPr lang="ja-JP" altLang="en-US" dirty="0"/>
              <a:t>る</a:t>
            </a:r>
            <a:r>
              <a:rPr lang="ja-JP" altLang="en-US" dirty="0" smtClean="0"/>
              <a:t>方法を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設定します。→ </a:t>
            </a:r>
            <a:r>
              <a:rPr lang="en-US" altLang="ja-JP" dirty="0" smtClean="0"/>
              <a:t>ID3D11RasterizerState</a:t>
            </a:r>
          </a:p>
          <a:p>
            <a:pPr rtl="0"/>
            <a:r>
              <a:rPr lang="ja-JP" altLang="en-US" dirty="0" smtClean="0"/>
              <a:t>ポリゴン面を塗りつぶす、ポリゴン枠だけ塗りつぶす、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裏面は表示しない、両面表示するなど。</a:t>
            </a:r>
            <a:endParaRPr lang="ja-JP" altLang="en-US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199" y="3848577"/>
            <a:ext cx="8782789" cy="299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45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ja-JP" altLang="en-US" dirty="0" smtClean="0"/>
              <a:t>ピクセル</a:t>
            </a:r>
            <a:r>
              <a:rPr lang="ja-JP" altLang="en-US" dirty="0"/>
              <a:t>シェーダ</a:t>
            </a:r>
            <a:r>
              <a:rPr lang="ja-JP" altLang="en-US" dirty="0" smtClean="0"/>
              <a:t>ー</a:t>
            </a:r>
            <a:endParaRPr lang="ja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ja-JP" altLang="en-US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頂点シェーダーから送られてきたデータを元にピクセルに表示する色を決定する。</a:t>
            </a:r>
            <a:r>
              <a:rPr lang="en-US" altLang="ja-JP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/>
            </a:r>
            <a:br>
              <a:rPr lang="en-US" altLang="ja-JP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</a:br>
            <a:r>
              <a:rPr lang="en-US" altLang="ja-JP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※</a:t>
            </a:r>
            <a:r>
              <a:rPr lang="ja-JP" altLang="en-US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ここでは頂点の色をそのまま画面に表示していが、テクスチャの色</a:t>
            </a:r>
            <a:r>
              <a:rPr lang="en-US" altLang="ja-JP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/>
            </a:r>
            <a:br>
              <a:rPr lang="en-US" altLang="ja-JP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</a:br>
            <a:r>
              <a:rPr lang="ja-JP" altLang="en-US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　を取り出して加工したりもする。</a:t>
            </a:r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0" indent="0" rtl="0">
              <a:buNone/>
            </a:pPr>
            <a:r>
              <a:rPr lang="en-US" altLang="ja-JP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/>
            </a:r>
            <a:br>
              <a:rPr lang="en-US" altLang="ja-JP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</a:br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endParaRPr lang="en-US" dirty="0"/>
          </a:p>
          <a:p>
            <a:pPr rtl="0"/>
            <a:endParaRPr lang="en-US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532" y="3443620"/>
            <a:ext cx="4876868" cy="3310207"/>
          </a:xfrm>
          <a:prstGeom prst="rect">
            <a:avLst/>
          </a:prstGeom>
        </p:spPr>
      </p:pic>
      <p:pic>
        <p:nvPicPr>
          <p:cNvPr id="3074" name="Picture 2" descr="ãtriangleãã®ç»åæ¤ç´¢çµæ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390" y="3877533"/>
            <a:ext cx="2846165" cy="2489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4880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dirty="0" smtClean="0"/>
              <a:t>実習</a:t>
            </a:r>
            <a:r>
              <a:rPr lang="ja-JP" altLang="en-US" dirty="0"/>
              <a:t>内容</a:t>
            </a:r>
            <a:endParaRPr lang="ja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r>
              <a:rPr lang="ja-JP" altLang="en-US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頂点バッファを作成し、スプライト頂点データを格納する。</a:t>
            </a:r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endParaRPr lang="en-US" altLang="ja-JP" dirty="0"/>
          </a:p>
          <a:p>
            <a:r>
              <a:rPr lang="ja-JP" altLang="en-US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シェーダープログラム</a:t>
            </a:r>
            <a:r>
              <a:rPr lang="en-US" altLang="ja-JP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(HLSL)</a:t>
            </a:r>
            <a:r>
              <a:rPr lang="ja-JP" altLang="en-US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を書き、シェーダーを作成する。</a:t>
            </a:r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endParaRPr lang="en-US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r>
              <a:rPr lang="ja-JP" altLang="en-US" dirty="0" smtClean="0"/>
              <a:t>スプライト</a:t>
            </a:r>
            <a:r>
              <a:rPr lang="ja-JP" altLang="en-US" smtClean="0"/>
              <a:t>を描画し、画面に表示する。</a:t>
            </a:r>
            <a:endParaRPr lang="en-US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2606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ブレーンストーミングのプレゼンテーション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5870482_TF03460637.potx" id="{8F3B156D-932A-4C4F-B19B-13DA9C7AB513}" vid="{CAF0C7A8-6467-402F-B5CC-E460ADA54AEF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ビジネス ブレーンストーミング プレゼンテーション</Template>
  <TotalTime>872</TotalTime>
  <Words>535</Words>
  <Application>Microsoft Office PowerPoint</Application>
  <PresentationFormat>ワイド画面</PresentationFormat>
  <Paragraphs>210</Paragraphs>
  <Slides>21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7" baseType="lpstr">
      <vt:lpstr>Meiryo UI</vt:lpstr>
      <vt:lpstr>ＭＳ ゴシック</vt:lpstr>
      <vt:lpstr>ＭＳ 明朝</vt:lpstr>
      <vt:lpstr>Palatino Linotype</vt:lpstr>
      <vt:lpstr>Wingdings 2</vt:lpstr>
      <vt:lpstr>ブレーンストーミングのプレゼンテーション</vt:lpstr>
      <vt:lpstr>描画エンジン開発Ⅰ・Ⅱ</vt:lpstr>
      <vt:lpstr>授業内容</vt:lpstr>
      <vt:lpstr>実行結果</vt:lpstr>
      <vt:lpstr>実行結果</vt:lpstr>
      <vt:lpstr>ポリゴンを描くために必要なもの</vt:lpstr>
      <vt:lpstr>描画パイプライン</vt:lpstr>
      <vt:lpstr>描画パイプライン</vt:lpstr>
      <vt:lpstr>描画パイプライン</vt:lpstr>
      <vt:lpstr>グラフィックスデバイス上の座標系(NDC)</vt:lpstr>
      <vt:lpstr>ポリゴン描画の流れ</vt:lpstr>
      <vt:lpstr>PowerPoint プレゼンテーション</vt:lpstr>
      <vt:lpstr>頂点バッファ</vt:lpstr>
      <vt:lpstr>プリミティブトポロジー</vt:lpstr>
      <vt:lpstr>入力レイアウト</vt:lpstr>
      <vt:lpstr>入力レイアウト</vt:lpstr>
      <vt:lpstr>入力レイアウト</vt:lpstr>
      <vt:lpstr>入力レイアウト</vt:lpstr>
      <vt:lpstr>頂点シェーダー</vt:lpstr>
      <vt:lpstr>ラスタライズ</vt:lpstr>
      <vt:lpstr>ピクセルシェーダー</vt:lpstr>
      <vt:lpstr>実習内容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描画エンジン制作Ⅰ</dc:title>
  <dc:creator>吉野 広二</dc:creator>
  <cp:lastModifiedBy>吉野 広二</cp:lastModifiedBy>
  <cp:revision>68</cp:revision>
  <dcterms:created xsi:type="dcterms:W3CDTF">2019-03-17T05:51:21Z</dcterms:created>
  <dcterms:modified xsi:type="dcterms:W3CDTF">2021-03-08T07:47:09Z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74069100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