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72" r:id="rId2"/>
    <p:sldId id="273" r:id="rId3"/>
    <p:sldId id="286" r:id="rId4"/>
    <p:sldId id="338" r:id="rId5"/>
    <p:sldId id="339" r:id="rId6"/>
    <p:sldId id="340" r:id="rId7"/>
    <p:sldId id="298" r:id="rId8"/>
    <p:sldId id="299" r:id="rId9"/>
    <p:sldId id="341" r:id="rId10"/>
    <p:sldId id="344" r:id="rId11"/>
    <p:sldId id="309" r:id="rId12"/>
    <p:sldId id="319" r:id="rId13"/>
    <p:sldId id="342" r:id="rId14"/>
    <p:sldId id="343" r:id="rId15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74394" autoAdjust="0"/>
  </p:normalViewPr>
  <p:slideViewPr>
    <p:cSldViewPr snapToGrid="0">
      <p:cViewPr varScale="1">
        <p:scale>
          <a:sx n="86" d="100"/>
          <a:sy n="86" d="100"/>
        </p:scale>
        <p:origin x="126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2021年10月22日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2021年10月22日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3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6932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7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7466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4109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11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508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12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57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2021年10月22日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2021年10月22日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2021年10月22日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</a:t>
            </a:r>
            <a:r>
              <a:rPr lang="ja-JP" altLang="en-US" dirty="0" smtClean="0"/>
              <a:t>開発</a:t>
            </a:r>
            <a:r>
              <a:rPr lang="en-US" altLang="ja-JP" dirty="0" smtClean="0"/>
              <a:t>Ⅲ</a:t>
            </a:r>
            <a:r>
              <a:rPr lang="ja-JP" altLang="en-US" dirty="0" smtClean="0"/>
              <a:t>・</a:t>
            </a:r>
            <a:r>
              <a:rPr lang="en-US" altLang="ja-JP" dirty="0" smtClean="0"/>
              <a:t>Ⅳ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UNIT22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endParaRPr lang="en-US" altLang="ja-JP" dirty="0" smtClean="0"/>
          </a:p>
          <a:p>
            <a:pPr rtl="0"/>
            <a:r>
              <a:rPr lang="ja-JP" altLang="en-US" dirty="0"/>
              <a:t>ボーン</a:t>
            </a:r>
            <a:r>
              <a:rPr lang="ja-JP" altLang="en-US" dirty="0" smtClean="0"/>
              <a:t>影響力</a:t>
            </a:r>
            <a:endParaRPr lang="en-US" altLang="ja-JP" dirty="0" smtClean="0"/>
          </a:p>
          <a:p>
            <a:pPr rtl="0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080001" y="6366638"/>
            <a:ext cx="171026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cube.004.0.fbx</a:t>
            </a:r>
            <a:endParaRPr kumimoji="1" lang="ja-JP" altLang="en-US" dirty="0" err="1" smtClean="0"/>
          </a:p>
        </p:txBody>
      </p:sp>
      <p:pic>
        <p:nvPicPr>
          <p:cNvPr id="6" name="コンテンツ プレースホルダー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7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３</a:t>
            </a:r>
            <a:r>
              <a:rPr kumimoji="1" lang="en-US" altLang="ja-JP" dirty="0" smtClean="0"/>
              <a:t>D</a:t>
            </a:r>
            <a:r>
              <a:rPr kumimoji="1" lang="ja-JP" altLang="en-US" dirty="0" smtClean="0"/>
              <a:t>キャラクターモデルの構造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600" y="1935480"/>
            <a:ext cx="7599262" cy="4343400"/>
          </a:xfrm>
        </p:spPr>
        <p:txBody>
          <a:bodyPr/>
          <a:lstStyle/>
          <a:p>
            <a:r>
              <a:rPr kumimoji="1" lang="ja-JP" altLang="en-US" dirty="0" smtClean="0"/>
              <a:t>ボーンと呼ばれる骨格データを持っている。</a:t>
            </a:r>
            <a:endParaRPr kumimoji="1" lang="en-US" altLang="ja-JP" dirty="0" smtClean="0"/>
          </a:p>
          <a:p>
            <a:endParaRPr lang="en-US" altLang="ja-JP" dirty="0" smtClean="0"/>
          </a:p>
          <a:p>
            <a:r>
              <a:rPr lang="ja-JP" altLang="en-US" dirty="0" smtClean="0"/>
              <a:t>ボーンを動かすことでメッシュが変形する。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r>
              <a:rPr lang="ja-JP" altLang="en-US" dirty="0" smtClean="0"/>
              <a:t>肌のようにポリゴンが伸縮することから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スキニングと呼ぶ。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ja-JP" altLang="en-US" dirty="0" smtClean="0"/>
              <a:t>スキニングするメッシュのことを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スキンメッシュと呼ぶ。</a:t>
            </a:r>
            <a:endParaRPr lang="en-US" altLang="ja-JP" dirty="0" smtClean="0"/>
          </a:p>
        </p:txBody>
      </p:sp>
      <p:pic>
        <p:nvPicPr>
          <p:cNvPr id="3074" name="Picture 2" descr="ãã¹ã­ãã³ã°ãã®ç»åæ¤ç´¢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862" y="1847088"/>
            <a:ext cx="3848100" cy="49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14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/>
        </p:nvSpPr>
        <p:spPr>
          <a:xfrm rot="20755940">
            <a:off x="9097820" y="5325546"/>
            <a:ext cx="445626" cy="717631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100000">
                <a:srgbClr val="FF0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スキニングするために必要なデータ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ボーン行列データ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頂点がボーンに追従する影響力データ</a:t>
            </a:r>
            <a:endParaRPr kumimoji="1" lang="en-US" altLang="ja-JP" dirty="0" smtClean="0"/>
          </a:p>
        </p:txBody>
      </p:sp>
      <p:sp>
        <p:nvSpPr>
          <p:cNvPr id="5" name="正方形/長方形 4"/>
          <p:cNvSpPr/>
          <p:nvPr/>
        </p:nvSpPr>
        <p:spPr>
          <a:xfrm>
            <a:off x="609600" y="4252701"/>
            <a:ext cx="2372810" cy="7176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2982410" y="4252700"/>
            <a:ext cx="2372810" cy="7176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6807125" y="3111779"/>
            <a:ext cx="2372810" cy="7176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 rot="19734160">
            <a:off x="9083376" y="2539247"/>
            <a:ext cx="2372810" cy="7176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5"/>
          <p:cNvSpPr/>
          <p:nvPr/>
        </p:nvSpPr>
        <p:spPr>
          <a:xfrm rot="5400000">
            <a:off x="1636853" y="3425110"/>
            <a:ext cx="318303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二等辺三角形 10"/>
          <p:cNvSpPr/>
          <p:nvPr/>
        </p:nvSpPr>
        <p:spPr>
          <a:xfrm rot="5400000">
            <a:off x="4009664" y="3425112"/>
            <a:ext cx="318303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11"/>
          <p:cNvSpPr/>
          <p:nvPr/>
        </p:nvSpPr>
        <p:spPr>
          <a:xfrm rot="5400000">
            <a:off x="7843422" y="2287111"/>
            <a:ext cx="318303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/>
          <p:cNvSpPr/>
          <p:nvPr/>
        </p:nvSpPr>
        <p:spPr>
          <a:xfrm rot="3526426">
            <a:off x="10120288" y="1710695"/>
            <a:ext cx="308032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6816173" y="5355736"/>
            <a:ext cx="2372810" cy="7176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 rot="19734160">
            <a:off x="9203809" y="4719347"/>
            <a:ext cx="2372810" cy="7176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二等辺三角形 16"/>
          <p:cNvSpPr/>
          <p:nvPr/>
        </p:nvSpPr>
        <p:spPr>
          <a:xfrm rot="5400000">
            <a:off x="7852470" y="4531068"/>
            <a:ext cx="318303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17"/>
          <p:cNvSpPr/>
          <p:nvPr/>
        </p:nvSpPr>
        <p:spPr>
          <a:xfrm rot="3526426">
            <a:off x="10129336" y="3954652"/>
            <a:ext cx="308032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7216459" y="4024967"/>
            <a:ext cx="283036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ボーン影響力データなし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7216459" y="6289160"/>
            <a:ext cx="283036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ボーン影響力データあり</a:t>
            </a:r>
          </a:p>
        </p:txBody>
      </p:sp>
      <p:sp>
        <p:nvSpPr>
          <p:cNvPr id="21" name="角丸四角形吹き出し 20"/>
          <p:cNvSpPr/>
          <p:nvPr/>
        </p:nvSpPr>
        <p:spPr>
          <a:xfrm>
            <a:off x="2038337" y="5706242"/>
            <a:ext cx="3407277" cy="528254"/>
          </a:xfrm>
          <a:prstGeom prst="wedgeRoundRectCallout">
            <a:avLst>
              <a:gd name="adj1" fmla="val 55245"/>
              <a:gd name="adj2" fmla="val -209904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このボーンを回転させると</a:t>
            </a:r>
            <a:endParaRPr kumimoji="1" lang="ja-JP" altLang="en-US" dirty="0"/>
          </a:p>
        </p:txBody>
      </p:sp>
      <p:sp>
        <p:nvSpPr>
          <p:cNvPr id="10" name="右矢印 9"/>
          <p:cNvSpPr/>
          <p:nvPr/>
        </p:nvSpPr>
        <p:spPr>
          <a:xfrm rot="19746688">
            <a:off x="5751986" y="3892473"/>
            <a:ext cx="800471" cy="498155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右矢印 22"/>
          <p:cNvSpPr/>
          <p:nvPr/>
        </p:nvSpPr>
        <p:spPr>
          <a:xfrm rot="1968811">
            <a:off x="5757470" y="5103195"/>
            <a:ext cx="800471" cy="498155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57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頂点ごとのボーン影響力を確認する。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600" y="1935480"/>
            <a:ext cx="6281714" cy="958331"/>
          </a:xfrm>
        </p:spPr>
        <p:txBody>
          <a:bodyPr/>
          <a:lstStyle/>
          <a:p>
            <a:r>
              <a:rPr kumimoji="1" lang="ja-JP" altLang="en-US" dirty="0" smtClean="0"/>
              <a:t>頂点に設定されているボーン影響力を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シェーダー内でカラーで出力する。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 rot="20755940">
            <a:off x="7854000" y="3010532"/>
            <a:ext cx="445626" cy="717631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100000">
                <a:srgbClr val="FF0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5572353" y="3040722"/>
            <a:ext cx="2372810" cy="7176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 rot="19734160">
            <a:off x="7959989" y="2404333"/>
            <a:ext cx="2372810" cy="7176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17"/>
          <p:cNvSpPr/>
          <p:nvPr/>
        </p:nvSpPr>
        <p:spPr>
          <a:xfrm rot="5400000">
            <a:off x="6608650" y="2216054"/>
            <a:ext cx="318303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18"/>
          <p:cNvSpPr/>
          <p:nvPr/>
        </p:nvSpPr>
        <p:spPr>
          <a:xfrm rot="3526426">
            <a:off x="8885516" y="1639638"/>
            <a:ext cx="308032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角丸四角形 19"/>
          <p:cNvSpPr/>
          <p:nvPr/>
        </p:nvSpPr>
        <p:spPr>
          <a:xfrm>
            <a:off x="7731436" y="2611323"/>
            <a:ext cx="955822" cy="1576427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吹き出し 21"/>
          <p:cNvSpPr/>
          <p:nvPr/>
        </p:nvSpPr>
        <p:spPr>
          <a:xfrm>
            <a:off x="9442836" y="3050901"/>
            <a:ext cx="2663639" cy="583683"/>
          </a:xfrm>
          <a:prstGeom prst="wedgeRoundRectCallout">
            <a:avLst>
              <a:gd name="adj1" fmla="val -30030"/>
              <a:gd name="adj2" fmla="val -96807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smtClean="0"/>
              <a:t>Index  </a:t>
            </a:r>
            <a:r>
              <a:rPr kumimoji="1" lang="ja-JP" altLang="en-US" dirty="0" smtClean="0"/>
              <a:t>：</a:t>
            </a:r>
            <a:r>
              <a:rPr kumimoji="1" lang="en-US" altLang="ja-JP" dirty="0" smtClean="0"/>
              <a:t>1  Weight : 1.0</a:t>
            </a:r>
            <a:endParaRPr kumimoji="1" lang="ja-JP" altLang="en-US" dirty="0"/>
          </a:p>
        </p:txBody>
      </p:sp>
      <p:pic>
        <p:nvPicPr>
          <p:cNvPr id="23" name="Picture 2" descr="https://help.autodesk.com/cloudhelp/2016/JPN/3DSMax/images/GUID-EE8A52FD-A85A-43CF-8CDD-50BA4FBD1FA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745" y="3040722"/>
            <a:ext cx="2255194" cy="365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楕円 3"/>
          <p:cNvSpPr/>
          <p:nvPr/>
        </p:nvSpPr>
        <p:spPr>
          <a:xfrm>
            <a:off x="6088847" y="3665977"/>
            <a:ext cx="195943" cy="195943"/>
          </a:xfrm>
          <a:prstGeom prst="ellipse">
            <a:avLst/>
          </a:prstGeom>
          <a:solidFill>
            <a:srgbClr val="080808"/>
          </a:solidFill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/>
          <p:cNvSpPr/>
          <p:nvPr/>
        </p:nvSpPr>
        <p:spPr>
          <a:xfrm>
            <a:off x="9843105" y="2567205"/>
            <a:ext cx="195943" cy="195943"/>
          </a:xfrm>
          <a:prstGeom prst="ellipse">
            <a:avLst/>
          </a:prstGeom>
          <a:solidFill>
            <a:srgbClr val="080808"/>
          </a:solidFill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401814" y="3098395"/>
            <a:ext cx="37341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0</a:t>
            </a:r>
            <a:endParaRPr kumimoji="1" lang="en-US" altLang="ja-JP" sz="3200" dirty="0" smtClean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8878341" y="2505755"/>
            <a:ext cx="37341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 smtClean="0"/>
              <a:t>1</a:t>
            </a:r>
          </a:p>
        </p:txBody>
      </p:sp>
      <p:sp>
        <p:nvSpPr>
          <p:cNvPr id="24" name="角丸四角形吹き出し 23"/>
          <p:cNvSpPr/>
          <p:nvPr/>
        </p:nvSpPr>
        <p:spPr>
          <a:xfrm>
            <a:off x="4222693" y="5109117"/>
            <a:ext cx="6366075" cy="1698107"/>
          </a:xfrm>
          <a:prstGeom prst="wedgeRoundRectCallout">
            <a:avLst>
              <a:gd name="adj1" fmla="val 12967"/>
              <a:gd name="adj2" fmla="val -98610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このあたりの頂点は左側と右側の両方のボーンに追従する。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グラデーションしているのは追従する割合を表している。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en-US" altLang="ja-JP" dirty="0" smtClean="0"/>
          </a:p>
          <a:p>
            <a:pPr algn="ctr"/>
            <a:r>
              <a:rPr kumimoji="1" lang="en-US" altLang="ja-JP" dirty="0" smtClean="0"/>
              <a:t>※</a:t>
            </a:r>
            <a:r>
              <a:rPr kumimoji="1" lang="ja-JP" altLang="en-US" dirty="0" smtClean="0"/>
              <a:t>赤っぽいところは右側のボーンへの追従力が高い。</a:t>
            </a:r>
            <a:endParaRPr kumimoji="1" lang="ja-JP" altLang="en-US" dirty="0"/>
          </a:p>
        </p:txBody>
      </p:sp>
      <p:sp>
        <p:nvSpPr>
          <p:cNvPr id="25" name="楕円 24"/>
          <p:cNvSpPr/>
          <p:nvPr/>
        </p:nvSpPr>
        <p:spPr>
          <a:xfrm>
            <a:off x="7963446" y="3613042"/>
            <a:ext cx="195943" cy="195943"/>
          </a:xfrm>
          <a:prstGeom prst="ellipse">
            <a:avLst/>
          </a:prstGeom>
          <a:solidFill>
            <a:srgbClr val="080808"/>
          </a:solidFill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角丸四角形吹き出し 25"/>
          <p:cNvSpPr/>
          <p:nvPr/>
        </p:nvSpPr>
        <p:spPr>
          <a:xfrm>
            <a:off x="4798627" y="4320850"/>
            <a:ext cx="2607104" cy="583683"/>
          </a:xfrm>
          <a:prstGeom prst="wedgeRoundRectCallout">
            <a:avLst>
              <a:gd name="adj1" fmla="val 11247"/>
              <a:gd name="adj2" fmla="val -96911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smtClean="0"/>
              <a:t>Index  </a:t>
            </a:r>
            <a:r>
              <a:rPr kumimoji="1" lang="ja-JP" altLang="en-US" dirty="0" smtClean="0"/>
              <a:t>：</a:t>
            </a:r>
            <a:r>
              <a:rPr kumimoji="1" lang="en-US" altLang="ja-JP" dirty="0" smtClean="0"/>
              <a:t>0  Weight : 1.0</a:t>
            </a:r>
            <a:endParaRPr kumimoji="1" lang="ja-JP" altLang="en-US" dirty="0"/>
          </a:p>
        </p:txBody>
      </p:sp>
      <p:sp>
        <p:nvSpPr>
          <p:cNvPr id="27" name="角丸四角形吹き出し 26"/>
          <p:cNvSpPr/>
          <p:nvPr/>
        </p:nvSpPr>
        <p:spPr>
          <a:xfrm>
            <a:off x="9358400" y="3978729"/>
            <a:ext cx="2486037" cy="787864"/>
          </a:xfrm>
          <a:prstGeom prst="wedgeRoundRectCallout">
            <a:avLst>
              <a:gd name="adj1" fmla="val -90923"/>
              <a:gd name="adj2" fmla="val -67573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smtClean="0"/>
              <a:t>Index : 0  Weight : 0.7</a:t>
            </a:r>
          </a:p>
          <a:p>
            <a:r>
              <a:rPr kumimoji="1" lang="en-US" altLang="ja-JP" dirty="0" smtClean="0"/>
              <a:t>Index : 1  Weight : 0.3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486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の全体的な構造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3882776" y="307284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2662095" y="2179445"/>
            <a:ext cx="1875139" cy="377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FbxScene</a:t>
            </a:r>
            <a:endParaRPr kumimoji="1" lang="ja-JP" altLang="en-US" dirty="0"/>
          </a:p>
        </p:txBody>
      </p:sp>
      <p:cxnSp>
        <p:nvCxnSpPr>
          <p:cNvPr id="11" name="曲線コネクタ 10"/>
          <p:cNvCxnSpPr>
            <a:stCxn id="6" idx="2"/>
            <a:endCxn id="4" idx="1"/>
          </p:cNvCxnSpPr>
          <p:nvPr/>
        </p:nvCxnSpPr>
        <p:spPr>
          <a:xfrm rot="16200000" flipH="1">
            <a:off x="3388789" y="2767392"/>
            <a:ext cx="704863" cy="283111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>
            <a:off x="5123684" y="3763509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22" name="曲線コネクタ 13"/>
          <p:cNvCxnSpPr>
            <a:stCxn id="4" idx="2"/>
            <a:endCxn id="20" idx="1"/>
          </p:cNvCxnSpPr>
          <p:nvPr/>
        </p:nvCxnSpPr>
        <p:spPr>
          <a:xfrm rot="16200000" flipH="1">
            <a:off x="4720951" y="3549311"/>
            <a:ext cx="502129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5123684" y="4624795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35" name="曲線コネクタ 13"/>
          <p:cNvCxnSpPr>
            <a:stCxn id="4" idx="2"/>
            <a:endCxn id="34" idx="1"/>
          </p:cNvCxnSpPr>
          <p:nvPr/>
        </p:nvCxnSpPr>
        <p:spPr>
          <a:xfrm rot="16200000" flipH="1">
            <a:off x="4290308" y="3979954"/>
            <a:ext cx="1363415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角丸四角形 38"/>
          <p:cNvSpPr/>
          <p:nvPr/>
        </p:nvSpPr>
        <p:spPr>
          <a:xfrm>
            <a:off x="7427058" y="3768587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47" name="曲線コネクタ 13"/>
          <p:cNvCxnSpPr>
            <a:stCxn id="20" idx="3"/>
            <a:endCxn id="39" idx="1"/>
          </p:cNvCxnSpPr>
          <p:nvPr/>
        </p:nvCxnSpPr>
        <p:spPr>
          <a:xfrm>
            <a:off x="6998823" y="3952045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角丸四角形 49"/>
          <p:cNvSpPr/>
          <p:nvPr/>
        </p:nvSpPr>
        <p:spPr>
          <a:xfrm>
            <a:off x="10008709" y="3444020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51" name="曲線コネクタ 13"/>
          <p:cNvCxnSpPr>
            <a:stCxn id="39" idx="3"/>
            <a:endCxn id="50" idx="1"/>
          </p:cNvCxnSpPr>
          <p:nvPr/>
        </p:nvCxnSpPr>
        <p:spPr>
          <a:xfrm flipV="1">
            <a:off x="9302197" y="3632556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10008709" y="4093154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60" name="曲線コネクタ 13"/>
          <p:cNvCxnSpPr>
            <a:stCxn id="39" idx="3"/>
            <a:endCxn id="59" idx="1"/>
          </p:cNvCxnSpPr>
          <p:nvPr/>
        </p:nvCxnSpPr>
        <p:spPr>
          <a:xfrm>
            <a:off x="9302197" y="3957123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角丸四角形 64"/>
          <p:cNvSpPr/>
          <p:nvPr/>
        </p:nvSpPr>
        <p:spPr>
          <a:xfrm>
            <a:off x="4537235" y="548608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sp>
        <p:nvSpPr>
          <p:cNvPr id="66" name="角丸四角形 65"/>
          <p:cNvSpPr/>
          <p:nvPr/>
        </p:nvSpPr>
        <p:spPr>
          <a:xfrm>
            <a:off x="4537234" y="617874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cxnSp>
        <p:nvCxnSpPr>
          <p:cNvPr id="67" name="曲線コネクタ 10"/>
          <p:cNvCxnSpPr>
            <a:stCxn id="6" idx="2"/>
            <a:endCxn id="65" idx="1"/>
          </p:cNvCxnSpPr>
          <p:nvPr/>
        </p:nvCxnSpPr>
        <p:spPr>
          <a:xfrm rot="16200000" flipH="1">
            <a:off x="2509400" y="3646782"/>
            <a:ext cx="3118100" cy="937570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線コネクタ 10"/>
          <p:cNvCxnSpPr>
            <a:stCxn id="6" idx="2"/>
            <a:endCxn id="66" idx="1"/>
          </p:cNvCxnSpPr>
          <p:nvPr/>
        </p:nvCxnSpPr>
        <p:spPr>
          <a:xfrm rot="16200000" flipH="1">
            <a:off x="2163069" y="3993112"/>
            <a:ext cx="3810760" cy="937569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角丸四角形 88"/>
          <p:cNvSpPr/>
          <p:nvPr/>
        </p:nvSpPr>
        <p:spPr>
          <a:xfrm>
            <a:off x="100222" y="1915647"/>
            <a:ext cx="1875139" cy="927357"/>
          </a:xfrm>
          <a:prstGeom prst="roundRect">
            <a:avLst/>
          </a:prstGeom>
          <a:solidFill>
            <a:srgbClr val="FFA3A3"/>
          </a:solidFill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FbxManager</a:t>
            </a:r>
            <a:endParaRPr kumimoji="1" lang="ja-JP" altLang="en-US" dirty="0"/>
          </a:p>
        </p:txBody>
      </p:sp>
      <p:sp>
        <p:nvSpPr>
          <p:cNvPr id="90" name="角丸四角形 89"/>
          <p:cNvSpPr/>
          <p:nvPr/>
        </p:nvSpPr>
        <p:spPr>
          <a:xfrm>
            <a:off x="100222" y="3763509"/>
            <a:ext cx="1875139" cy="656884"/>
          </a:xfrm>
          <a:prstGeom prst="roundRect">
            <a:avLst/>
          </a:prstGeom>
          <a:solidFill>
            <a:srgbClr val="B4AFF3"/>
          </a:solidFill>
          <a:ln w="28575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FbxImporter</a:t>
            </a:r>
            <a:endParaRPr kumimoji="1" lang="ja-JP" altLang="en-US" dirty="0"/>
          </a:p>
        </p:txBody>
      </p:sp>
      <p:cxnSp>
        <p:nvCxnSpPr>
          <p:cNvPr id="97" name="曲線コネクタ 13"/>
          <p:cNvCxnSpPr>
            <a:stCxn id="89" idx="3"/>
            <a:endCxn id="6" idx="1"/>
          </p:cNvCxnSpPr>
          <p:nvPr/>
        </p:nvCxnSpPr>
        <p:spPr>
          <a:xfrm flipV="1">
            <a:off x="1975361" y="2367981"/>
            <a:ext cx="686734" cy="1134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曲線コネクタ 13"/>
          <p:cNvCxnSpPr>
            <a:stCxn id="89" idx="2"/>
            <a:endCxn id="90" idx="0"/>
          </p:cNvCxnSpPr>
          <p:nvPr/>
        </p:nvCxnSpPr>
        <p:spPr>
          <a:xfrm rot="5400000">
            <a:off x="577540" y="3303256"/>
            <a:ext cx="920505" cy="1270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曲線コネクタ 13"/>
          <p:cNvCxnSpPr>
            <a:stCxn id="90" idx="3"/>
            <a:endCxn id="6" idx="1"/>
          </p:cNvCxnSpPr>
          <p:nvPr/>
        </p:nvCxnSpPr>
        <p:spPr>
          <a:xfrm flipV="1">
            <a:off x="1975361" y="2367981"/>
            <a:ext cx="686734" cy="1723970"/>
          </a:xfrm>
          <a:prstGeom prst="curvedConnector3">
            <a:avLst>
              <a:gd name="adj1" fmla="val 50000"/>
            </a:avLst>
          </a:prstGeom>
          <a:ln w="25400">
            <a:solidFill>
              <a:srgbClr val="B4AFF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角丸四角形 127"/>
          <p:cNvSpPr/>
          <p:nvPr/>
        </p:nvSpPr>
        <p:spPr>
          <a:xfrm>
            <a:off x="7729430" y="5229488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sp>
        <p:nvSpPr>
          <p:cNvPr id="129" name="角丸四角形 128"/>
          <p:cNvSpPr/>
          <p:nvPr/>
        </p:nvSpPr>
        <p:spPr>
          <a:xfrm>
            <a:off x="7754083" y="5863153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cxnSp>
        <p:nvCxnSpPr>
          <p:cNvPr id="130" name="曲線コネクタ 13"/>
          <p:cNvCxnSpPr>
            <a:stCxn id="65" idx="3"/>
            <a:endCxn id="128" idx="1"/>
          </p:cNvCxnSpPr>
          <p:nvPr/>
        </p:nvCxnSpPr>
        <p:spPr>
          <a:xfrm flipV="1">
            <a:off x="6816514" y="5418024"/>
            <a:ext cx="912916" cy="256593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曲線コネクタ 13"/>
          <p:cNvCxnSpPr>
            <a:stCxn id="65" idx="3"/>
            <a:endCxn id="129" idx="1"/>
          </p:cNvCxnSpPr>
          <p:nvPr/>
        </p:nvCxnSpPr>
        <p:spPr>
          <a:xfrm>
            <a:off x="6816514" y="5674617"/>
            <a:ext cx="937569" cy="377072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コネクタ 13"/>
          <p:cNvCxnSpPr>
            <a:stCxn id="20" idx="3"/>
            <a:endCxn id="66" idx="3"/>
          </p:cNvCxnSpPr>
          <p:nvPr/>
        </p:nvCxnSpPr>
        <p:spPr>
          <a:xfrm flipH="1">
            <a:off x="6816513" y="3952045"/>
            <a:ext cx="182310" cy="2415232"/>
          </a:xfrm>
          <a:prstGeom prst="curvedConnector3">
            <a:avLst>
              <a:gd name="adj1" fmla="val -125391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線コネクタ 13"/>
          <p:cNvCxnSpPr>
            <a:stCxn id="20" idx="3"/>
            <a:endCxn id="65" idx="3"/>
          </p:cNvCxnSpPr>
          <p:nvPr/>
        </p:nvCxnSpPr>
        <p:spPr>
          <a:xfrm flipH="1">
            <a:off x="6816514" y="3952045"/>
            <a:ext cx="182309" cy="1722572"/>
          </a:xfrm>
          <a:prstGeom prst="curvedConnector3">
            <a:avLst>
              <a:gd name="adj1" fmla="val -125392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線コネクタ 13"/>
          <p:cNvCxnSpPr/>
          <p:nvPr/>
        </p:nvCxnSpPr>
        <p:spPr>
          <a:xfrm>
            <a:off x="6998823" y="4808253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角丸四角形 31"/>
          <p:cNvSpPr/>
          <p:nvPr/>
        </p:nvSpPr>
        <p:spPr>
          <a:xfrm>
            <a:off x="7427058" y="4624795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211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の全体的な構造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3882776" y="307284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2662095" y="2179445"/>
            <a:ext cx="1875139" cy="377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FbxScene</a:t>
            </a:r>
            <a:endParaRPr kumimoji="1" lang="ja-JP" altLang="en-US" dirty="0"/>
          </a:p>
        </p:txBody>
      </p:sp>
      <p:cxnSp>
        <p:nvCxnSpPr>
          <p:cNvPr id="11" name="曲線コネクタ 10"/>
          <p:cNvCxnSpPr>
            <a:stCxn id="6" idx="2"/>
            <a:endCxn id="4" idx="1"/>
          </p:cNvCxnSpPr>
          <p:nvPr/>
        </p:nvCxnSpPr>
        <p:spPr>
          <a:xfrm rot="16200000" flipH="1">
            <a:off x="3388789" y="2767392"/>
            <a:ext cx="704863" cy="283111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>
            <a:off x="5123684" y="3763509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22" name="曲線コネクタ 13"/>
          <p:cNvCxnSpPr>
            <a:stCxn id="4" idx="2"/>
            <a:endCxn id="20" idx="1"/>
          </p:cNvCxnSpPr>
          <p:nvPr/>
        </p:nvCxnSpPr>
        <p:spPr>
          <a:xfrm rot="16200000" flipH="1">
            <a:off x="4720951" y="3549311"/>
            <a:ext cx="502129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5123684" y="4624795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35" name="曲線コネクタ 13"/>
          <p:cNvCxnSpPr>
            <a:stCxn id="4" idx="2"/>
            <a:endCxn id="34" idx="1"/>
          </p:cNvCxnSpPr>
          <p:nvPr/>
        </p:nvCxnSpPr>
        <p:spPr>
          <a:xfrm rot="16200000" flipH="1">
            <a:off x="4290308" y="3979954"/>
            <a:ext cx="1363415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角丸四角形 38"/>
          <p:cNvSpPr/>
          <p:nvPr/>
        </p:nvSpPr>
        <p:spPr>
          <a:xfrm>
            <a:off x="7427058" y="3768587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47" name="曲線コネクタ 13"/>
          <p:cNvCxnSpPr>
            <a:stCxn id="20" idx="3"/>
            <a:endCxn id="39" idx="1"/>
          </p:cNvCxnSpPr>
          <p:nvPr/>
        </p:nvCxnSpPr>
        <p:spPr>
          <a:xfrm>
            <a:off x="6998823" y="3952045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角丸四角形 49"/>
          <p:cNvSpPr/>
          <p:nvPr/>
        </p:nvSpPr>
        <p:spPr>
          <a:xfrm>
            <a:off x="10008709" y="3444020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51" name="曲線コネクタ 13"/>
          <p:cNvCxnSpPr>
            <a:stCxn id="39" idx="3"/>
            <a:endCxn id="50" idx="1"/>
          </p:cNvCxnSpPr>
          <p:nvPr/>
        </p:nvCxnSpPr>
        <p:spPr>
          <a:xfrm flipV="1">
            <a:off x="9302197" y="3632556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10008709" y="4093154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60" name="曲線コネクタ 13"/>
          <p:cNvCxnSpPr>
            <a:stCxn id="39" idx="3"/>
            <a:endCxn id="59" idx="1"/>
          </p:cNvCxnSpPr>
          <p:nvPr/>
        </p:nvCxnSpPr>
        <p:spPr>
          <a:xfrm>
            <a:off x="9302197" y="3957123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角丸四角形 64"/>
          <p:cNvSpPr/>
          <p:nvPr/>
        </p:nvSpPr>
        <p:spPr>
          <a:xfrm>
            <a:off x="4537235" y="548608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sp>
        <p:nvSpPr>
          <p:cNvPr id="66" name="角丸四角形 65"/>
          <p:cNvSpPr/>
          <p:nvPr/>
        </p:nvSpPr>
        <p:spPr>
          <a:xfrm>
            <a:off x="4537234" y="617874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cxnSp>
        <p:nvCxnSpPr>
          <p:cNvPr id="67" name="曲線コネクタ 10"/>
          <p:cNvCxnSpPr>
            <a:stCxn id="6" idx="2"/>
            <a:endCxn id="65" idx="1"/>
          </p:cNvCxnSpPr>
          <p:nvPr/>
        </p:nvCxnSpPr>
        <p:spPr>
          <a:xfrm rot="16200000" flipH="1">
            <a:off x="2509400" y="3646782"/>
            <a:ext cx="3118100" cy="937570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線コネクタ 10"/>
          <p:cNvCxnSpPr>
            <a:stCxn id="6" idx="2"/>
            <a:endCxn id="66" idx="1"/>
          </p:cNvCxnSpPr>
          <p:nvPr/>
        </p:nvCxnSpPr>
        <p:spPr>
          <a:xfrm rot="16200000" flipH="1">
            <a:off x="2163069" y="3993112"/>
            <a:ext cx="3810760" cy="937569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角丸四角形 88"/>
          <p:cNvSpPr/>
          <p:nvPr/>
        </p:nvSpPr>
        <p:spPr>
          <a:xfrm>
            <a:off x="100222" y="1915647"/>
            <a:ext cx="1875139" cy="927357"/>
          </a:xfrm>
          <a:prstGeom prst="roundRect">
            <a:avLst/>
          </a:prstGeom>
          <a:solidFill>
            <a:srgbClr val="FFA3A3"/>
          </a:solidFill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FbxManager</a:t>
            </a:r>
            <a:endParaRPr kumimoji="1" lang="ja-JP" altLang="en-US" dirty="0"/>
          </a:p>
        </p:txBody>
      </p:sp>
      <p:sp>
        <p:nvSpPr>
          <p:cNvPr id="90" name="角丸四角形 89"/>
          <p:cNvSpPr/>
          <p:nvPr/>
        </p:nvSpPr>
        <p:spPr>
          <a:xfrm>
            <a:off x="100222" y="3763509"/>
            <a:ext cx="1875139" cy="656884"/>
          </a:xfrm>
          <a:prstGeom prst="roundRect">
            <a:avLst/>
          </a:prstGeom>
          <a:solidFill>
            <a:srgbClr val="B4AFF3"/>
          </a:solidFill>
          <a:ln w="28575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FbxImporter</a:t>
            </a:r>
            <a:endParaRPr kumimoji="1" lang="ja-JP" altLang="en-US" dirty="0"/>
          </a:p>
        </p:txBody>
      </p:sp>
      <p:cxnSp>
        <p:nvCxnSpPr>
          <p:cNvPr id="97" name="曲線コネクタ 13"/>
          <p:cNvCxnSpPr>
            <a:stCxn id="89" idx="3"/>
            <a:endCxn id="6" idx="1"/>
          </p:cNvCxnSpPr>
          <p:nvPr/>
        </p:nvCxnSpPr>
        <p:spPr>
          <a:xfrm flipV="1">
            <a:off x="1975361" y="2367981"/>
            <a:ext cx="686734" cy="1134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曲線コネクタ 13"/>
          <p:cNvCxnSpPr>
            <a:stCxn id="89" idx="2"/>
            <a:endCxn id="90" idx="0"/>
          </p:cNvCxnSpPr>
          <p:nvPr/>
        </p:nvCxnSpPr>
        <p:spPr>
          <a:xfrm rot="5400000">
            <a:off x="577540" y="3303256"/>
            <a:ext cx="920505" cy="1270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曲線コネクタ 13"/>
          <p:cNvCxnSpPr>
            <a:stCxn id="90" idx="3"/>
            <a:endCxn id="6" idx="1"/>
          </p:cNvCxnSpPr>
          <p:nvPr/>
        </p:nvCxnSpPr>
        <p:spPr>
          <a:xfrm flipV="1">
            <a:off x="1975361" y="2367981"/>
            <a:ext cx="686734" cy="1723970"/>
          </a:xfrm>
          <a:prstGeom prst="curvedConnector3">
            <a:avLst>
              <a:gd name="adj1" fmla="val 50000"/>
            </a:avLst>
          </a:prstGeom>
          <a:ln w="25400">
            <a:solidFill>
              <a:srgbClr val="B4AFF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角丸四角形 127"/>
          <p:cNvSpPr/>
          <p:nvPr/>
        </p:nvSpPr>
        <p:spPr>
          <a:xfrm>
            <a:off x="7729430" y="5229488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sp>
        <p:nvSpPr>
          <p:cNvPr id="129" name="角丸四角形 128"/>
          <p:cNvSpPr/>
          <p:nvPr/>
        </p:nvSpPr>
        <p:spPr>
          <a:xfrm>
            <a:off x="7754083" y="5863153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cxnSp>
        <p:nvCxnSpPr>
          <p:cNvPr id="130" name="曲線コネクタ 13"/>
          <p:cNvCxnSpPr>
            <a:stCxn id="65" idx="3"/>
            <a:endCxn id="128" idx="1"/>
          </p:cNvCxnSpPr>
          <p:nvPr/>
        </p:nvCxnSpPr>
        <p:spPr>
          <a:xfrm flipV="1">
            <a:off x="6816514" y="5418024"/>
            <a:ext cx="912916" cy="256593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曲線コネクタ 13"/>
          <p:cNvCxnSpPr>
            <a:stCxn id="65" idx="3"/>
            <a:endCxn id="129" idx="1"/>
          </p:cNvCxnSpPr>
          <p:nvPr/>
        </p:nvCxnSpPr>
        <p:spPr>
          <a:xfrm>
            <a:off x="6816514" y="5674617"/>
            <a:ext cx="937569" cy="377072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コネクタ 13"/>
          <p:cNvCxnSpPr>
            <a:stCxn id="20" idx="3"/>
            <a:endCxn id="66" idx="3"/>
          </p:cNvCxnSpPr>
          <p:nvPr/>
        </p:nvCxnSpPr>
        <p:spPr>
          <a:xfrm flipH="1">
            <a:off x="6816513" y="3952045"/>
            <a:ext cx="182310" cy="2415232"/>
          </a:xfrm>
          <a:prstGeom prst="curvedConnector3">
            <a:avLst>
              <a:gd name="adj1" fmla="val -125391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線コネクタ 13"/>
          <p:cNvCxnSpPr>
            <a:stCxn id="20" idx="3"/>
            <a:endCxn id="65" idx="3"/>
          </p:cNvCxnSpPr>
          <p:nvPr/>
        </p:nvCxnSpPr>
        <p:spPr>
          <a:xfrm flipH="1">
            <a:off x="6816514" y="3952045"/>
            <a:ext cx="182309" cy="1722572"/>
          </a:xfrm>
          <a:prstGeom prst="curvedConnector3">
            <a:avLst>
              <a:gd name="adj1" fmla="val -125392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/>
          <p:cNvSpPr/>
          <p:nvPr/>
        </p:nvSpPr>
        <p:spPr>
          <a:xfrm>
            <a:off x="9796819" y="3229966"/>
            <a:ext cx="2166138" cy="1469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形吹き出し 4"/>
          <p:cNvSpPr/>
          <p:nvPr/>
        </p:nvSpPr>
        <p:spPr>
          <a:xfrm>
            <a:off x="7212940" y="1621346"/>
            <a:ext cx="2864386" cy="1520327"/>
          </a:xfrm>
          <a:prstGeom prst="wedgeEllipseCallout">
            <a:avLst>
              <a:gd name="adj1" fmla="val 42089"/>
              <a:gd name="adj2" fmla="val 47686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今回</a:t>
            </a:r>
            <a:r>
              <a:rPr kumimoji="1" lang="ja-JP" altLang="en-US" dirty="0" smtClean="0"/>
              <a:t>はここを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学習します</a:t>
            </a:r>
            <a:endParaRPr kumimoji="1" lang="ja-JP" altLang="en-US" dirty="0"/>
          </a:p>
        </p:txBody>
      </p:sp>
      <p:cxnSp>
        <p:nvCxnSpPr>
          <p:cNvPr id="36" name="曲線コネクタ 13"/>
          <p:cNvCxnSpPr/>
          <p:nvPr/>
        </p:nvCxnSpPr>
        <p:spPr>
          <a:xfrm>
            <a:off x="6998823" y="4808253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角丸四角形 36"/>
          <p:cNvSpPr/>
          <p:nvPr/>
        </p:nvSpPr>
        <p:spPr>
          <a:xfrm>
            <a:off x="7427058" y="4624795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6999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からボーン影響力データを取り出す</a:t>
            </a:r>
            <a:endParaRPr kumimoji="1" lang="ja-JP" altLang="en-US" dirty="0"/>
          </a:p>
        </p:txBody>
      </p:sp>
      <p:sp>
        <p:nvSpPr>
          <p:cNvPr id="8" name="角丸四角形 7"/>
          <p:cNvSpPr/>
          <p:nvPr/>
        </p:nvSpPr>
        <p:spPr>
          <a:xfrm>
            <a:off x="1629989" y="382758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9" name="角丸四角形 8"/>
          <p:cNvSpPr/>
          <p:nvPr/>
        </p:nvSpPr>
        <p:spPr>
          <a:xfrm>
            <a:off x="3933363" y="3832662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10" name="曲線コネクタ 13"/>
          <p:cNvCxnSpPr>
            <a:stCxn id="8" idx="3"/>
            <a:endCxn id="9" idx="1"/>
          </p:cNvCxnSpPr>
          <p:nvPr/>
        </p:nvCxnSpPr>
        <p:spPr>
          <a:xfrm>
            <a:off x="3505128" y="4016120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10"/>
          <p:cNvSpPr/>
          <p:nvPr/>
        </p:nvSpPr>
        <p:spPr>
          <a:xfrm>
            <a:off x="6236737" y="3827584"/>
            <a:ext cx="1875139" cy="37707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16" name="曲線コネクタ 13"/>
          <p:cNvCxnSpPr>
            <a:stCxn id="9" idx="3"/>
            <a:endCxn id="11" idx="1"/>
          </p:cNvCxnSpPr>
          <p:nvPr/>
        </p:nvCxnSpPr>
        <p:spPr>
          <a:xfrm flipV="1">
            <a:off x="5808502" y="4016120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>
            <a:off x="8745526" y="3827584"/>
            <a:ext cx="1875139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endParaRPr kumimoji="1" lang="ja-JP" altLang="en-US" dirty="0"/>
          </a:p>
        </p:txBody>
      </p:sp>
      <p:cxnSp>
        <p:nvCxnSpPr>
          <p:cNvPr id="25" name="曲線コネクタ 13"/>
          <p:cNvCxnSpPr>
            <a:stCxn id="11" idx="3"/>
            <a:endCxn id="20" idx="1"/>
          </p:cNvCxnSpPr>
          <p:nvPr/>
        </p:nvCxnSpPr>
        <p:spPr>
          <a:xfrm>
            <a:off x="8111876" y="4016120"/>
            <a:ext cx="633650" cy="12700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角丸四角形 27"/>
          <p:cNvSpPr/>
          <p:nvPr/>
        </p:nvSpPr>
        <p:spPr>
          <a:xfrm>
            <a:off x="8745525" y="4568890"/>
            <a:ext cx="1875139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endParaRPr kumimoji="1" lang="ja-JP" altLang="en-US" dirty="0"/>
          </a:p>
        </p:txBody>
      </p:sp>
      <p:cxnSp>
        <p:nvCxnSpPr>
          <p:cNvPr id="29" name="曲線コネクタ 13"/>
          <p:cNvCxnSpPr>
            <a:stCxn id="11" idx="3"/>
            <a:endCxn id="28" idx="1"/>
          </p:cNvCxnSpPr>
          <p:nvPr/>
        </p:nvCxnSpPr>
        <p:spPr>
          <a:xfrm>
            <a:off x="8111876" y="4016120"/>
            <a:ext cx="633649" cy="741306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角丸四角形吹き出し 32"/>
          <p:cNvSpPr/>
          <p:nvPr/>
        </p:nvSpPr>
        <p:spPr>
          <a:xfrm>
            <a:off x="842942" y="2438099"/>
            <a:ext cx="4027990" cy="868556"/>
          </a:xfrm>
          <a:prstGeom prst="wedgeRoundRectCallout">
            <a:avLst>
              <a:gd name="adj1" fmla="val 37942"/>
              <a:gd name="adj2" fmla="val 98902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スキンデータが存在する場合、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err="1" smtClean="0"/>
              <a:t>FbxSkin</a:t>
            </a:r>
            <a:r>
              <a:rPr kumimoji="1" lang="ja-JP" altLang="en-US" dirty="0" smtClean="0"/>
              <a:t>を取得できる。</a:t>
            </a:r>
            <a:endParaRPr kumimoji="1" lang="ja-JP" altLang="en-US" dirty="0"/>
          </a:p>
        </p:txBody>
      </p:sp>
      <p:sp>
        <p:nvSpPr>
          <p:cNvPr id="35" name="角丸四角形吹き出し 34"/>
          <p:cNvSpPr/>
          <p:nvPr/>
        </p:nvSpPr>
        <p:spPr>
          <a:xfrm>
            <a:off x="7660328" y="1921832"/>
            <a:ext cx="4392772" cy="1329357"/>
          </a:xfrm>
          <a:prstGeom prst="wedgeRoundRectCallout">
            <a:avLst>
              <a:gd name="adj1" fmla="val -9184"/>
              <a:gd name="adj2" fmla="val 69793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このメッシュに影響するボーンの数は</a:t>
            </a:r>
            <a:endParaRPr kumimoji="1" lang="en-US" altLang="ja-JP" dirty="0" smtClean="0"/>
          </a:p>
          <a:p>
            <a:pPr algn="ctr"/>
            <a:r>
              <a:rPr kumimoji="1" lang="en-US" altLang="ja-JP" dirty="0" err="1" smtClean="0"/>
              <a:t>FbxCluster</a:t>
            </a:r>
            <a:r>
              <a:rPr kumimoji="1" lang="ja-JP" altLang="en-US" dirty="0" smtClean="0"/>
              <a:t>の数。</a:t>
            </a:r>
            <a:endParaRPr kumimoji="1" lang="ja-JP" altLang="en-US" dirty="0"/>
          </a:p>
        </p:txBody>
      </p:sp>
      <p:sp>
        <p:nvSpPr>
          <p:cNvPr id="38" name="角丸四角形 37"/>
          <p:cNvSpPr/>
          <p:nvPr/>
        </p:nvSpPr>
        <p:spPr>
          <a:xfrm>
            <a:off x="8745525" y="5333821"/>
            <a:ext cx="1875139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endParaRPr kumimoji="1" lang="ja-JP" altLang="en-US" dirty="0"/>
          </a:p>
        </p:txBody>
      </p:sp>
      <p:cxnSp>
        <p:nvCxnSpPr>
          <p:cNvPr id="39" name="曲線コネクタ 13"/>
          <p:cNvCxnSpPr>
            <a:stCxn id="11" idx="3"/>
            <a:endCxn id="38" idx="1"/>
          </p:cNvCxnSpPr>
          <p:nvPr/>
        </p:nvCxnSpPr>
        <p:spPr>
          <a:xfrm>
            <a:off x="8111876" y="4016120"/>
            <a:ext cx="633649" cy="150623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角丸四角形吹き出し 41"/>
          <p:cNvSpPr/>
          <p:nvPr/>
        </p:nvSpPr>
        <p:spPr>
          <a:xfrm>
            <a:off x="733008" y="5161417"/>
            <a:ext cx="6134582" cy="1129443"/>
          </a:xfrm>
          <a:prstGeom prst="wedgeRoundRectCallout">
            <a:avLst>
              <a:gd name="adj1" fmla="val 36771"/>
              <a:gd name="adj2" fmla="val -138346"/>
              <a:gd name="adj3" fmla="val 16667"/>
            </a:avLst>
          </a:prstGeom>
          <a:noFill/>
          <a:ln w="38100">
            <a:solidFill>
              <a:srgbClr val="92D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GetDeformerCount</a:t>
            </a:r>
            <a:r>
              <a:rPr lang="en-US" altLang="ja-JP" dirty="0"/>
              <a:t>(</a:t>
            </a:r>
            <a:r>
              <a:rPr lang="en-US" altLang="ja-JP" dirty="0" err="1"/>
              <a:t>FbxDeformer</a:t>
            </a:r>
            <a:r>
              <a:rPr lang="en-US" altLang="ja-JP" dirty="0"/>
              <a:t>::</a:t>
            </a:r>
            <a:r>
              <a:rPr lang="en-US" altLang="ja-JP" dirty="0" err="1"/>
              <a:t>eSkin</a:t>
            </a:r>
            <a:r>
              <a:rPr lang="en-US" altLang="ja-JP" dirty="0" smtClean="0"/>
              <a:t>)</a:t>
            </a:r>
          </a:p>
          <a:p>
            <a:pPr algn="ctr"/>
            <a:endParaRPr kumimoji="1" lang="en-US" altLang="ja-JP" dirty="0" smtClean="0"/>
          </a:p>
          <a:p>
            <a:pPr algn="ctr"/>
            <a:r>
              <a:rPr lang="en-US" altLang="ja-JP" dirty="0" err="1" smtClean="0"/>
              <a:t>GetDeformer</a:t>
            </a:r>
            <a:r>
              <a:rPr lang="en-US" altLang="ja-JP" dirty="0" smtClean="0"/>
              <a:t>(</a:t>
            </a:r>
            <a:r>
              <a:rPr lang="en-US" altLang="ja-JP" dirty="0" err="1" smtClean="0"/>
              <a:t>index_of_deformer</a:t>
            </a:r>
            <a:r>
              <a:rPr lang="en-US" altLang="ja-JP" dirty="0"/>
              <a:t>, </a:t>
            </a:r>
            <a:r>
              <a:rPr lang="en-US" altLang="ja-JP" dirty="0" err="1"/>
              <a:t>FbxDeformer</a:t>
            </a:r>
            <a:r>
              <a:rPr lang="en-US" altLang="ja-JP" dirty="0"/>
              <a:t>::</a:t>
            </a:r>
            <a:r>
              <a:rPr lang="en-US" altLang="ja-JP" dirty="0" err="1"/>
              <a:t>eSkin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43" name="角丸四角形吹き出し 42"/>
          <p:cNvSpPr/>
          <p:nvPr/>
        </p:nvSpPr>
        <p:spPr>
          <a:xfrm>
            <a:off x="8019277" y="6098752"/>
            <a:ext cx="3067291" cy="553048"/>
          </a:xfrm>
          <a:prstGeom prst="wedgeRoundRectCallout">
            <a:avLst>
              <a:gd name="adj1" fmla="val 12619"/>
              <a:gd name="adj2" fmla="val -104743"/>
              <a:gd name="adj3" fmla="val 16667"/>
            </a:avLst>
          </a:prstGeom>
          <a:noFill/>
          <a:ln w="38100">
            <a:solidFill>
              <a:srgbClr val="92D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GetControlPointWeights</a:t>
            </a:r>
            <a:r>
              <a:rPr lang="en-US" altLang="ja-JP" dirty="0" smtClean="0"/>
              <a:t>()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28477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ãã¹ã­ãã³ã°ãã®ç»åæ¤ç´¢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56" y="1843127"/>
            <a:ext cx="3848100" cy="49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下図の場合で考えてみる</a:t>
            </a:r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 rot="20755940">
            <a:off x="6100762" y="3893826"/>
            <a:ext cx="445626" cy="717631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100000">
                <a:srgbClr val="FF0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3819115" y="3924016"/>
            <a:ext cx="2372810" cy="7176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 rot="19734160">
            <a:off x="6206751" y="3287627"/>
            <a:ext cx="2372810" cy="7176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17"/>
          <p:cNvSpPr/>
          <p:nvPr/>
        </p:nvSpPr>
        <p:spPr>
          <a:xfrm rot="5400000">
            <a:off x="4855412" y="3099348"/>
            <a:ext cx="318303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18"/>
          <p:cNvSpPr/>
          <p:nvPr/>
        </p:nvSpPr>
        <p:spPr>
          <a:xfrm rot="3526426">
            <a:off x="7132278" y="2522932"/>
            <a:ext cx="308032" cy="2372810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/>
          <p:cNvSpPr/>
          <p:nvPr/>
        </p:nvSpPr>
        <p:spPr>
          <a:xfrm>
            <a:off x="7666233" y="3728073"/>
            <a:ext cx="195943" cy="195943"/>
          </a:xfrm>
          <a:prstGeom prst="ellipse">
            <a:avLst/>
          </a:prstGeom>
          <a:solidFill>
            <a:srgbClr val="080808"/>
          </a:solidFill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648576" y="3981689"/>
            <a:ext cx="37341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0</a:t>
            </a:r>
            <a:endParaRPr kumimoji="1" lang="en-US" altLang="ja-JP" sz="3200" dirty="0" smtClean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671875" y="3295824"/>
            <a:ext cx="37341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3200" dirty="0" smtClean="0"/>
              <a:t>1</a:t>
            </a:r>
          </a:p>
        </p:txBody>
      </p:sp>
      <p:sp>
        <p:nvSpPr>
          <p:cNvPr id="25" name="楕円 24"/>
          <p:cNvSpPr/>
          <p:nvPr/>
        </p:nvSpPr>
        <p:spPr>
          <a:xfrm>
            <a:off x="6210208" y="4496336"/>
            <a:ext cx="195943" cy="195943"/>
          </a:xfrm>
          <a:prstGeom prst="ellipse">
            <a:avLst/>
          </a:prstGeom>
          <a:solidFill>
            <a:srgbClr val="080808"/>
          </a:solidFill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角丸四角形吹き出し 25"/>
          <p:cNvSpPr/>
          <p:nvPr/>
        </p:nvSpPr>
        <p:spPr>
          <a:xfrm>
            <a:off x="2476489" y="6059154"/>
            <a:ext cx="1939391" cy="583683"/>
          </a:xfrm>
          <a:prstGeom prst="wedgeRoundRectCallout">
            <a:avLst>
              <a:gd name="adj1" fmla="val -40508"/>
              <a:gd name="adj2" fmla="val -102643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 smtClean="0"/>
              <a:t>ボーン数</a:t>
            </a:r>
            <a:r>
              <a:rPr kumimoji="1" lang="ja-JP" altLang="en-US" dirty="0" smtClean="0"/>
              <a:t>２１本</a:t>
            </a:r>
            <a:endParaRPr kumimoji="1" lang="ja-JP" altLang="en-US" dirty="0"/>
          </a:p>
        </p:txBody>
      </p:sp>
      <p:sp>
        <p:nvSpPr>
          <p:cNvPr id="27" name="角丸四角形吹き出し 26"/>
          <p:cNvSpPr/>
          <p:nvPr/>
        </p:nvSpPr>
        <p:spPr>
          <a:xfrm>
            <a:off x="8888655" y="917582"/>
            <a:ext cx="2693745" cy="787864"/>
          </a:xfrm>
          <a:prstGeom prst="wedgeRoundRectCallout">
            <a:avLst>
              <a:gd name="adj1" fmla="val 30740"/>
              <a:gd name="adj2" fmla="val 81041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err="1" smtClean="0"/>
              <a:t>FbxCluster</a:t>
            </a:r>
            <a:r>
              <a:rPr kumimoji="1" lang="ja-JP" altLang="en-US" dirty="0" smtClean="0"/>
              <a:t>が</a:t>
            </a:r>
            <a:r>
              <a:rPr kumimoji="1" lang="en-US" altLang="ja-JP" dirty="0" smtClean="0"/>
              <a:t>21</a:t>
            </a:r>
            <a:r>
              <a:rPr kumimoji="1" lang="ja-JP" altLang="en-US" dirty="0" smtClean="0"/>
              <a:t>個ある</a:t>
            </a:r>
            <a:endParaRPr kumimoji="1" lang="ja-JP" altLang="en-US" dirty="0"/>
          </a:p>
        </p:txBody>
      </p:sp>
      <p:sp>
        <p:nvSpPr>
          <p:cNvPr id="29" name="角丸四角形 28"/>
          <p:cNvSpPr/>
          <p:nvPr/>
        </p:nvSpPr>
        <p:spPr>
          <a:xfrm>
            <a:off x="2451965" y="2003951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30" name="角丸四角形 29"/>
          <p:cNvSpPr/>
          <p:nvPr/>
        </p:nvSpPr>
        <p:spPr>
          <a:xfrm>
            <a:off x="4755339" y="2009029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31" name="曲線コネクタ 13"/>
          <p:cNvCxnSpPr>
            <a:stCxn id="29" idx="3"/>
            <a:endCxn id="30" idx="1"/>
          </p:cNvCxnSpPr>
          <p:nvPr/>
        </p:nvCxnSpPr>
        <p:spPr>
          <a:xfrm>
            <a:off x="4327104" y="2192487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角丸四角形 31"/>
          <p:cNvSpPr/>
          <p:nvPr/>
        </p:nvSpPr>
        <p:spPr>
          <a:xfrm>
            <a:off x="7058713" y="2003951"/>
            <a:ext cx="1875139" cy="37707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33" name="曲線コネクタ 13"/>
          <p:cNvCxnSpPr>
            <a:stCxn id="30" idx="3"/>
            <a:endCxn id="32" idx="1"/>
          </p:cNvCxnSpPr>
          <p:nvPr/>
        </p:nvCxnSpPr>
        <p:spPr>
          <a:xfrm flipV="1">
            <a:off x="6630478" y="2192487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9567501" y="2003951"/>
            <a:ext cx="2269407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r>
              <a:rPr kumimoji="1" lang="ja-JP" altLang="en-US" dirty="0" smtClean="0"/>
              <a:t>（上腕）</a:t>
            </a:r>
            <a:endParaRPr kumimoji="1" lang="ja-JP" altLang="en-US" dirty="0"/>
          </a:p>
        </p:txBody>
      </p:sp>
      <p:cxnSp>
        <p:nvCxnSpPr>
          <p:cNvPr id="35" name="曲線コネクタ 13"/>
          <p:cNvCxnSpPr>
            <a:stCxn id="32" idx="3"/>
            <a:endCxn id="34" idx="1"/>
          </p:cNvCxnSpPr>
          <p:nvPr/>
        </p:nvCxnSpPr>
        <p:spPr>
          <a:xfrm>
            <a:off x="8933852" y="2192487"/>
            <a:ext cx="633649" cy="12700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角丸四角形 35"/>
          <p:cNvSpPr/>
          <p:nvPr/>
        </p:nvSpPr>
        <p:spPr>
          <a:xfrm>
            <a:off x="9567501" y="2745257"/>
            <a:ext cx="2269407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r>
              <a:rPr kumimoji="1" lang="ja-JP" altLang="en-US" dirty="0" smtClean="0"/>
              <a:t>（前腕）</a:t>
            </a:r>
            <a:endParaRPr kumimoji="1" lang="ja-JP" altLang="en-US" dirty="0"/>
          </a:p>
        </p:txBody>
      </p:sp>
      <p:cxnSp>
        <p:nvCxnSpPr>
          <p:cNvPr id="37" name="曲線コネクタ 13"/>
          <p:cNvCxnSpPr>
            <a:stCxn id="32" idx="3"/>
            <a:endCxn id="36" idx="1"/>
          </p:cNvCxnSpPr>
          <p:nvPr/>
        </p:nvCxnSpPr>
        <p:spPr>
          <a:xfrm>
            <a:off x="8933852" y="2192487"/>
            <a:ext cx="633649" cy="741306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角丸四角形吹き出し 39"/>
          <p:cNvSpPr/>
          <p:nvPr/>
        </p:nvSpPr>
        <p:spPr>
          <a:xfrm>
            <a:off x="404013" y="6051332"/>
            <a:ext cx="1391333" cy="583683"/>
          </a:xfrm>
          <a:prstGeom prst="wedgeRoundRectCallout">
            <a:avLst>
              <a:gd name="adj1" fmla="val 46784"/>
              <a:gd name="adj2" fmla="val -85449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 smtClean="0"/>
              <a:t>１メッシュ</a:t>
            </a:r>
            <a:endParaRPr kumimoji="1" lang="ja-JP" altLang="en-US" dirty="0"/>
          </a:p>
        </p:txBody>
      </p:sp>
      <p:sp>
        <p:nvSpPr>
          <p:cNvPr id="41" name="角丸四角形 40"/>
          <p:cNvSpPr/>
          <p:nvPr/>
        </p:nvSpPr>
        <p:spPr>
          <a:xfrm rot="594525">
            <a:off x="2264508" y="3132493"/>
            <a:ext cx="888054" cy="45938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角丸四角形吹き出し 42"/>
          <p:cNvSpPr/>
          <p:nvPr/>
        </p:nvSpPr>
        <p:spPr>
          <a:xfrm>
            <a:off x="8915515" y="3548595"/>
            <a:ext cx="3039406" cy="1250394"/>
          </a:xfrm>
          <a:prstGeom prst="wedgeRoundRectCallout">
            <a:avLst>
              <a:gd name="adj1" fmla="val -24289"/>
              <a:gd name="adj2" fmla="val -59743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err="1" smtClean="0"/>
              <a:t>FbxCluster</a:t>
            </a:r>
            <a:r>
              <a:rPr kumimoji="1" lang="ja-JP" altLang="en-US" dirty="0" smtClean="0"/>
              <a:t>の中には</a:t>
            </a:r>
            <a:endParaRPr kumimoji="1" lang="en-US" altLang="ja-JP" dirty="0" smtClean="0"/>
          </a:p>
          <a:p>
            <a:r>
              <a:rPr kumimoji="1" lang="ja-JP" altLang="en-US" dirty="0" smtClean="0"/>
              <a:t>頂点影響力</a:t>
            </a:r>
            <a:r>
              <a:rPr kumimoji="1" lang="en-US" altLang="ja-JP" dirty="0" smtClean="0"/>
              <a:t>(Weight)</a:t>
            </a:r>
            <a:r>
              <a:rPr kumimoji="1" lang="ja-JP" altLang="en-US" dirty="0" smtClean="0"/>
              <a:t>と</a:t>
            </a:r>
            <a:endParaRPr kumimoji="1" lang="en-US" altLang="ja-JP" dirty="0" smtClean="0"/>
          </a:p>
          <a:p>
            <a:r>
              <a:rPr kumimoji="1" lang="ja-JP" altLang="en-US" dirty="0" smtClean="0"/>
              <a:t>対応するボーン</a:t>
            </a:r>
            <a:r>
              <a:rPr kumimoji="1" lang="en-US" altLang="ja-JP" dirty="0" smtClean="0"/>
              <a:t>(</a:t>
            </a:r>
            <a:r>
              <a:rPr kumimoji="1" lang="en-US" altLang="ja-JP" dirty="0" err="1" smtClean="0"/>
              <a:t>FbxNode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の参照が詰まっている。</a:t>
            </a:r>
            <a:endParaRPr kumimoji="1" lang="ja-JP" altLang="en-US" dirty="0"/>
          </a:p>
        </p:txBody>
      </p:sp>
      <p:sp>
        <p:nvSpPr>
          <p:cNvPr id="44" name="楕円 43"/>
          <p:cNvSpPr/>
          <p:nvPr/>
        </p:nvSpPr>
        <p:spPr>
          <a:xfrm>
            <a:off x="8093570" y="3513394"/>
            <a:ext cx="195943" cy="195943"/>
          </a:xfrm>
          <a:prstGeom prst="ellipse">
            <a:avLst/>
          </a:prstGeom>
          <a:solidFill>
            <a:srgbClr val="080808"/>
          </a:solidFill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角丸四角形吹き出し 44"/>
          <p:cNvSpPr/>
          <p:nvPr/>
        </p:nvSpPr>
        <p:spPr>
          <a:xfrm>
            <a:off x="4209591" y="3062759"/>
            <a:ext cx="1036394" cy="583683"/>
          </a:xfrm>
          <a:prstGeom prst="wedgeRoundRectCallout">
            <a:avLst>
              <a:gd name="adj1" fmla="val 1455"/>
              <a:gd name="adj2" fmla="val 73122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上腕</a:t>
            </a:r>
            <a:endParaRPr kumimoji="1" lang="ja-JP" altLang="en-US" dirty="0"/>
          </a:p>
        </p:txBody>
      </p:sp>
      <p:sp>
        <p:nvSpPr>
          <p:cNvPr id="46" name="角丸四角形吹き出し 45"/>
          <p:cNvSpPr/>
          <p:nvPr/>
        </p:nvSpPr>
        <p:spPr>
          <a:xfrm>
            <a:off x="5978198" y="2692020"/>
            <a:ext cx="1036394" cy="583683"/>
          </a:xfrm>
          <a:prstGeom prst="wedgeRoundRectCallout">
            <a:avLst>
              <a:gd name="adj1" fmla="val 47721"/>
              <a:gd name="adj2" fmla="val 73122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前腕</a:t>
            </a:r>
            <a:endParaRPr kumimoji="1" lang="ja-JP" altLang="en-US" dirty="0"/>
          </a:p>
        </p:txBody>
      </p:sp>
      <p:sp>
        <p:nvSpPr>
          <p:cNvPr id="47" name="角丸四角形吹き出し 46"/>
          <p:cNvSpPr/>
          <p:nvPr/>
        </p:nvSpPr>
        <p:spPr>
          <a:xfrm>
            <a:off x="6963933" y="5182823"/>
            <a:ext cx="3939837" cy="1509751"/>
          </a:xfrm>
          <a:prstGeom prst="wedgeRoundRectCallout">
            <a:avLst>
              <a:gd name="adj1" fmla="val -10682"/>
              <a:gd name="adj2" fmla="val -49862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 smtClean="0"/>
              <a:t>前腕に影響する頂点が</a:t>
            </a:r>
            <a:r>
              <a:rPr kumimoji="1" lang="en-US" altLang="ja-JP" dirty="0" smtClean="0"/>
              <a:t>1000</a:t>
            </a:r>
            <a:r>
              <a:rPr kumimoji="1" lang="ja-JP" altLang="en-US" dirty="0" smtClean="0"/>
              <a:t>個ある場合は</a:t>
            </a:r>
            <a:r>
              <a:rPr kumimoji="1" lang="en-US" altLang="ja-JP" dirty="0" err="1" smtClean="0"/>
              <a:t>FbxCluster</a:t>
            </a:r>
            <a:r>
              <a:rPr kumimoji="1" lang="ja-JP" altLang="en-US" dirty="0" smtClean="0"/>
              <a:t>の中に</a:t>
            </a:r>
            <a:endParaRPr kumimoji="1" lang="en-US" altLang="ja-JP" dirty="0" smtClean="0"/>
          </a:p>
          <a:p>
            <a:r>
              <a:rPr kumimoji="1" lang="en-US" altLang="ja-JP" dirty="0" smtClean="0"/>
              <a:t>1000</a:t>
            </a:r>
            <a:r>
              <a:rPr kumimoji="1" lang="ja-JP" altLang="en-US" dirty="0" smtClean="0"/>
              <a:t>個の頂点影響力（</a:t>
            </a:r>
            <a:r>
              <a:rPr kumimoji="1" lang="en-US" altLang="ja-JP" dirty="0" smtClean="0"/>
              <a:t>Weight</a:t>
            </a:r>
            <a:r>
              <a:rPr kumimoji="1" lang="ja-JP" altLang="en-US" dirty="0" smtClean="0"/>
              <a:t>）と</a:t>
            </a:r>
            <a:endParaRPr kumimoji="1" lang="en-US" altLang="ja-JP" dirty="0" smtClean="0"/>
          </a:p>
          <a:p>
            <a:r>
              <a:rPr kumimoji="1" lang="ja-JP" altLang="en-US" dirty="0" smtClean="0"/>
              <a:t>前腕ボーン（</a:t>
            </a:r>
            <a:r>
              <a:rPr kumimoji="1" lang="en-US" altLang="ja-JP" dirty="0" err="1" smtClean="0"/>
              <a:t>FbxNode</a:t>
            </a:r>
            <a:r>
              <a:rPr kumimoji="1" lang="ja-JP" altLang="en-US" dirty="0" smtClean="0"/>
              <a:t>）の参照が</a:t>
            </a:r>
            <a:endParaRPr kumimoji="1" lang="en-US" altLang="ja-JP" dirty="0" smtClean="0"/>
          </a:p>
          <a:p>
            <a:r>
              <a:rPr kumimoji="1" lang="ja-JP" altLang="en-US" dirty="0"/>
              <a:t>入って</a:t>
            </a:r>
            <a:r>
              <a:rPr kumimoji="1" lang="ja-JP" altLang="en-US" dirty="0" smtClean="0"/>
              <a:t>いる。</a:t>
            </a:r>
            <a:endParaRPr kumimoji="1" lang="en-US" altLang="ja-JP" dirty="0" smtClean="0"/>
          </a:p>
        </p:txBody>
      </p:sp>
      <p:sp>
        <p:nvSpPr>
          <p:cNvPr id="49" name="角丸四角形吹き出し 48"/>
          <p:cNvSpPr/>
          <p:nvPr/>
        </p:nvSpPr>
        <p:spPr>
          <a:xfrm>
            <a:off x="4928880" y="5053098"/>
            <a:ext cx="1540052" cy="536382"/>
          </a:xfrm>
          <a:prstGeom prst="wedgeRoundRectCallout">
            <a:avLst>
              <a:gd name="adj1" fmla="val 35569"/>
              <a:gd name="adj2" fmla="val -111450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smtClean="0"/>
              <a:t>Weight </a:t>
            </a:r>
            <a:r>
              <a:rPr kumimoji="1" lang="en-US" altLang="ja-JP" dirty="0" smtClean="0"/>
              <a:t>: 0.3</a:t>
            </a:r>
            <a:endParaRPr kumimoji="1" lang="ja-JP" altLang="en-US" dirty="0"/>
          </a:p>
        </p:txBody>
      </p:sp>
      <p:sp>
        <p:nvSpPr>
          <p:cNvPr id="50" name="角丸四角形吹き出し 49"/>
          <p:cNvSpPr/>
          <p:nvPr/>
        </p:nvSpPr>
        <p:spPr>
          <a:xfrm>
            <a:off x="7223192" y="4208025"/>
            <a:ext cx="1540052" cy="536382"/>
          </a:xfrm>
          <a:prstGeom prst="wedgeRoundRectCallout">
            <a:avLst>
              <a:gd name="adj1" fmla="val 15295"/>
              <a:gd name="adj2" fmla="val -134319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smtClean="0"/>
              <a:t>Weight :1.0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110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課題での</a:t>
            </a:r>
            <a:r>
              <a:rPr lang="en-US" altLang="ja-JP" dirty="0" err="1" smtClean="0"/>
              <a:t>skinned_mesh</a:t>
            </a:r>
            <a:r>
              <a:rPr lang="ja-JP" altLang="en-US" dirty="0" smtClean="0"/>
              <a:t>の構造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144966" y="2074127"/>
            <a:ext cx="11931805" cy="46500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横巻き 4"/>
          <p:cNvSpPr/>
          <p:nvPr/>
        </p:nvSpPr>
        <p:spPr>
          <a:xfrm>
            <a:off x="4533063" y="1807323"/>
            <a:ext cx="3056865" cy="778934"/>
          </a:xfrm>
          <a:prstGeom prst="horizontalScroll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 err="1" smtClean="0"/>
              <a:t>skinned_mesh</a:t>
            </a:r>
            <a:endParaRPr kumimoji="1" lang="ja-JP" altLang="en-US" sz="3200" dirty="0"/>
          </a:p>
        </p:txBody>
      </p:sp>
      <p:sp>
        <p:nvSpPr>
          <p:cNvPr id="32" name="フローチャート: 複数書類 31"/>
          <p:cNvSpPr/>
          <p:nvPr/>
        </p:nvSpPr>
        <p:spPr>
          <a:xfrm>
            <a:off x="9268887" y="2690634"/>
            <a:ext cx="2585982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animation</a:t>
            </a:r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</p:txBody>
      </p:sp>
      <p:sp>
        <p:nvSpPr>
          <p:cNvPr id="33" name="フローチャート: 書類 32"/>
          <p:cNvSpPr/>
          <p:nvPr/>
        </p:nvSpPr>
        <p:spPr>
          <a:xfrm>
            <a:off x="353122" y="3323064"/>
            <a:ext cx="1799283" cy="3155796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scene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ja-JP" altLang="en-US" dirty="0"/>
          </a:p>
        </p:txBody>
      </p:sp>
      <p:sp>
        <p:nvSpPr>
          <p:cNvPr id="35" name="フローチャート: 複数書類 34"/>
          <p:cNvSpPr/>
          <p:nvPr/>
        </p:nvSpPr>
        <p:spPr>
          <a:xfrm>
            <a:off x="518871" y="3975410"/>
            <a:ext cx="1450966" cy="194588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node</a:t>
            </a:r>
            <a:endParaRPr kumimoji="1" lang="ja-JP" altLang="en-US" sz="2400" dirty="0"/>
          </a:p>
        </p:txBody>
      </p:sp>
      <p:sp>
        <p:nvSpPr>
          <p:cNvPr id="40" name="フローチャート: 複数書類 39"/>
          <p:cNvSpPr/>
          <p:nvPr/>
        </p:nvSpPr>
        <p:spPr>
          <a:xfrm>
            <a:off x="9491439" y="3997714"/>
            <a:ext cx="1783776" cy="1602814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 smtClean="0"/>
              <a:t>keyframe</a:t>
            </a:r>
            <a:endParaRPr kumimoji="1" lang="ja-JP" altLang="en-US" sz="2400" dirty="0"/>
          </a:p>
        </p:txBody>
      </p:sp>
      <p:sp>
        <p:nvSpPr>
          <p:cNvPr id="48" name="フローチャート: 複数書類 47"/>
          <p:cNvSpPr/>
          <p:nvPr/>
        </p:nvSpPr>
        <p:spPr>
          <a:xfrm>
            <a:off x="2353127" y="2690634"/>
            <a:ext cx="4297447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mesh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0" name="フローチャート: 複数書類 49"/>
          <p:cNvSpPr/>
          <p:nvPr/>
        </p:nvSpPr>
        <p:spPr>
          <a:xfrm>
            <a:off x="253875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vertex</a:t>
            </a:r>
            <a:endParaRPr kumimoji="1" lang="ja-JP" altLang="en-US" sz="2400" dirty="0"/>
          </a:p>
        </p:txBody>
      </p:sp>
      <p:sp>
        <p:nvSpPr>
          <p:cNvPr id="51" name="フローチャート: 複数書類 50"/>
          <p:cNvSpPr/>
          <p:nvPr/>
        </p:nvSpPr>
        <p:spPr>
          <a:xfrm>
            <a:off x="4360566" y="4653801"/>
            <a:ext cx="1516126" cy="1052647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subset</a:t>
            </a:r>
            <a:endParaRPr kumimoji="1" lang="ja-JP" altLang="en-US" sz="2400" dirty="0"/>
          </a:p>
        </p:txBody>
      </p:sp>
      <p:sp>
        <p:nvSpPr>
          <p:cNvPr id="52" name="フローチャート: 複数書類 51"/>
          <p:cNvSpPr/>
          <p:nvPr/>
        </p:nvSpPr>
        <p:spPr>
          <a:xfrm>
            <a:off x="6851296" y="2684459"/>
            <a:ext cx="2195689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material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3" name="フローチャート: 複数書類 52"/>
          <p:cNvSpPr/>
          <p:nvPr/>
        </p:nvSpPr>
        <p:spPr>
          <a:xfrm>
            <a:off x="7037313" y="4946790"/>
            <a:ext cx="1384576" cy="97450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texture</a:t>
            </a:r>
            <a:endParaRPr kumimoji="1" lang="ja-JP" altLang="en-US" sz="2400" dirty="0"/>
          </a:p>
        </p:txBody>
      </p:sp>
      <p:sp>
        <p:nvSpPr>
          <p:cNvPr id="54" name="フローチャート: 書類 53"/>
          <p:cNvSpPr/>
          <p:nvPr/>
        </p:nvSpPr>
        <p:spPr>
          <a:xfrm>
            <a:off x="7037313" y="39977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  <p:sp>
        <p:nvSpPr>
          <p:cNvPr id="56" name="フローチャート: 書類 55"/>
          <p:cNvSpPr/>
          <p:nvPr/>
        </p:nvSpPr>
        <p:spPr>
          <a:xfrm>
            <a:off x="2549491" y="4627404"/>
            <a:ext cx="1498621" cy="1743869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skeleton</a:t>
            </a:r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57" name="フローチャート: 複数書類 56"/>
          <p:cNvSpPr/>
          <p:nvPr/>
        </p:nvSpPr>
        <p:spPr>
          <a:xfrm>
            <a:off x="2681801" y="5124075"/>
            <a:ext cx="1151367" cy="1034562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bone</a:t>
            </a:r>
            <a:endParaRPr kumimoji="1" lang="ja-JP" altLang="en-US" sz="2400" dirty="0"/>
          </a:p>
        </p:txBody>
      </p:sp>
      <p:sp>
        <p:nvSpPr>
          <p:cNvPr id="58" name="フローチャート: 複数書類 57"/>
          <p:cNvSpPr/>
          <p:nvPr/>
        </p:nvSpPr>
        <p:spPr>
          <a:xfrm>
            <a:off x="433636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index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7133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課題での</a:t>
            </a:r>
            <a:r>
              <a:rPr lang="en-US" altLang="ja-JP" dirty="0" err="1" smtClean="0"/>
              <a:t>skinned_mesh</a:t>
            </a:r>
            <a:r>
              <a:rPr lang="ja-JP" altLang="en-US" dirty="0" smtClean="0"/>
              <a:t>の構造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144966" y="2074127"/>
            <a:ext cx="11931805" cy="46500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横巻き 4"/>
          <p:cNvSpPr/>
          <p:nvPr/>
        </p:nvSpPr>
        <p:spPr>
          <a:xfrm>
            <a:off x="4533063" y="1807323"/>
            <a:ext cx="3056865" cy="778934"/>
          </a:xfrm>
          <a:prstGeom prst="horizontalScroll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 err="1" smtClean="0"/>
              <a:t>skinned_mesh</a:t>
            </a:r>
            <a:endParaRPr kumimoji="1" lang="ja-JP" altLang="en-US" sz="3200" dirty="0"/>
          </a:p>
        </p:txBody>
      </p:sp>
      <p:sp>
        <p:nvSpPr>
          <p:cNvPr id="33" name="フローチャート: 書類 32"/>
          <p:cNvSpPr/>
          <p:nvPr/>
        </p:nvSpPr>
        <p:spPr>
          <a:xfrm>
            <a:off x="353122" y="3323064"/>
            <a:ext cx="1799283" cy="3155796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scene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ja-JP" altLang="en-US" dirty="0"/>
          </a:p>
        </p:txBody>
      </p:sp>
      <p:sp>
        <p:nvSpPr>
          <p:cNvPr id="35" name="フローチャート: 複数書類 34"/>
          <p:cNvSpPr/>
          <p:nvPr/>
        </p:nvSpPr>
        <p:spPr>
          <a:xfrm>
            <a:off x="518871" y="3975410"/>
            <a:ext cx="1450966" cy="194588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node</a:t>
            </a:r>
            <a:endParaRPr kumimoji="1" lang="ja-JP" altLang="en-US" sz="2400" dirty="0"/>
          </a:p>
        </p:txBody>
      </p:sp>
      <p:sp>
        <p:nvSpPr>
          <p:cNvPr id="48" name="フローチャート: 複数書類 47"/>
          <p:cNvSpPr/>
          <p:nvPr/>
        </p:nvSpPr>
        <p:spPr>
          <a:xfrm>
            <a:off x="2353127" y="2690634"/>
            <a:ext cx="4297447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mesh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0" name="フローチャート: 複数書類 49"/>
          <p:cNvSpPr/>
          <p:nvPr/>
        </p:nvSpPr>
        <p:spPr>
          <a:xfrm>
            <a:off x="253875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vertex</a:t>
            </a:r>
            <a:endParaRPr kumimoji="1" lang="ja-JP" altLang="en-US" sz="2400" dirty="0"/>
          </a:p>
        </p:txBody>
      </p:sp>
      <p:sp>
        <p:nvSpPr>
          <p:cNvPr id="52" name="フローチャート: 複数書類 51"/>
          <p:cNvSpPr/>
          <p:nvPr/>
        </p:nvSpPr>
        <p:spPr>
          <a:xfrm>
            <a:off x="6851296" y="2684459"/>
            <a:ext cx="2195689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material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3" name="フローチャート: 複数書類 52"/>
          <p:cNvSpPr/>
          <p:nvPr/>
        </p:nvSpPr>
        <p:spPr>
          <a:xfrm>
            <a:off x="7037313" y="4946790"/>
            <a:ext cx="1384576" cy="97450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texture</a:t>
            </a:r>
            <a:endParaRPr kumimoji="1" lang="ja-JP" altLang="en-US" sz="2400" dirty="0"/>
          </a:p>
        </p:txBody>
      </p:sp>
      <p:sp>
        <p:nvSpPr>
          <p:cNvPr id="54" name="フローチャート: 書類 53"/>
          <p:cNvSpPr/>
          <p:nvPr/>
        </p:nvSpPr>
        <p:spPr>
          <a:xfrm>
            <a:off x="7037313" y="39977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  <p:sp>
        <p:nvSpPr>
          <p:cNvPr id="58" name="フローチャート: 複数書類 57"/>
          <p:cNvSpPr/>
          <p:nvPr/>
        </p:nvSpPr>
        <p:spPr>
          <a:xfrm>
            <a:off x="433636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index</a:t>
            </a:r>
            <a:endParaRPr kumimoji="1" lang="ja-JP" altLang="en-US" sz="2400" dirty="0"/>
          </a:p>
        </p:txBody>
      </p:sp>
      <p:sp>
        <p:nvSpPr>
          <p:cNvPr id="18" name="正方形/長方形 17"/>
          <p:cNvSpPr/>
          <p:nvPr/>
        </p:nvSpPr>
        <p:spPr>
          <a:xfrm>
            <a:off x="2442117" y="3689492"/>
            <a:ext cx="1652072" cy="964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形吹き出し 18"/>
          <p:cNvSpPr/>
          <p:nvPr/>
        </p:nvSpPr>
        <p:spPr>
          <a:xfrm>
            <a:off x="281534" y="1941454"/>
            <a:ext cx="3175344" cy="1136285"/>
          </a:xfrm>
          <a:prstGeom prst="wedgeEllipseCallout">
            <a:avLst>
              <a:gd name="adj1" fmla="val 39240"/>
              <a:gd name="adj2" fmla="val 85272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ボーン影響力と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ボーンインデックスを追加する</a:t>
            </a:r>
            <a:endParaRPr kumimoji="1" lang="en-US" altLang="ja-JP" dirty="0" smtClean="0"/>
          </a:p>
        </p:txBody>
      </p:sp>
      <p:sp>
        <p:nvSpPr>
          <p:cNvPr id="16" name="フローチャート: 複数書類 15"/>
          <p:cNvSpPr/>
          <p:nvPr/>
        </p:nvSpPr>
        <p:spPr>
          <a:xfrm>
            <a:off x="4360566" y="4653801"/>
            <a:ext cx="1516126" cy="1052647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subset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5127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頂点影響力を視覚的に確認する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609600" y="1847088"/>
            <a:ext cx="95829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VS_OUT main(</a:t>
            </a:r>
            <a:r>
              <a:rPr lang="en-US" altLang="ja-JP" sz="1600" dirty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float4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pos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: POSITIONfloat4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bone_weights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: WEIGHTS, </a:t>
            </a:r>
            <a:r>
              <a:rPr lang="en-US" altLang="ja-JP" sz="1600" dirty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uint4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bone_indices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: BONES)</a:t>
            </a:r>
          </a:p>
          <a:p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{</a:t>
            </a:r>
          </a:p>
          <a:p>
            <a:r>
              <a:rPr lang="ja-JP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ja-JP" alt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VS_OUT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vout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;</a:t>
            </a:r>
          </a:p>
          <a:p>
            <a:r>
              <a:rPr lang="en-US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float4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influence = { 0, 0, 0, 1 };</a:t>
            </a:r>
          </a:p>
          <a:p>
            <a:r>
              <a:rPr lang="nn-NO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for</a:t>
            </a:r>
            <a:r>
              <a:rPr lang="nn-NO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nn-NO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(</a:t>
            </a:r>
            <a:r>
              <a:rPr lang="nn-NO" altLang="ja-JP" sz="1600" dirty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int</a:t>
            </a:r>
            <a:r>
              <a:rPr lang="nn-NO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i = 0; i &lt; 4; i++)</a:t>
            </a:r>
          </a:p>
          <a:p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{</a:t>
            </a:r>
            <a:endParaRPr lang="en-US" altLang="ja-JP" sz="1600" dirty="0">
              <a:solidFill>
                <a:srgbClr val="000000"/>
              </a:solidFill>
              <a:highlight>
                <a:srgbClr val="FFFFFF"/>
              </a:highlight>
              <a:latin typeface="ＭＳ ゴシック" panose="020B0609070205080204" pitchFamily="49" charset="-128"/>
            </a:endParaRPr>
          </a:p>
          <a:p>
            <a:r>
              <a:rPr lang="en-US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float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weight =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bone_weights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[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i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];</a:t>
            </a:r>
          </a:p>
          <a:p>
            <a:r>
              <a:rPr lang="en-US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if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(weight &gt; 0.0f)</a:t>
            </a:r>
          </a:p>
          <a:p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{</a:t>
            </a:r>
            <a:endParaRPr lang="en-US" altLang="ja-JP" sz="1600" dirty="0">
              <a:solidFill>
                <a:srgbClr val="000000"/>
              </a:solidFill>
              <a:highlight>
                <a:srgbClr val="FFFFFF"/>
              </a:highlight>
              <a:latin typeface="ＭＳ ゴシック" panose="020B0609070205080204" pitchFamily="49" charset="-128"/>
            </a:endParaRPr>
          </a:p>
          <a:p>
            <a:r>
              <a:rPr lang="en-US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    switch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(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bone_indices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[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i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])</a:t>
            </a:r>
          </a:p>
          <a:p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    {</a:t>
            </a:r>
            <a:endParaRPr lang="en-US" altLang="ja-JP" sz="1600" dirty="0">
              <a:solidFill>
                <a:srgbClr val="000000"/>
              </a:solidFill>
              <a:highlight>
                <a:srgbClr val="FFFFFF"/>
              </a:highlight>
              <a:latin typeface="ＭＳ ゴシック" panose="020B0609070205080204" pitchFamily="49" charset="-128"/>
            </a:endParaRPr>
          </a:p>
          <a:p>
            <a:r>
              <a:rPr lang="en-US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        case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0: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influence.r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= weight; </a:t>
            </a:r>
            <a:r>
              <a:rPr lang="en-US" altLang="ja-JP" sz="1600" dirty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break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;</a:t>
            </a:r>
          </a:p>
          <a:p>
            <a:r>
              <a:rPr lang="en-US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        case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1: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influence.g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= weight; </a:t>
            </a:r>
            <a:r>
              <a:rPr lang="en-US" altLang="ja-JP" sz="1600" dirty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break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;</a:t>
            </a:r>
          </a:p>
          <a:p>
            <a:r>
              <a:rPr lang="en-US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        case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2: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influence.b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= weight; </a:t>
            </a:r>
            <a:r>
              <a:rPr lang="en-US" altLang="ja-JP" sz="1600" dirty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break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;</a:t>
            </a:r>
          </a:p>
          <a:p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    }</a:t>
            </a:r>
            <a:endParaRPr lang="en-US" altLang="ja-JP" sz="1600" dirty="0">
              <a:solidFill>
                <a:srgbClr val="000000"/>
              </a:solidFill>
              <a:highlight>
                <a:srgbClr val="FFFFFF"/>
              </a:highlight>
              <a:latin typeface="ＭＳ ゴシック" panose="020B0609070205080204" pitchFamily="49" charset="-128"/>
            </a:endParaRPr>
          </a:p>
          <a:p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    }</a:t>
            </a:r>
            <a:endParaRPr lang="en-US" altLang="ja-JP" sz="1600" dirty="0">
              <a:solidFill>
                <a:srgbClr val="000000"/>
              </a:solidFill>
              <a:highlight>
                <a:srgbClr val="FFFFFF"/>
              </a:highlight>
              <a:latin typeface="ＭＳ ゴシック" panose="020B0609070205080204" pitchFamily="49" charset="-128"/>
            </a:endParaRPr>
          </a:p>
          <a:p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}</a:t>
            </a:r>
            <a:endParaRPr lang="en-US" altLang="ja-JP" sz="1600" dirty="0">
              <a:solidFill>
                <a:srgbClr val="000000"/>
              </a:solidFill>
              <a:highlight>
                <a:srgbClr val="FFFFFF"/>
              </a:highlight>
              <a:latin typeface="ＭＳ ゴシック" panose="020B0609070205080204" pitchFamily="49" charset="-128"/>
            </a:endParaRPr>
          </a:p>
          <a:p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</a:t>
            </a:r>
            <a:r>
              <a:rPr lang="en-US" altLang="ja-JP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vout.color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= influence;</a:t>
            </a:r>
          </a:p>
          <a:p>
            <a:r>
              <a:rPr lang="en-US" altLang="ja-JP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   return</a:t>
            </a:r>
            <a:r>
              <a:rPr lang="en-US" altLang="ja-JP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 </a:t>
            </a:r>
            <a:r>
              <a:rPr lang="en-US" altLang="ja-JP" sz="1600" dirty="0" err="1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vout</a:t>
            </a:r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;</a:t>
            </a:r>
          </a:p>
          <a:p>
            <a:r>
              <a:rPr lang="en-US" altLang="ja-JP" sz="1600" dirty="0">
                <a:solidFill>
                  <a:srgbClr val="000000"/>
                </a:solidFill>
                <a:highlight>
                  <a:srgbClr val="FFFFFF"/>
                </a:highlight>
                <a:latin typeface="ＭＳ ゴシック" panose="020B0609070205080204" pitchFamily="49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926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実習内容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FbxMesh</a:t>
            </a:r>
            <a:r>
              <a:rPr kumimoji="1" lang="ja-JP" altLang="en-US" dirty="0" smtClean="0"/>
              <a:t>からボーン影響力の頂点データを取り出す。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頂点シェーダーでボーン影響力を可視化する。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641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2495</TotalTime>
  <Words>517</Words>
  <Application>Microsoft Office PowerPoint</Application>
  <PresentationFormat>ワイド画面</PresentationFormat>
  <Paragraphs>190</Paragraphs>
  <Slides>14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Meiryo UI</vt:lpstr>
      <vt:lpstr>ＭＳ ゴシック</vt:lpstr>
      <vt:lpstr>ＭＳ 明朝</vt:lpstr>
      <vt:lpstr>Palatino Linotype</vt:lpstr>
      <vt:lpstr>Wingdings 2</vt:lpstr>
      <vt:lpstr>ブレーンストーミングのプレゼンテーション</vt:lpstr>
      <vt:lpstr>描画エンジン開発Ⅲ・Ⅳ</vt:lpstr>
      <vt:lpstr>授業内容</vt:lpstr>
      <vt:lpstr>実行結果</vt:lpstr>
      <vt:lpstr>３Dキャラクターモデルの構造</vt:lpstr>
      <vt:lpstr>スキニングするために必要なデータ</vt:lpstr>
      <vt:lpstr>頂点ごとのボーン影響力を確認する。</vt:lpstr>
      <vt:lpstr>FBXの全体的な構造</vt:lpstr>
      <vt:lpstr>FBXの全体的な構造</vt:lpstr>
      <vt:lpstr>FBXからボーン影響力データを取り出す</vt:lpstr>
      <vt:lpstr>下図の場合で考えてみる</vt:lpstr>
      <vt:lpstr>課題でのskinned_meshの構造</vt:lpstr>
      <vt:lpstr>課題でのskinned_meshの構造</vt:lpstr>
      <vt:lpstr>頂点影響力を視覚的に確認する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129</cp:revision>
  <dcterms:created xsi:type="dcterms:W3CDTF">2019-03-17T05:51:21Z</dcterms:created>
  <dcterms:modified xsi:type="dcterms:W3CDTF">2021-10-22T04:03:28Z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