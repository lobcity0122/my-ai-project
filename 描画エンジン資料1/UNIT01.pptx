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6"/>
  </p:notesMasterIdLst>
  <p:handoutMasterIdLst>
    <p:handoutMasterId r:id="rId27"/>
  </p:handoutMasterIdLst>
  <p:sldIdLst>
    <p:sldId id="272" r:id="rId2"/>
    <p:sldId id="299" r:id="rId3"/>
    <p:sldId id="290" r:id="rId4"/>
    <p:sldId id="273" r:id="rId5"/>
    <p:sldId id="292" r:id="rId6"/>
    <p:sldId id="280" r:id="rId7"/>
    <p:sldId id="274" r:id="rId8"/>
    <p:sldId id="275" r:id="rId9"/>
    <p:sldId id="293" r:id="rId10"/>
    <p:sldId id="281" r:id="rId11"/>
    <p:sldId id="284" r:id="rId12"/>
    <p:sldId id="282" r:id="rId13"/>
    <p:sldId id="277" r:id="rId14"/>
    <p:sldId id="288" r:id="rId15"/>
    <p:sldId id="286" r:id="rId16"/>
    <p:sldId id="285" r:id="rId17"/>
    <p:sldId id="279" r:id="rId18"/>
    <p:sldId id="287" r:id="rId19"/>
    <p:sldId id="294" r:id="rId20"/>
    <p:sldId id="295" r:id="rId21"/>
    <p:sldId id="296" r:id="rId22"/>
    <p:sldId id="297" r:id="rId23"/>
    <p:sldId id="298" r:id="rId24"/>
    <p:sldId id="276" r:id="rId25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CCC00"/>
    <a:srgbClr val="FFFF00"/>
    <a:srgbClr val="FF66FF"/>
    <a:srgbClr val="FFB9B9"/>
    <a:srgbClr val="F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8" autoAdjust="0"/>
    <p:restoredTop sz="75270" autoAdjust="0"/>
  </p:normalViewPr>
  <p:slideViewPr>
    <p:cSldViewPr snapToGrid="0">
      <p:cViewPr varScale="1">
        <p:scale>
          <a:sx n="58" d="100"/>
          <a:sy n="58" d="100"/>
        </p:scale>
        <p:origin x="118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14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DA88A-700E-4959-AD05-3C421866BDC6}" type="datetime4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2021年3月3日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9A4F4-89FA-4551-A9F4-ECDBD52C06D6}" type="slidenum">
              <a:rPr kumimoji="1"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4810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ECA54F6-A409-4052-BA8C-D33E3AF8AD29}" type="datetime4">
              <a:rPr lang="ja-JP" altLang="en-US" smtClean="0"/>
              <a:pPr/>
              <a:t>2021年3月3日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93B0CF2-7F87-4E02-A248-870047730F99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635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8244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実際にこれらのゲーム機では</a:t>
            </a:r>
            <a:r>
              <a:rPr kumimoji="1"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DirectX</a:t>
            </a:r>
            <a:r>
              <a:rPr kumimoji="1"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ではなく、各ハードに特化した</a:t>
            </a:r>
            <a:r>
              <a:rPr kumimoji="1"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  <a:r>
              <a:rPr kumimoji="1"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が用意されていて、</a:t>
            </a:r>
            <a:endParaRPr kumimoji="1" lang="en-US" altLang="ja-JP" dirty="0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ゲーム会社ではプラットフォームに意識せずに開発するためのマルチプラットフォームライブラリを自社開発するか、</a:t>
            </a:r>
            <a:endParaRPr kumimoji="1" lang="en-US" altLang="ja-JP" dirty="0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Unity</a:t>
            </a:r>
            <a:r>
              <a:rPr kumimoji="1"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や</a:t>
            </a:r>
            <a:r>
              <a:rPr kumimoji="1"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UE4</a:t>
            </a:r>
            <a:r>
              <a:rPr kumimoji="1"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などのゲームエンジンを利用するなどして開発しています。</a:t>
            </a:r>
            <a:endParaRPr kumimoji="1" lang="en-US" altLang="ja-JP" dirty="0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dirty="0" smtClean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やる気のある学生は</a:t>
            </a:r>
            <a:r>
              <a:rPr kumimoji="1"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DirectX11</a:t>
            </a:r>
            <a:r>
              <a:rPr kumimoji="1"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と</a:t>
            </a:r>
            <a:r>
              <a:rPr kumimoji="1"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DirectX12</a:t>
            </a:r>
            <a:r>
              <a:rPr kumimoji="1"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どちらでも動く自作描画エンジンを作ってみてもいいかも。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8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3582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9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3940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6760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17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4907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18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17199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19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18632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20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72739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21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9400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22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6694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23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6982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24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8453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長方形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cxnSp>
          <p:nvCxnSpPr>
            <p:cNvPr id="7" name="直線​​コネクタ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直線​​コネクタ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タイトル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17" name="サブタイトル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ja-JP" altLang="en-US" noProof="0" smtClean="0"/>
              <a:t>マスター サブタイトルの書式設定</a:t>
            </a:r>
            <a:endParaRPr kumimoji="0" lang="ja-JP" altLang="en-US" noProof="0" dirty="0"/>
          </a:p>
        </p:txBody>
      </p:sp>
      <p:sp>
        <p:nvSpPr>
          <p:cNvPr id="30" name="日付プレースホルダー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D9F5B4-D2B9-4671-9B63-0110E6386A4E}" type="datetime4">
              <a:rPr lang="ja-JP" altLang="en-US" smtClean="0"/>
              <a:t>2021年3月3日</a:t>
            </a:fld>
            <a:endParaRPr lang="en-US" dirty="0"/>
          </a:p>
        </p:txBody>
      </p:sp>
      <p:sp>
        <p:nvSpPr>
          <p:cNvPr id="19" name="フッター プレースホルダー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27" name="スライド番号プレースホルダー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0C11D6-D226-45B1-8AA5-91C501F3B0E7}" type="datetime4">
              <a:rPr lang="ja-JP" altLang="en-US" smtClean="0"/>
              <a:t>2021年3月3日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400AA1-06A4-444F-94EA-80BA16484187}" type="datetime4">
              <a:rPr lang="ja-JP" altLang="en-US" smtClean="0"/>
              <a:t>2021年3月3日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38B790-6ACD-441F-B06D-4917F8B429D2}" type="datetime4">
              <a:rPr lang="ja-JP" altLang="en-US" smtClean="0"/>
              <a:t>2021年3月3日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ja-JP" altLang="en-US" smtClean="0"/>
              <a:t>マスター タイトルの書式設定</a:t>
            </a:r>
            <a:endParaRPr kumimoji="0"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296CEC-F0EC-4499-B406-555829E93D38}" type="datetime4">
              <a:rPr lang="ja-JP" altLang="en-US" smtClean="0"/>
              <a:t>2021年3月3日</a:t>
            </a:fld>
            <a:endParaRPr 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" dirty="0"/>
              <a:t>フッターを追加</a:t>
            </a:r>
            <a:endParaRPr 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C8EE4A-0564-4F19-AF56-1B86A81857A1}" type="datetime4">
              <a:rPr lang="ja-JP" altLang="en-US" smtClean="0"/>
              <a:t>2021年3月3日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D0A0B1-5389-4168-8C71-456999E01C6A}" type="datetime4">
              <a:rPr lang="ja-JP" altLang="en-US" smtClean="0"/>
              <a:t>2021年3月3日</a:t>
            </a:fld>
            <a:endParaRPr 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FAF4E1-8E5B-454D-966C-37225B9702A6}" type="datetime4">
              <a:rPr lang="ja-JP" altLang="en-US" smtClean="0"/>
              <a:t>2021年3月3日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キャプション付きの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つの角を切り取って丸めた四角形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図プレースホルダー 2" descr="画像を追加する空のプレースホルダー。プレースホルダーをクリックし、追加する画像を選択します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ja-JP" altLang="en-US" noProof="0" smtClean="0"/>
              <a:t>図を追加</a:t>
            </a:r>
            <a:endParaRPr kumimoji="0"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A228A8-1DDA-4C9E-B7BB-B3D4A4576159}" type="datetime4">
              <a:rPr lang="ja-JP" altLang="en-US" smtClean="0"/>
              <a:t>2021年3月3日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  <p:sp>
        <p:nvSpPr>
          <p:cNvPr id="10" name="フリーフォーム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フリーフォーム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89D195-22A8-4E03-A4C1-FF558F7B427F}" type="datetime4">
              <a:rPr lang="ja-JP" altLang="en-US" smtClean="0"/>
              <a:t>2021年3月3日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9B777F-2BA6-42C0-83EF-2CC97DD0D6E7}" type="datetime4">
              <a:rPr lang="ja-JP" altLang="en-US" smtClean="0"/>
              <a:t>2021年3月3日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長方形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grpSp>
          <p:nvGrpSpPr>
            <p:cNvPr id="27" name="グループ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フリーフォーム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フリーフォーム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グループ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フリーフォーム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  <p:sp>
              <p:nvSpPr>
                <p:cNvPr id="33" name="フリーフォーム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</p:grpSp>
        </p:grpSp>
      </p:grpSp>
      <p:sp>
        <p:nvSpPr>
          <p:cNvPr id="9" name="タイトル プレースホルダー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ja-JP" altLang="en-US" noProof="0" dirty="0"/>
              <a:t>クリックしてマスター タイトルのスタイルを編集</a:t>
            </a:r>
            <a:endParaRPr kumimoji="0" lang="ja-JP" altLang="en-US" noProof="0" dirty="0"/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43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ja-JP" altLang="en-US" noProof="0" dirty="0" smtClean="0"/>
              <a:t>クリックしてマスター テキストのスタイルを編集</a:t>
            </a:r>
          </a:p>
          <a:p>
            <a:pPr lvl="1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2 </a:t>
            </a:r>
            <a:r>
              <a:rPr lang="ja-JP" altLang="en-US" noProof="0" dirty="0" smtClean="0"/>
              <a:t>レベル</a:t>
            </a:r>
          </a:p>
          <a:p>
            <a:pPr lvl="2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3 </a:t>
            </a:r>
            <a:r>
              <a:rPr lang="ja-JP" altLang="en-US" noProof="0" dirty="0" smtClean="0"/>
              <a:t>レベル</a:t>
            </a:r>
          </a:p>
          <a:p>
            <a:pPr lvl="3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4 </a:t>
            </a:r>
            <a:r>
              <a:rPr lang="ja-JP" altLang="en-US" noProof="0" dirty="0" smtClean="0"/>
              <a:t>レベル</a:t>
            </a:r>
          </a:p>
          <a:p>
            <a:pPr lvl="4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5 </a:t>
            </a:r>
            <a:r>
              <a:rPr lang="ja-JP" altLang="en-US" noProof="0" dirty="0" smtClean="0"/>
              <a:t>レベル</a:t>
            </a:r>
            <a:endParaRPr lang="ja-JP" altLang="en-US" noProof="0" dirty="0"/>
          </a:p>
        </p:txBody>
      </p:sp>
      <p:sp>
        <p:nvSpPr>
          <p:cNvPr id="10" name="日付プレースホルダー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196E8732-2B4B-4F0A-8362-53F7A7DF2931}" type="datetime4">
              <a:rPr lang="ja-JP" altLang="en-US" smtClean="0"/>
              <a:t>2021年3月3日</a:t>
            </a:fld>
            <a:endParaRPr lang="en-US" dirty="0"/>
          </a:p>
        </p:txBody>
      </p:sp>
      <p:sp>
        <p:nvSpPr>
          <p:cNvPr id="22" name="フッター プレースホルダー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r>
              <a:rPr lang="ja-JP" altLang="en-US" noProof="0" dirty="0" smtClean="0"/>
              <a:t>フッターを追加</a:t>
            </a:r>
            <a:endParaRPr lang="ja-JP" altLang="en-US" noProof="0" dirty="0"/>
          </a:p>
        </p:txBody>
      </p:sp>
      <p:sp>
        <p:nvSpPr>
          <p:cNvPr id="18" name="スライド番号プレースホルダー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401CF334-2D5C-4859-84A6-CA7E6E43FAEB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lnSpc>
          <a:spcPct val="80000"/>
        </a:lnSpc>
        <a:spcBef>
          <a:spcPct val="0"/>
        </a:spcBef>
        <a:buNone/>
        <a:defRPr kumimoji="1" sz="5000" b="0" kern="1200">
          <a:ln>
            <a:noFill/>
          </a:ln>
          <a:solidFill>
            <a:schemeClr val="tx2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1" sz="26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1" sz="24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1" sz="21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1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描画エンジン</a:t>
            </a:r>
            <a:r>
              <a:rPr lang="ja-JP" altLang="en-US" dirty="0"/>
              <a:t>開発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Ⅰ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Ⅱ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サブタイトル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ja-JP" dirty="0" smtClean="0"/>
              <a:t>UNIT01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はじめに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ja-JP" altLang="en-US" dirty="0" smtClean="0"/>
              <a:t>配布されている</a:t>
            </a:r>
            <a:r>
              <a:rPr kumimoji="1" lang="en-US" altLang="ja-JP" dirty="0" smtClean="0"/>
              <a:t>.pdf</a:t>
            </a:r>
            <a:r>
              <a:rPr kumimoji="1" lang="ja-JP" altLang="en-US" dirty="0" smtClean="0"/>
              <a:t>ファイルをもとに実習を進めてください。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lang="ja-JP" altLang="en-US" dirty="0"/>
              <a:t>難易度</a:t>
            </a:r>
            <a:r>
              <a:rPr lang="ja-JP" altLang="en-US" dirty="0" smtClean="0"/>
              <a:t>の高い科目ですが、なるべく自分で調べる努力をしてください。</a:t>
            </a:r>
            <a:endParaRPr lang="en-US" altLang="ja-JP" dirty="0" smtClean="0"/>
          </a:p>
          <a:p>
            <a:endParaRPr kumimoji="1" lang="en-US" altLang="ja-JP" dirty="0"/>
          </a:p>
          <a:p>
            <a:r>
              <a:rPr lang="ja-JP" altLang="en-US" dirty="0" smtClean="0"/>
              <a:t>このスライドはイメージをつけるための講義用の補助資料です。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自分で調べた知識とスライドを照らし合わせてイメージを固めてください。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アニメーションつきのスライドもあるので</a:t>
            </a:r>
            <a:r>
              <a:rPr lang="en-US" altLang="ja-JP" dirty="0" smtClean="0"/>
              <a:t>F5</a:t>
            </a:r>
            <a:r>
              <a:rPr lang="ja-JP" altLang="en-US" dirty="0" smtClean="0"/>
              <a:t>で実行して見てください。</a:t>
            </a:r>
            <a:endParaRPr lang="en-US" altLang="ja-JP" dirty="0" smtClean="0"/>
          </a:p>
          <a:p>
            <a:endParaRPr kumimoji="1" lang="en-US" altLang="ja-JP" dirty="0"/>
          </a:p>
          <a:p>
            <a:r>
              <a:rPr kumimoji="1" lang="ja-JP" altLang="en-US" dirty="0" smtClean="0"/>
              <a:t>調べてもわからない箇所も多いでしょうが、手探りでもやってみてください。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始めはわからなくても、やってるうちに理解できるようになります。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43302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楕円 4"/>
          <p:cNvSpPr/>
          <p:nvPr/>
        </p:nvSpPr>
        <p:spPr>
          <a:xfrm>
            <a:off x="3117757" y="4612048"/>
            <a:ext cx="3310359" cy="1400537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システム班</a:t>
            </a:r>
            <a:endParaRPr kumimoji="1" lang="ja-JP" alt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楕円 6"/>
          <p:cNvSpPr/>
          <p:nvPr/>
        </p:nvSpPr>
        <p:spPr>
          <a:xfrm>
            <a:off x="6679634" y="4018191"/>
            <a:ext cx="2807324" cy="118771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ツール班</a:t>
            </a:r>
            <a:endParaRPr kumimoji="1" lang="ja-JP" alt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楕円 7"/>
          <p:cNvSpPr/>
          <p:nvPr/>
        </p:nvSpPr>
        <p:spPr>
          <a:xfrm>
            <a:off x="3293305" y="1504129"/>
            <a:ext cx="4789991" cy="202653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ゲーム</a:t>
            </a:r>
            <a:r>
              <a:rPr kumimoji="1" lang="ja-JP" altLang="en-US" sz="32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班</a:t>
            </a:r>
            <a:endParaRPr kumimoji="1" lang="ja-JP" alt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372810" y="3808071"/>
            <a:ext cx="7407798" cy="256957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977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授業</a:t>
            </a:r>
            <a:r>
              <a:rPr lang="ja-JP" altLang="en-US" dirty="0"/>
              <a:t>内容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描画エンジン制作</a:t>
            </a:r>
            <a:r>
              <a:rPr lang="en-US" altLang="ja-JP" dirty="0" smtClean="0"/>
              <a:t>Ⅰ</a:t>
            </a:r>
            <a:r>
              <a:rPr lang="ja-JP" altLang="en-US" dirty="0" smtClean="0"/>
              <a:t>・</a:t>
            </a:r>
            <a:r>
              <a:rPr lang="en-US" altLang="ja-JP" dirty="0" smtClean="0"/>
              <a:t>Ⅱ</a:t>
            </a:r>
            <a:r>
              <a:rPr lang="ja-JP" altLang="en-US" dirty="0" smtClean="0"/>
              <a:t>で学習すること</a:t>
            </a:r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/>
          </a:p>
          <a:p>
            <a:pPr rtl="0"/>
            <a: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DirectX</a:t>
            </a:r>
            <a:r>
              <a:rPr lang="ja-JP" altLang="en-US" dirty="0" smtClean="0"/>
              <a:t>について知る</a:t>
            </a:r>
            <a:endParaRPr lang="en-US" altLang="ja-JP" dirty="0" smtClean="0"/>
          </a:p>
          <a:p>
            <a:pPr rtl="0"/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画面全体の色を塗りつぶす。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配布物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en-US" altLang="ja-JP" dirty="0" smtClean="0"/>
              <a:t>\\</a:t>
            </a:r>
            <a:r>
              <a:rPr lang="en-US" altLang="ja-JP" dirty="0"/>
              <a:t>nt22\</a:t>
            </a:r>
            <a:r>
              <a:rPr lang="ja-JP" altLang="en-US" dirty="0"/>
              <a:t>配布</a:t>
            </a:r>
            <a:r>
              <a:rPr lang="en-US" altLang="ja-JP" dirty="0"/>
              <a:t>\GAME_CREATIVE\</a:t>
            </a:r>
            <a:r>
              <a:rPr lang="ja-JP" altLang="en-US" dirty="0"/>
              <a:t>吉野</a:t>
            </a:r>
            <a:r>
              <a:rPr lang="en-US" altLang="ja-JP" dirty="0"/>
              <a:t>\</a:t>
            </a:r>
            <a:r>
              <a:rPr lang="ja-JP" altLang="en-US" dirty="0"/>
              <a:t>描画エンジン</a:t>
            </a:r>
            <a:r>
              <a:rPr lang="ja-JP" altLang="en-US" dirty="0" smtClean="0"/>
              <a:t>開発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974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描画エンジン開発</a:t>
            </a:r>
            <a:r>
              <a:rPr kumimoji="1" lang="en-US" altLang="ja-JP" dirty="0" smtClean="0"/>
              <a:t>Ⅰ</a:t>
            </a:r>
            <a:r>
              <a:rPr kumimoji="1" lang="ja-JP" altLang="en-US" dirty="0" smtClean="0"/>
              <a:t>・</a:t>
            </a:r>
            <a:r>
              <a:rPr kumimoji="1" lang="en-US" altLang="ja-JP" smtClean="0"/>
              <a:t>Ⅱ</a:t>
            </a:r>
            <a:r>
              <a:rPr lang="ja-JP" altLang="en-US" smtClean="0"/>
              <a:t>で</a:t>
            </a:r>
            <a:r>
              <a:rPr lang="ja-JP" altLang="en-US" dirty="0" smtClean="0"/>
              <a:t>学習すること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２Ｄスプライトや３Ｄモデルを表示するための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グラフィックスパイプラインを理解する。</a:t>
            </a:r>
            <a:endParaRPr lang="en-US" altLang="ja-JP" dirty="0" smtClean="0"/>
          </a:p>
          <a:p>
            <a:endParaRPr kumimoji="1" lang="en-US" altLang="ja-JP" dirty="0" smtClean="0"/>
          </a:p>
          <a:p>
            <a:r>
              <a:rPr lang="ja-JP" altLang="en-US" dirty="0" smtClean="0"/>
              <a:t>画像ファイルや３Ｄモデル</a:t>
            </a:r>
            <a:r>
              <a:rPr lang="en-US" altLang="ja-JP" dirty="0" smtClean="0"/>
              <a:t>(</a:t>
            </a:r>
            <a:r>
              <a:rPr lang="en-US" altLang="ja-JP" dirty="0" err="1" smtClean="0"/>
              <a:t>obj</a:t>
            </a:r>
            <a:r>
              <a:rPr lang="en-US" altLang="ja-JP" dirty="0" smtClean="0"/>
              <a:t>)</a:t>
            </a:r>
            <a:r>
              <a:rPr lang="ja-JP" altLang="en-US" dirty="0" smtClean="0"/>
              <a:t>ファイルの読み込みや表示までの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一連の流れを実習する。</a:t>
            </a:r>
            <a:endParaRPr kumimoji="1" lang="en-US" altLang="ja-JP" dirty="0" smtClean="0"/>
          </a:p>
          <a:p>
            <a:endParaRPr kumimoji="1" lang="en-US" altLang="ja-JP" dirty="0"/>
          </a:p>
          <a:p>
            <a:r>
              <a:rPr lang="en-US" altLang="ja-JP" dirty="0"/>
              <a:t>DirectX11</a:t>
            </a:r>
            <a:r>
              <a:rPr lang="ja-JP" altLang="en-US" dirty="0"/>
              <a:t>を使って自作の描画ライブラリを作ります</a:t>
            </a:r>
            <a:r>
              <a:rPr lang="ja-JP" altLang="en-US" dirty="0" smtClean="0"/>
              <a:t>。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→いろいろ改造して就職作品制作に使えるようにしよう。</a:t>
            </a:r>
            <a:endParaRPr lang="en-US" altLang="ja-JP" dirty="0"/>
          </a:p>
          <a:p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32200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DirectX</a:t>
            </a:r>
            <a:r>
              <a:rPr lang="ja-JP" altLang="en-US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について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コンピュータ上で</a:t>
            </a:r>
            <a:r>
              <a:rPr lang="ja-JP" altLang="en-US" dirty="0" smtClean="0"/>
              <a:t>３ＤＣＧを表示するためのＡＰＩのこと。</a:t>
            </a:r>
            <a:endParaRPr lang="en-US" altLang="ja-JP" dirty="0"/>
          </a:p>
          <a:p>
            <a:pPr rtl="0"/>
            <a:endParaRPr lang="en-US" altLang="ja-JP" dirty="0" smtClean="0"/>
          </a:p>
          <a:p>
            <a:pPr rtl="0"/>
            <a:r>
              <a:rPr lang="en-US" altLang="ja-JP" dirty="0" smtClean="0"/>
              <a:t>Microsoft</a:t>
            </a:r>
            <a:r>
              <a:rPr lang="ja-JP" altLang="en-US" dirty="0" smtClean="0"/>
              <a:t>製のゲームや映像処理用のＡＰＩで、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様々なプラットフォームやデバイスで利用されています。</a:t>
            </a:r>
            <a:endParaRPr lang="en-US" altLang="ja-JP" dirty="0" smtClean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DirectX</a:t>
            </a:r>
            <a:r>
              <a:rPr lang="ja-JP" altLang="en-US" dirty="0" err="1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には</a:t>
            </a:r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バージョンがあり、バージョンが上がるごとに表現できることが増えていきます。</a:t>
            </a:r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955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609600" y="704886"/>
            <a:ext cx="10972800" cy="1143000"/>
          </a:xfrm>
        </p:spPr>
        <p:txBody>
          <a:bodyPr rtlCol="0"/>
          <a:lstStyle/>
          <a:p>
            <a:pPr rtl="0"/>
            <a:r>
              <a:rPr lang="en-US" altLang="ja-JP" dirty="0" smtClean="0">
                <a:latin typeface="Meiryo UI" panose="020B0604030504040204" pitchFamily="50" charset="-128"/>
                <a:ea typeface="Meiryo UI" panose="020B0604030504040204" pitchFamily="50" charset="-128"/>
              </a:rPr>
              <a:t>DirectX</a:t>
            </a:r>
            <a:r>
              <a:rPr lang="ja-JP" altLang="en-US" dirty="0" smtClean="0"/>
              <a:t>の</a:t>
            </a:r>
            <a:r>
              <a:rPr lang="ja-JP" altLang="en-US" dirty="0"/>
              <a:t>世代</a:t>
            </a:r>
            <a:r>
              <a:rPr lang="ja-JP" altLang="en-US" dirty="0" smtClean="0"/>
              <a:t>について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>
          <a:xfrm>
            <a:off x="609600" y="1913708"/>
            <a:ext cx="10972800" cy="4343400"/>
          </a:xfrm>
        </p:spPr>
        <p:txBody>
          <a:bodyPr rtlCol="0"/>
          <a:lstStyle/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/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0" indent="0" rtl="0">
              <a:buNone/>
            </a:pPr>
            <a:endParaRPr lang="ja-JP" altLang="en-US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828994"/>
              </p:ext>
            </p:extLst>
          </p:nvPr>
        </p:nvGraphicFramePr>
        <p:xfrm>
          <a:off x="1197428" y="2295748"/>
          <a:ext cx="9797144" cy="35793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437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9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5864">
                <a:tc>
                  <a:txBody>
                    <a:bodyPr/>
                    <a:lstStyle/>
                    <a:p>
                      <a:r>
                        <a:rPr kumimoji="1" lang="ja-JP" altLang="en-US" sz="2800" dirty="0" smtClean="0"/>
                        <a:t>世代</a:t>
                      </a:r>
                      <a:endParaRPr kumimoji="1" lang="ja-JP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800" dirty="0" smtClean="0"/>
                        <a:t>プラットフォーム</a:t>
                      </a:r>
                      <a:endParaRPr kumimoji="1" lang="ja-JP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864">
                <a:tc>
                  <a:txBody>
                    <a:bodyPr/>
                    <a:lstStyle/>
                    <a:p>
                      <a:r>
                        <a:rPr kumimoji="1" lang="en-US" altLang="ja-JP" sz="2800" dirty="0" smtClean="0"/>
                        <a:t>DirectX9</a:t>
                      </a:r>
                      <a:r>
                        <a:rPr kumimoji="1" lang="ja-JP" altLang="en-US" sz="2800" dirty="0" smtClean="0"/>
                        <a:t>世代</a:t>
                      </a:r>
                      <a:endParaRPr kumimoji="1" lang="ja-JP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800" dirty="0" smtClean="0"/>
                        <a:t>Windows XP,</a:t>
                      </a:r>
                      <a:r>
                        <a:rPr kumimoji="1" lang="en-US" altLang="ja-JP" sz="2800" baseline="0" dirty="0" smtClean="0"/>
                        <a:t> </a:t>
                      </a:r>
                      <a:r>
                        <a:rPr kumimoji="1" lang="en-US" altLang="ja-JP" sz="2800" dirty="0" smtClean="0"/>
                        <a:t>PS3, XBox360</a:t>
                      </a:r>
                      <a:endParaRPr kumimoji="1" lang="ja-JP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864">
                <a:tc>
                  <a:txBody>
                    <a:bodyPr/>
                    <a:lstStyle/>
                    <a:p>
                      <a:r>
                        <a:rPr kumimoji="1" lang="en-US" altLang="ja-JP" sz="2800" dirty="0" smtClean="0"/>
                        <a:t>DirectX10</a:t>
                      </a:r>
                      <a:r>
                        <a:rPr kumimoji="1" lang="ja-JP" altLang="en-US" sz="2800" dirty="0" smtClean="0"/>
                        <a:t>世代</a:t>
                      </a:r>
                      <a:endParaRPr kumimoji="1" lang="ja-JP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800" dirty="0" smtClean="0"/>
                        <a:t>Windows Vista, </a:t>
                      </a:r>
                      <a:r>
                        <a:rPr kumimoji="1" lang="en-US" altLang="ja-JP" sz="2800" dirty="0" err="1" smtClean="0"/>
                        <a:t>WiiU</a:t>
                      </a:r>
                      <a:endParaRPr kumimoji="1" lang="ja-JP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864">
                <a:tc>
                  <a:txBody>
                    <a:bodyPr/>
                    <a:lstStyle/>
                    <a:p>
                      <a:r>
                        <a:rPr kumimoji="1" lang="en-US" altLang="ja-JP" sz="2800" dirty="0" smtClean="0"/>
                        <a:t>DirectX11</a:t>
                      </a:r>
                      <a:r>
                        <a:rPr kumimoji="1" lang="ja-JP" altLang="en-US" sz="2800" dirty="0" smtClean="0"/>
                        <a:t>世代</a:t>
                      </a:r>
                      <a:endParaRPr kumimoji="1" lang="ja-JP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800" dirty="0" smtClean="0"/>
                        <a:t>Windows 7, PS4, </a:t>
                      </a:r>
                      <a:r>
                        <a:rPr kumimoji="1" lang="en-US" altLang="ja-JP" sz="2800" dirty="0" err="1" smtClean="0"/>
                        <a:t>XBoxOne</a:t>
                      </a:r>
                      <a:r>
                        <a:rPr kumimoji="1" lang="en-US" altLang="ja-JP" sz="2800" dirty="0" smtClean="0"/>
                        <a:t>, Switch</a:t>
                      </a:r>
                      <a:endParaRPr kumimoji="1" lang="ja-JP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5864">
                <a:tc>
                  <a:txBody>
                    <a:bodyPr/>
                    <a:lstStyle/>
                    <a:p>
                      <a:r>
                        <a:rPr kumimoji="1" lang="en-US" altLang="ja-JP" sz="2800" dirty="0" smtClean="0"/>
                        <a:t>DirectX12</a:t>
                      </a:r>
                      <a:r>
                        <a:rPr kumimoji="1" lang="ja-JP" altLang="en-US" sz="2800" dirty="0" smtClean="0"/>
                        <a:t>世代</a:t>
                      </a:r>
                      <a:endParaRPr kumimoji="1" lang="ja-JP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2800" dirty="0" smtClean="0"/>
                        <a:t>Windows 10, </a:t>
                      </a:r>
                      <a:r>
                        <a:rPr kumimoji="1" lang="en-US" altLang="ja-JP" sz="2800" dirty="0" err="1" smtClean="0"/>
                        <a:t>XBoxOne</a:t>
                      </a:r>
                      <a:r>
                        <a:rPr kumimoji="1" lang="en-US" altLang="ja-JP" sz="2800" dirty="0" smtClean="0"/>
                        <a:t> X</a:t>
                      </a:r>
                      <a:endParaRPr kumimoji="1" lang="ja-JP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08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実行結果</a:t>
            </a:r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180" y="2050287"/>
            <a:ext cx="7615099" cy="446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42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DirectX</a:t>
            </a:r>
            <a:r>
              <a:rPr lang="ja-JP" altLang="en-US" dirty="0" smtClean="0"/>
              <a:t>初期化から画面表示までの流れ</a:t>
            </a:r>
            <a:endParaRPr kumimoji="1" lang="ja-JP" altLang="en-US" dirty="0"/>
          </a:p>
        </p:txBody>
      </p:sp>
      <p:pic>
        <p:nvPicPr>
          <p:cNvPr id="1028" name="Picture 4" descr="http://www.project-asura.com/program/d3d11/images/001_SimpleDemo/SimpleDemo_00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037" y="2120358"/>
            <a:ext cx="6364087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2712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ウインドウを作成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 smtClean="0"/>
              <a:t>CreateWindow</a:t>
            </a:r>
            <a:r>
              <a:rPr lang="en-US" altLang="ja-JP" dirty="0" smtClean="0"/>
              <a:t>()</a:t>
            </a:r>
            <a:endParaRPr kumimoji="1" lang="ja-JP" altLang="en-US" dirty="0"/>
          </a:p>
        </p:txBody>
      </p:sp>
      <p:pic>
        <p:nvPicPr>
          <p:cNvPr id="4098" name="Picture 2" descr="çµµãé£¾ãäººã®ã¤ã©ã¹ãï¼ãã©ã³ã¯ï¼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048" y="2850844"/>
            <a:ext cx="32480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13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DirectX11</a:t>
            </a:r>
            <a:r>
              <a:rPr kumimoji="1" lang="ja-JP" altLang="en-US" dirty="0" smtClean="0"/>
              <a:t>初期化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ID3D11Device</a:t>
            </a:r>
          </a:p>
          <a:p>
            <a:pPr lvl="1"/>
            <a:r>
              <a:rPr kumimoji="1" lang="en-US" altLang="ja-JP" dirty="0" smtClean="0"/>
              <a:t>DirectX11</a:t>
            </a:r>
            <a:r>
              <a:rPr kumimoji="1" lang="ja-JP" altLang="en-US" dirty="0" smtClean="0"/>
              <a:t>で利用する様々なリソースを作成するやつ。</a:t>
            </a:r>
            <a:endParaRPr kumimoji="1" lang="en-US" altLang="ja-JP" dirty="0" smtClean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r>
              <a:rPr lang="en-US" altLang="ja-JP" dirty="0" smtClean="0"/>
              <a:t>ID3D11DeviceContext</a:t>
            </a:r>
          </a:p>
          <a:p>
            <a:pPr lvl="1"/>
            <a:r>
              <a:rPr lang="ja-JP" altLang="en-US" dirty="0"/>
              <a:t>様々な描画命令を</a:t>
            </a:r>
            <a:r>
              <a:rPr lang="en-US" altLang="ja-JP" dirty="0"/>
              <a:t>GPU</a:t>
            </a:r>
            <a:r>
              <a:rPr lang="ja-JP" altLang="en-US" dirty="0"/>
              <a:t>に伝えるやつ</a:t>
            </a:r>
          </a:p>
          <a:p>
            <a:pPr lvl="1"/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2050" name="Picture 2" descr="ã¤ã³ã¿ã¼ãããã®ç¥æ§ã®ã¤ã©ã¹ã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308" y="1573476"/>
            <a:ext cx="2651284" cy="2651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å½ä»¤ãã¦ããäººã®ã¤ã©ã¹ã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1936" y="4456251"/>
            <a:ext cx="1926027" cy="2104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179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キャンバスの作成</a:t>
            </a:r>
            <a:endParaRPr lang="ja-JP" altLang="en-US" dirty="0"/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ja-JP" dirty="0" smtClean="0"/>
              <a:t>ID3D11RenderTargetView</a:t>
            </a:r>
          </a:p>
          <a:p>
            <a:pPr lvl="1"/>
            <a:r>
              <a:rPr lang="ja-JP" altLang="en-US" dirty="0" smtClean="0"/>
              <a:t>色</a:t>
            </a:r>
            <a:r>
              <a:rPr lang="ja-JP" altLang="en-US" dirty="0"/>
              <a:t>を</a:t>
            </a:r>
            <a:r>
              <a:rPr lang="ja-JP" altLang="en-US" dirty="0" smtClean="0"/>
              <a:t>書き込むキャンバス</a:t>
            </a:r>
            <a:endParaRPr lang="en-US" altLang="ja-JP" dirty="0" smtClean="0"/>
          </a:p>
          <a:p>
            <a:r>
              <a:rPr lang="en-US" altLang="ja-JP" dirty="0" smtClean="0"/>
              <a:t>ID3D11DepthStencilView</a:t>
            </a:r>
          </a:p>
          <a:p>
            <a:pPr lvl="1"/>
            <a:r>
              <a:rPr lang="ja-JP" altLang="en-US" dirty="0" smtClean="0"/>
              <a:t>奥行き情報を書き込むキャンバス</a:t>
            </a:r>
            <a:endParaRPr lang="en-US" altLang="ja-JP" dirty="0" smtClean="0"/>
          </a:p>
          <a:p>
            <a:pPr rtl="0"/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pic>
        <p:nvPicPr>
          <p:cNvPr id="6" name="Picture 4" descr="Zãããã¡æ³ã¯ä¸çªæåã®ãã¯ã»ã«ãæç»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413" y="4107180"/>
            <a:ext cx="2274267" cy="2551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marupeke296.com/images/DXG_No43_ZValueImage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173" y="3864774"/>
            <a:ext cx="4772626" cy="261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ã¤ã¼ã¼ã«ã«ä¹ã£ãã­ã£ã³ãã¹ã®ã¤ã©ã¹ã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32" y="3973730"/>
            <a:ext cx="2297446" cy="2685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945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これから画を描くキャンバスを指定する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ID3DDeviceContext</a:t>
            </a:r>
          </a:p>
          <a:p>
            <a:pPr lvl="1"/>
            <a:r>
              <a:rPr lang="en-US" altLang="ja-JP" dirty="0" err="1"/>
              <a:t>OMSetRenderTargets</a:t>
            </a:r>
            <a:r>
              <a:rPr lang="en-US" altLang="ja-JP" dirty="0"/>
              <a:t>(</a:t>
            </a:r>
            <a:r>
              <a:rPr lang="en-US" altLang="ja-JP" dirty="0" err="1"/>
              <a:t>rtv</a:t>
            </a:r>
            <a:r>
              <a:rPr lang="en-US" altLang="ja-JP" dirty="0"/>
              <a:t>, </a:t>
            </a:r>
            <a:r>
              <a:rPr lang="en-US" altLang="ja-JP" dirty="0" err="1"/>
              <a:t>dsv</a:t>
            </a:r>
            <a:r>
              <a:rPr lang="en-US" altLang="ja-JP" dirty="0" smtClean="0"/>
              <a:t>)</a:t>
            </a:r>
          </a:p>
          <a:p>
            <a:pPr lvl="2"/>
            <a:r>
              <a:rPr lang="ja-JP" altLang="en-US" dirty="0" smtClean="0"/>
              <a:t>これから描くキャンバスを指定する。</a:t>
            </a:r>
            <a:endParaRPr lang="en-US" altLang="ja-JP" dirty="0"/>
          </a:p>
          <a:p>
            <a:pPr lvl="1"/>
            <a:r>
              <a:rPr lang="en-US" altLang="ja-JP" dirty="0" err="1"/>
              <a:t>ClearRenderTargetView</a:t>
            </a:r>
            <a:r>
              <a:rPr lang="en-US" altLang="ja-JP" dirty="0" smtClean="0"/>
              <a:t>()</a:t>
            </a:r>
          </a:p>
          <a:p>
            <a:pPr lvl="2"/>
            <a:r>
              <a:rPr lang="ja-JP" altLang="en-US" dirty="0" smtClean="0"/>
              <a:t>キャンバス全体を指定した色に塗りつぶす。</a:t>
            </a:r>
            <a:endParaRPr lang="en-US" altLang="ja-JP" dirty="0"/>
          </a:p>
          <a:p>
            <a:pPr lvl="1"/>
            <a:r>
              <a:rPr lang="en-US" altLang="ja-JP" dirty="0" err="1"/>
              <a:t>ClearDepthStencilView</a:t>
            </a:r>
            <a:r>
              <a:rPr lang="en-US" altLang="ja-JP" dirty="0" smtClean="0"/>
              <a:t>()</a:t>
            </a:r>
          </a:p>
          <a:p>
            <a:pPr lvl="2"/>
            <a:r>
              <a:rPr lang="ja-JP" altLang="en-US" dirty="0" smtClean="0"/>
              <a:t>キャンバス全体の奥行き情報をリセットする。</a:t>
            </a:r>
            <a:endParaRPr lang="en-US" altLang="ja-JP" dirty="0" smtClean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671" y="2162151"/>
            <a:ext cx="4116729" cy="411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39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画</a:t>
            </a:r>
            <a:r>
              <a:rPr lang="ja-JP" altLang="en-US" dirty="0" smtClean="0"/>
              <a:t>を描く場所を決める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ID3DDeviceContext</a:t>
            </a:r>
          </a:p>
          <a:p>
            <a:pPr lvl="1"/>
            <a:r>
              <a:rPr kumimoji="1" lang="en-US" altLang="ja-JP" dirty="0" err="1" smtClean="0"/>
              <a:t>RSSetViewports</a:t>
            </a:r>
            <a:r>
              <a:rPr kumimoji="1" lang="en-US" altLang="ja-JP" dirty="0" smtClean="0"/>
              <a:t>()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859" y="2055339"/>
            <a:ext cx="4223541" cy="422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4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キャンバスに画を描く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ID3DDeviceContext</a:t>
            </a:r>
          </a:p>
          <a:p>
            <a:pPr lvl="1"/>
            <a:r>
              <a:rPr lang="en-US" altLang="ja-JP" dirty="0" smtClean="0"/>
              <a:t>Draw()</a:t>
            </a:r>
          </a:p>
          <a:p>
            <a:pPr lvl="1"/>
            <a:r>
              <a:rPr kumimoji="1" lang="en-US" altLang="ja-JP" dirty="0" smtClean="0"/>
              <a:t>etc…</a:t>
            </a:r>
            <a:endParaRPr kumimoji="1" lang="ja-JP" altLang="en-US" dirty="0"/>
          </a:p>
        </p:txBody>
      </p:sp>
      <p:pic>
        <p:nvPicPr>
          <p:cNvPr id="6146" name="Picture 2" descr="æ²¹çµµãæãç·æ§ã®ã¤ã©ã¹ããã­ã£ã³ãã¹ã«åããç·æ§ã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246888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477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画面</a:t>
            </a:r>
            <a:r>
              <a:rPr lang="ja-JP" altLang="en-US" dirty="0"/>
              <a:t>表示</a:t>
            </a:r>
            <a:endParaRPr lang="ja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altLang="ja-JP" dirty="0" err="1" smtClean="0"/>
              <a:t>IDXGISwapChain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キャンバスに描いた画を額</a:t>
            </a:r>
            <a:r>
              <a:rPr lang="en-US" altLang="ja-JP" dirty="0" smtClean="0"/>
              <a:t>(</a:t>
            </a:r>
            <a:r>
              <a:rPr lang="ja-JP" altLang="en-US" dirty="0" smtClean="0"/>
              <a:t>ウインドウ</a:t>
            </a:r>
            <a:r>
              <a:rPr lang="en-US" altLang="ja-JP" dirty="0" smtClean="0"/>
              <a:t>)</a:t>
            </a:r>
            <a:r>
              <a:rPr lang="ja-JP" altLang="en-US" dirty="0" smtClean="0"/>
              <a:t>に入れるやつ。</a:t>
            </a:r>
            <a:endParaRPr 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pic>
        <p:nvPicPr>
          <p:cNvPr id="1030" name="Picture 6" descr="çµµãé£¾ãäººã®ã¤ã©ã¹ã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92" y="3138696"/>
            <a:ext cx="2677007" cy="314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0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画面を</a:t>
            </a:r>
            <a:r>
              <a:rPr lang="ja-JP" altLang="en-US" dirty="0"/>
              <a:t>表示</a:t>
            </a:r>
            <a:r>
              <a:rPr lang="ja-JP" altLang="en-US" dirty="0" smtClean="0"/>
              <a:t>する仕組み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スワップチェーンはグラフィックを描画するためのメモリバッファを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最低２つはもっている。</a:t>
            </a:r>
            <a:endParaRPr lang="en-US" altLang="ja-JP" dirty="0" smtClean="0"/>
          </a:p>
          <a:p>
            <a:r>
              <a:rPr kumimoji="1" lang="ja-JP" altLang="en-US" dirty="0" smtClean="0"/>
              <a:t>前のフレームの画を表示している間に裏で画を描く。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裏で描いてた画の準備が完了したら表と裏を入れ替える。</a:t>
            </a:r>
            <a:endParaRPr kumimoji="1" lang="en-US" altLang="ja-JP" dirty="0" smtClean="0"/>
          </a:p>
          <a:p>
            <a:r>
              <a:rPr lang="ja-JP" altLang="en-US" dirty="0" smtClean="0"/>
              <a:t>直接、表に画を描くと画面のチラつきが発生する。</a:t>
            </a:r>
            <a:endParaRPr kumimoji="1" lang="en-US" altLang="ja-JP" dirty="0" smtClean="0"/>
          </a:p>
        </p:txBody>
      </p:sp>
      <p:pic>
        <p:nvPicPr>
          <p:cNvPr id="1026" name="Picture 2" descr="f:id:bussorenre:20110204223057p: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14" y="4240524"/>
            <a:ext cx="5646058" cy="254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:id:bussorenre:20110204223058p: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228" y="3719063"/>
            <a:ext cx="2975428" cy="300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67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描画パイプライン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977618" y="2017733"/>
            <a:ext cx="1578295" cy="12596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Window</a:t>
            </a:r>
            <a:br>
              <a:rPr kumimoji="1" lang="en-US" altLang="ja-JP" dirty="0" smtClean="0"/>
            </a:b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kumimoji="1" lang="ja-JP" altLang="en-US" dirty="0"/>
          </a:p>
        </p:txBody>
      </p:sp>
      <p:sp>
        <p:nvSpPr>
          <p:cNvPr id="5" name="角丸四角形 4"/>
          <p:cNvSpPr/>
          <p:nvPr/>
        </p:nvSpPr>
        <p:spPr>
          <a:xfrm>
            <a:off x="1773716" y="3612593"/>
            <a:ext cx="2710149" cy="1532284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SwapChain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 smtClean="0"/>
          </a:p>
          <a:p>
            <a:pPr algn="ctr"/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1341742" y="2399014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2012502" y="4135820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Front</a:t>
            </a:r>
            <a:br>
              <a:rPr kumimoji="1" lang="en-US" altLang="ja-JP" dirty="0" smtClean="0"/>
            </a:br>
            <a:r>
              <a:rPr kumimoji="1" lang="en-US" altLang="ja-JP" dirty="0" smtClean="0"/>
              <a:t>Buffer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3293170" y="4135819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Buck</a:t>
            </a:r>
            <a:br>
              <a:rPr kumimoji="1" lang="en-US" altLang="ja-JP" dirty="0" smtClean="0"/>
            </a:br>
            <a:r>
              <a:rPr kumimoji="1" lang="en-US" altLang="ja-JP" dirty="0" smtClean="0"/>
              <a:t>Buffer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/>
        </p:nvSpPr>
        <p:spPr>
          <a:xfrm>
            <a:off x="3128790" y="5555159"/>
            <a:ext cx="970358" cy="88970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Depth</a:t>
            </a:r>
            <a:br>
              <a:rPr kumimoji="1" lang="en-US" altLang="ja-JP" dirty="0" smtClean="0"/>
            </a:br>
            <a:r>
              <a:rPr kumimoji="1" lang="en-US" altLang="ja-JP" dirty="0" smtClean="0"/>
              <a:t>Stencil</a:t>
            </a:r>
            <a:br>
              <a:rPr kumimoji="1" lang="en-US" altLang="ja-JP" dirty="0" smtClean="0"/>
            </a:br>
            <a:r>
              <a:rPr kumimoji="1" lang="en-US" altLang="ja-JP" dirty="0" smtClean="0"/>
              <a:t>Buffer</a:t>
            </a:r>
            <a:endParaRPr kumimoji="1" lang="ja-JP" altLang="en-US" dirty="0"/>
          </a:p>
        </p:txBody>
      </p:sp>
      <p:sp>
        <p:nvSpPr>
          <p:cNvPr id="12" name="角丸四角形 11"/>
          <p:cNvSpPr/>
          <p:nvPr/>
        </p:nvSpPr>
        <p:spPr>
          <a:xfrm>
            <a:off x="5275246" y="4275112"/>
            <a:ext cx="2414528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RenderTargetView</a:t>
            </a:r>
            <a:endParaRPr kumimoji="1" lang="ja-JP" altLang="en-US" dirty="0"/>
          </a:p>
        </p:txBody>
      </p:sp>
      <p:sp>
        <p:nvSpPr>
          <p:cNvPr id="13" name="角丸四角形 12"/>
          <p:cNvSpPr/>
          <p:nvPr/>
        </p:nvSpPr>
        <p:spPr>
          <a:xfrm>
            <a:off x="5275246" y="5737658"/>
            <a:ext cx="2414528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DepthStencilView</a:t>
            </a:r>
            <a:endParaRPr kumimoji="1" lang="ja-JP" altLang="en-US" dirty="0"/>
          </a:p>
        </p:txBody>
      </p:sp>
      <p:sp>
        <p:nvSpPr>
          <p:cNvPr id="14" name="楕円 13"/>
          <p:cNvSpPr/>
          <p:nvPr/>
        </p:nvSpPr>
        <p:spPr>
          <a:xfrm>
            <a:off x="9077899" y="4939116"/>
            <a:ext cx="1424543" cy="75533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Draw()</a:t>
            </a:r>
            <a:endParaRPr kumimoji="1" lang="ja-JP" altLang="en-US" dirty="0"/>
          </a:p>
        </p:txBody>
      </p:sp>
      <p:cxnSp>
        <p:nvCxnSpPr>
          <p:cNvPr id="16" name="直線矢印コネクタ 15"/>
          <p:cNvCxnSpPr>
            <a:stCxn id="14" idx="2"/>
            <a:endCxn id="13" idx="3"/>
          </p:cNvCxnSpPr>
          <p:nvPr/>
        </p:nvCxnSpPr>
        <p:spPr>
          <a:xfrm flipH="1">
            <a:off x="7689774" y="5316785"/>
            <a:ext cx="1388125" cy="68322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>
            <a:stCxn id="14" idx="2"/>
            <a:endCxn id="12" idx="3"/>
          </p:cNvCxnSpPr>
          <p:nvPr/>
        </p:nvCxnSpPr>
        <p:spPr>
          <a:xfrm flipH="1" flipV="1">
            <a:off x="7689774" y="4537467"/>
            <a:ext cx="1388125" cy="77931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>
            <a:stCxn id="12" idx="1"/>
            <a:endCxn id="9" idx="3"/>
          </p:cNvCxnSpPr>
          <p:nvPr/>
        </p:nvCxnSpPr>
        <p:spPr>
          <a:xfrm flipH="1">
            <a:off x="4143216" y="4537467"/>
            <a:ext cx="1132030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>
            <a:stCxn id="13" idx="1"/>
            <a:endCxn id="10" idx="3"/>
          </p:cNvCxnSpPr>
          <p:nvPr/>
        </p:nvCxnSpPr>
        <p:spPr>
          <a:xfrm flipH="1">
            <a:off x="4099148" y="6000013"/>
            <a:ext cx="117609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>
            <a:endCxn id="8" idx="3"/>
          </p:cNvCxnSpPr>
          <p:nvPr/>
        </p:nvCxnSpPr>
        <p:spPr>
          <a:xfrm flipH="1">
            <a:off x="2862548" y="4537467"/>
            <a:ext cx="430622" cy="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>
            <a:stCxn id="8" idx="0"/>
            <a:endCxn id="7" idx="2"/>
          </p:cNvCxnSpPr>
          <p:nvPr/>
        </p:nvCxnSpPr>
        <p:spPr>
          <a:xfrm flipH="1" flipV="1">
            <a:off x="1766765" y="3202311"/>
            <a:ext cx="670760" cy="9335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>
            <a:stCxn id="9" idx="2"/>
            <a:endCxn id="10" idx="0"/>
          </p:cNvCxnSpPr>
          <p:nvPr/>
        </p:nvCxnSpPr>
        <p:spPr>
          <a:xfrm flipH="1">
            <a:off x="3613969" y="4939116"/>
            <a:ext cx="104224" cy="616043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楕円 37"/>
          <p:cNvSpPr/>
          <p:nvPr/>
        </p:nvSpPr>
        <p:spPr>
          <a:xfrm>
            <a:off x="1641513" y="2667568"/>
            <a:ext cx="264405" cy="264405"/>
          </a:xfrm>
          <a:prstGeom prst="ellipse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二等辺三角形 38"/>
          <p:cNvSpPr/>
          <p:nvPr/>
        </p:nvSpPr>
        <p:spPr>
          <a:xfrm>
            <a:off x="1584702" y="2773353"/>
            <a:ext cx="364125" cy="345125"/>
          </a:xfrm>
          <a:prstGeom prst="triangl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/>
          <p:cNvSpPr/>
          <p:nvPr/>
        </p:nvSpPr>
        <p:spPr>
          <a:xfrm>
            <a:off x="9567839" y="4168687"/>
            <a:ext cx="444662" cy="40164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/>
          <p:cNvSpPr/>
          <p:nvPr/>
        </p:nvSpPr>
        <p:spPr>
          <a:xfrm>
            <a:off x="9669640" y="3950947"/>
            <a:ext cx="241059" cy="217740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台形 48"/>
          <p:cNvSpPr/>
          <p:nvPr/>
        </p:nvSpPr>
        <p:spPr>
          <a:xfrm rot="10800000">
            <a:off x="7490596" y="1849836"/>
            <a:ext cx="4599145" cy="2090826"/>
          </a:xfrm>
          <a:prstGeom prst="trapezoid">
            <a:avLst>
              <a:gd name="adj" fmla="val 103661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/>
          <p:cNvSpPr/>
          <p:nvPr/>
        </p:nvSpPr>
        <p:spPr>
          <a:xfrm>
            <a:off x="9556163" y="2464998"/>
            <a:ext cx="405139" cy="405139"/>
          </a:xfrm>
          <a:prstGeom prst="ellipse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二等辺三角形 50"/>
          <p:cNvSpPr/>
          <p:nvPr/>
        </p:nvSpPr>
        <p:spPr>
          <a:xfrm>
            <a:off x="9540816" y="3098162"/>
            <a:ext cx="435832" cy="413090"/>
          </a:xfrm>
          <a:prstGeom prst="triangl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角丸四角形 51"/>
          <p:cNvSpPr/>
          <p:nvPr/>
        </p:nvSpPr>
        <p:spPr>
          <a:xfrm>
            <a:off x="3027804" y="2212972"/>
            <a:ext cx="2414528" cy="524710"/>
          </a:xfrm>
          <a:prstGeom prst="roundRect">
            <a:avLst/>
          </a:prstGeom>
          <a:solidFill>
            <a:srgbClr val="FFFFCC"/>
          </a:solidFill>
          <a:ln w="28575">
            <a:solidFill>
              <a:srgbClr val="CCCC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Device</a:t>
            </a:r>
            <a:endParaRPr kumimoji="1" lang="ja-JP" altLang="en-US" dirty="0"/>
          </a:p>
        </p:txBody>
      </p:sp>
      <p:sp>
        <p:nvSpPr>
          <p:cNvPr id="53" name="角丸四角形 52"/>
          <p:cNvSpPr/>
          <p:nvPr/>
        </p:nvSpPr>
        <p:spPr>
          <a:xfrm>
            <a:off x="5751725" y="2210309"/>
            <a:ext cx="2414528" cy="5247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DeviceContext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1130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描画パイプライン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977618" y="2017733"/>
            <a:ext cx="1578295" cy="12596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Window</a:t>
            </a:r>
            <a:br>
              <a:rPr kumimoji="1" lang="en-US" altLang="ja-JP" dirty="0" smtClean="0"/>
            </a:b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kumimoji="1" lang="ja-JP" altLang="en-US" dirty="0"/>
          </a:p>
        </p:txBody>
      </p:sp>
      <p:sp>
        <p:nvSpPr>
          <p:cNvPr id="5" name="角丸四角形 4"/>
          <p:cNvSpPr/>
          <p:nvPr/>
        </p:nvSpPr>
        <p:spPr>
          <a:xfrm>
            <a:off x="1773716" y="3612593"/>
            <a:ext cx="2710149" cy="1532284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SwapChain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 smtClean="0"/>
          </a:p>
          <a:p>
            <a:pPr algn="ctr"/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1341742" y="2399014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2012502" y="4135820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Front</a:t>
            </a:r>
            <a:br>
              <a:rPr kumimoji="1" lang="en-US" altLang="ja-JP" dirty="0" smtClean="0"/>
            </a:br>
            <a:r>
              <a:rPr kumimoji="1" lang="en-US" altLang="ja-JP" dirty="0" smtClean="0"/>
              <a:t>Buffer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3293170" y="4135819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Buck</a:t>
            </a:r>
            <a:br>
              <a:rPr kumimoji="1" lang="en-US" altLang="ja-JP" dirty="0" smtClean="0"/>
            </a:br>
            <a:r>
              <a:rPr kumimoji="1" lang="en-US" altLang="ja-JP" dirty="0" smtClean="0"/>
              <a:t>Buffer</a:t>
            </a:r>
            <a:endParaRPr kumimoji="1" lang="ja-JP" altLang="en-US" dirty="0"/>
          </a:p>
        </p:txBody>
      </p:sp>
      <p:sp>
        <p:nvSpPr>
          <p:cNvPr id="15" name="横巻き 14"/>
          <p:cNvSpPr/>
          <p:nvPr/>
        </p:nvSpPr>
        <p:spPr>
          <a:xfrm>
            <a:off x="5594735" y="3277406"/>
            <a:ext cx="4056041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D3D11CreateDeviceAndSwapChain</a:t>
            </a:r>
            <a:endParaRPr kumimoji="1" lang="ja-JP" altLang="en-US" dirty="0"/>
          </a:p>
        </p:txBody>
      </p:sp>
      <p:sp>
        <p:nvSpPr>
          <p:cNvPr id="30" name="角丸四角形 29"/>
          <p:cNvSpPr/>
          <p:nvPr/>
        </p:nvSpPr>
        <p:spPr>
          <a:xfrm>
            <a:off x="3027804" y="2212972"/>
            <a:ext cx="2414528" cy="524710"/>
          </a:xfrm>
          <a:prstGeom prst="roundRect">
            <a:avLst/>
          </a:prstGeom>
          <a:solidFill>
            <a:srgbClr val="FFFFCC"/>
          </a:solidFill>
          <a:ln w="28575">
            <a:solidFill>
              <a:srgbClr val="CCCC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Device</a:t>
            </a:r>
            <a:endParaRPr kumimoji="1" lang="ja-JP" altLang="en-US" dirty="0"/>
          </a:p>
        </p:txBody>
      </p:sp>
      <p:sp>
        <p:nvSpPr>
          <p:cNvPr id="32" name="円形吹き出し 31"/>
          <p:cNvSpPr/>
          <p:nvPr/>
        </p:nvSpPr>
        <p:spPr>
          <a:xfrm>
            <a:off x="8284684" y="4173612"/>
            <a:ext cx="3377229" cy="1061688"/>
          </a:xfrm>
          <a:prstGeom prst="wedgeEllipseCallout">
            <a:avLst>
              <a:gd name="adj1" fmla="val -31833"/>
              <a:gd name="adj2" fmla="val -63812"/>
            </a:avLst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最初</a:t>
            </a:r>
            <a:r>
              <a:rPr kumimoji="1" lang="ja-JP" altLang="en-US" dirty="0" smtClean="0"/>
              <a:t>に</a:t>
            </a:r>
            <a:r>
              <a:rPr kumimoji="1" lang="en-US" altLang="ja-JP" dirty="0" smtClean="0"/>
              <a:t>Device</a:t>
            </a:r>
            <a:r>
              <a:rPr kumimoji="1" lang="ja-JP" altLang="en-US" dirty="0" smtClean="0"/>
              <a:t>と</a:t>
            </a:r>
            <a:r>
              <a:rPr kumimoji="1" lang="en-US" altLang="ja-JP" dirty="0" err="1" smtClean="0"/>
              <a:t>SwapChain</a:t>
            </a:r>
            <a:r>
              <a:rPr kumimoji="1" lang="ja-JP" altLang="en-US" dirty="0" smtClean="0"/>
              <a:t>を作る</a:t>
            </a:r>
            <a:endParaRPr kumimoji="1" lang="ja-JP" altLang="en-US" dirty="0"/>
          </a:p>
        </p:txBody>
      </p:sp>
      <p:sp>
        <p:nvSpPr>
          <p:cNvPr id="35" name="円形吹き出し 34"/>
          <p:cNvSpPr/>
          <p:nvPr/>
        </p:nvSpPr>
        <p:spPr>
          <a:xfrm>
            <a:off x="4799769" y="4614033"/>
            <a:ext cx="3562033" cy="1061688"/>
          </a:xfrm>
          <a:prstGeom prst="wedgeEllipseCallout">
            <a:avLst>
              <a:gd name="adj1" fmla="val 14163"/>
              <a:gd name="adj2" fmla="val -83528"/>
            </a:avLst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作るときの設定で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>Window</a:t>
            </a:r>
            <a:r>
              <a:rPr kumimoji="1" lang="ja-JP" altLang="en-US" dirty="0" smtClean="0"/>
              <a:t>と</a:t>
            </a:r>
            <a:r>
              <a:rPr kumimoji="1" lang="en-US" altLang="ja-JP" dirty="0" err="1" smtClean="0"/>
              <a:t>SwapChain</a:t>
            </a:r>
            <a:r>
              <a:rPr kumimoji="1" lang="ja-JP" altLang="en-US" dirty="0" smtClean="0"/>
              <a:t>を関連付けできるぞ</a:t>
            </a:r>
            <a:endParaRPr kumimoji="1" lang="ja-JP" altLang="en-US" dirty="0"/>
          </a:p>
        </p:txBody>
      </p:sp>
      <p:sp>
        <p:nvSpPr>
          <p:cNvPr id="37" name="角丸四角形 36"/>
          <p:cNvSpPr/>
          <p:nvPr/>
        </p:nvSpPr>
        <p:spPr>
          <a:xfrm>
            <a:off x="5751725" y="2210309"/>
            <a:ext cx="2414528" cy="5247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DeviceContext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894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5" grpId="0" animBg="1"/>
      <p:bldP spid="30" grpId="0" animBg="1"/>
      <p:bldP spid="32" grpId="0" animBg="1"/>
      <p:bldP spid="35" grpId="0" animBg="1"/>
      <p:bldP spid="3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描画パイプライン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977618" y="2017733"/>
            <a:ext cx="1578295" cy="12596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Window</a:t>
            </a:r>
            <a:br>
              <a:rPr kumimoji="1" lang="en-US" altLang="ja-JP" dirty="0" smtClean="0"/>
            </a:b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kumimoji="1" lang="ja-JP" altLang="en-US" dirty="0"/>
          </a:p>
        </p:txBody>
      </p:sp>
      <p:sp>
        <p:nvSpPr>
          <p:cNvPr id="5" name="角丸四角形 4"/>
          <p:cNvSpPr/>
          <p:nvPr/>
        </p:nvSpPr>
        <p:spPr>
          <a:xfrm>
            <a:off x="1773716" y="3612593"/>
            <a:ext cx="2710149" cy="1532284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SwapChain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 smtClean="0"/>
          </a:p>
          <a:p>
            <a:pPr algn="ctr"/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1341742" y="2399014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2012502" y="4135820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Front</a:t>
            </a:r>
            <a:br>
              <a:rPr kumimoji="1" lang="en-US" altLang="ja-JP" dirty="0" smtClean="0"/>
            </a:br>
            <a:r>
              <a:rPr kumimoji="1" lang="en-US" altLang="ja-JP" dirty="0" smtClean="0"/>
              <a:t>Buffer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3293170" y="4135819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Buck</a:t>
            </a:r>
            <a:br>
              <a:rPr kumimoji="1" lang="en-US" altLang="ja-JP" dirty="0" smtClean="0"/>
            </a:br>
            <a:r>
              <a:rPr kumimoji="1" lang="en-US" altLang="ja-JP" dirty="0" smtClean="0"/>
              <a:t>Buffer</a:t>
            </a:r>
            <a:endParaRPr kumimoji="1" lang="ja-JP" altLang="en-US" dirty="0"/>
          </a:p>
        </p:txBody>
      </p:sp>
      <p:sp>
        <p:nvSpPr>
          <p:cNvPr id="30" name="角丸四角形 29"/>
          <p:cNvSpPr/>
          <p:nvPr/>
        </p:nvSpPr>
        <p:spPr>
          <a:xfrm>
            <a:off x="3027804" y="2212972"/>
            <a:ext cx="2414528" cy="524710"/>
          </a:xfrm>
          <a:prstGeom prst="roundRect">
            <a:avLst/>
          </a:prstGeom>
          <a:solidFill>
            <a:srgbClr val="FFFFCC"/>
          </a:solidFill>
          <a:ln w="28575">
            <a:solidFill>
              <a:srgbClr val="CCCC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Device</a:t>
            </a:r>
            <a:endParaRPr kumimoji="1" lang="ja-JP" altLang="en-US" dirty="0"/>
          </a:p>
        </p:txBody>
      </p:sp>
      <p:sp>
        <p:nvSpPr>
          <p:cNvPr id="32" name="円形吹き出し 31"/>
          <p:cNvSpPr/>
          <p:nvPr/>
        </p:nvSpPr>
        <p:spPr>
          <a:xfrm>
            <a:off x="8031296" y="3744268"/>
            <a:ext cx="3551104" cy="1061688"/>
          </a:xfrm>
          <a:prstGeom prst="wedgeEllipseCallout">
            <a:avLst>
              <a:gd name="adj1" fmla="val -31833"/>
              <a:gd name="adj2" fmla="val -63812"/>
            </a:avLst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RenderTargetView</a:t>
            </a:r>
            <a:r>
              <a:rPr kumimoji="1" lang="ja-JP" altLang="en-US" dirty="0" smtClean="0"/>
              <a:t>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作るにはテクスチャが必要</a:t>
            </a:r>
            <a:endParaRPr kumimoji="1" lang="ja-JP" altLang="en-US" dirty="0"/>
          </a:p>
        </p:txBody>
      </p:sp>
      <p:sp>
        <p:nvSpPr>
          <p:cNvPr id="12" name="角丸四角形 11"/>
          <p:cNvSpPr/>
          <p:nvPr/>
        </p:nvSpPr>
        <p:spPr>
          <a:xfrm>
            <a:off x="5275246" y="4275112"/>
            <a:ext cx="2414528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RenderTargetView</a:t>
            </a:r>
            <a:endParaRPr kumimoji="1" lang="ja-JP" altLang="en-US" dirty="0"/>
          </a:p>
        </p:txBody>
      </p:sp>
      <p:sp>
        <p:nvSpPr>
          <p:cNvPr id="6" name="右矢印 5"/>
          <p:cNvSpPr/>
          <p:nvPr/>
        </p:nvSpPr>
        <p:spPr>
          <a:xfrm rot="2863398">
            <a:off x="4634235" y="3037149"/>
            <a:ext cx="1476459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横巻き 14"/>
          <p:cNvSpPr/>
          <p:nvPr/>
        </p:nvSpPr>
        <p:spPr>
          <a:xfrm>
            <a:off x="5171862" y="2831424"/>
            <a:ext cx="4056041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CreateRenderTargetView</a:t>
            </a:r>
            <a:endParaRPr kumimoji="1" lang="ja-JP" altLang="en-US" dirty="0"/>
          </a:p>
        </p:txBody>
      </p:sp>
      <p:sp>
        <p:nvSpPr>
          <p:cNvPr id="10" name="楕円 9"/>
          <p:cNvSpPr/>
          <p:nvPr/>
        </p:nvSpPr>
        <p:spPr>
          <a:xfrm>
            <a:off x="3133381" y="3937891"/>
            <a:ext cx="1206986" cy="12069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曲線コネクタ 12"/>
          <p:cNvCxnSpPr>
            <a:stCxn id="10" idx="7"/>
            <a:endCxn id="15" idx="1"/>
          </p:cNvCxnSpPr>
          <p:nvPr/>
        </p:nvCxnSpPr>
        <p:spPr>
          <a:xfrm rot="5400000" flipH="1" flipV="1">
            <a:off x="4177369" y="3120157"/>
            <a:ext cx="980732" cy="1008254"/>
          </a:xfrm>
          <a:prstGeom prst="curvedConnector2">
            <a:avLst/>
          </a:prstGeom>
          <a:ln w="38100">
            <a:solidFill>
              <a:srgbClr val="FF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円形吹き出し 17"/>
          <p:cNvSpPr/>
          <p:nvPr/>
        </p:nvSpPr>
        <p:spPr>
          <a:xfrm>
            <a:off x="4047781" y="5246972"/>
            <a:ext cx="3983515" cy="1061688"/>
          </a:xfrm>
          <a:prstGeom prst="wedgeEllipseCallout">
            <a:avLst>
              <a:gd name="adj1" fmla="val -40210"/>
              <a:gd name="adj2" fmla="val -90792"/>
            </a:avLst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CreateRenderTargetView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の引数にこいつを渡す。</a:t>
            </a:r>
            <a:endParaRPr kumimoji="1" lang="ja-JP" altLang="en-US" dirty="0"/>
          </a:p>
        </p:txBody>
      </p:sp>
      <p:sp>
        <p:nvSpPr>
          <p:cNvPr id="19" name="円形吹き出し 18"/>
          <p:cNvSpPr/>
          <p:nvPr/>
        </p:nvSpPr>
        <p:spPr>
          <a:xfrm>
            <a:off x="66561" y="5623552"/>
            <a:ext cx="3811375" cy="1061688"/>
          </a:xfrm>
          <a:prstGeom prst="wedgeEllipseCallout">
            <a:avLst>
              <a:gd name="adj1" fmla="val 36607"/>
              <a:gd name="adj2" fmla="val -98056"/>
            </a:avLst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 smtClean="0"/>
              <a:t>こいつの取得方法は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err="1" smtClean="0"/>
              <a:t>swapchain</a:t>
            </a:r>
            <a:r>
              <a:rPr lang="en-US" altLang="ja-JP" dirty="0" smtClean="0"/>
              <a:t>-&gt;</a:t>
            </a:r>
            <a:r>
              <a:rPr lang="en-US" altLang="ja-JP" dirty="0" err="1" smtClean="0"/>
              <a:t>GetBuffer</a:t>
            </a:r>
            <a:r>
              <a:rPr lang="en-US" altLang="ja-JP" dirty="0" smtClean="0"/>
              <a:t>()</a:t>
            </a:r>
            <a:endParaRPr kumimoji="1" lang="ja-JP" altLang="en-US" dirty="0"/>
          </a:p>
        </p:txBody>
      </p:sp>
      <p:sp>
        <p:nvSpPr>
          <p:cNvPr id="20" name="角丸四角形 19"/>
          <p:cNvSpPr/>
          <p:nvPr/>
        </p:nvSpPr>
        <p:spPr>
          <a:xfrm>
            <a:off x="5751725" y="2210309"/>
            <a:ext cx="2414528" cy="5247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DeviceContext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7554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12" grpId="0" animBg="1"/>
      <p:bldP spid="6" grpId="0" animBg="1"/>
      <p:bldP spid="15" grpId="0" animBg="1"/>
      <p:bldP spid="10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描画パイプライン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977618" y="2017733"/>
            <a:ext cx="1578295" cy="12596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Window</a:t>
            </a:r>
            <a:br>
              <a:rPr kumimoji="1" lang="en-US" altLang="ja-JP" dirty="0" smtClean="0"/>
            </a:b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kumimoji="1" lang="ja-JP" altLang="en-US" dirty="0"/>
          </a:p>
        </p:txBody>
      </p:sp>
      <p:sp>
        <p:nvSpPr>
          <p:cNvPr id="5" name="角丸四角形 4"/>
          <p:cNvSpPr/>
          <p:nvPr/>
        </p:nvSpPr>
        <p:spPr>
          <a:xfrm>
            <a:off x="1773716" y="3612593"/>
            <a:ext cx="2710149" cy="1532284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SwapChain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 smtClean="0"/>
          </a:p>
          <a:p>
            <a:pPr algn="ctr"/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1341742" y="2399014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2012502" y="4135820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Front</a:t>
            </a:r>
            <a:br>
              <a:rPr kumimoji="1" lang="en-US" altLang="ja-JP" dirty="0" smtClean="0"/>
            </a:br>
            <a:r>
              <a:rPr kumimoji="1" lang="en-US" altLang="ja-JP" dirty="0" smtClean="0"/>
              <a:t>Buffer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3293170" y="4135819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Buck</a:t>
            </a:r>
            <a:br>
              <a:rPr kumimoji="1" lang="en-US" altLang="ja-JP" dirty="0" smtClean="0"/>
            </a:br>
            <a:r>
              <a:rPr kumimoji="1" lang="en-US" altLang="ja-JP" dirty="0" smtClean="0"/>
              <a:t>Buffer</a:t>
            </a:r>
            <a:endParaRPr kumimoji="1" lang="ja-JP" altLang="en-US" dirty="0"/>
          </a:p>
        </p:txBody>
      </p:sp>
      <p:sp>
        <p:nvSpPr>
          <p:cNvPr id="30" name="角丸四角形 29"/>
          <p:cNvSpPr/>
          <p:nvPr/>
        </p:nvSpPr>
        <p:spPr>
          <a:xfrm>
            <a:off x="3027804" y="2212972"/>
            <a:ext cx="2414528" cy="524710"/>
          </a:xfrm>
          <a:prstGeom prst="roundRect">
            <a:avLst/>
          </a:prstGeom>
          <a:solidFill>
            <a:srgbClr val="FFFFCC"/>
          </a:solidFill>
          <a:ln w="28575">
            <a:solidFill>
              <a:srgbClr val="CCCC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Device</a:t>
            </a:r>
            <a:endParaRPr kumimoji="1" lang="ja-JP" altLang="en-US" dirty="0"/>
          </a:p>
        </p:txBody>
      </p:sp>
      <p:sp>
        <p:nvSpPr>
          <p:cNvPr id="32" name="円形吹き出し 31"/>
          <p:cNvSpPr/>
          <p:nvPr/>
        </p:nvSpPr>
        <p:spPr>
          <a:xfrm>
            <a:off x="6416662" y="5721989"/>
            <a:ext cx="3551104" cy="1061688"/>
          </a:xfrm>
          <a:prstGeom prst="wedgeEllipseCallout">
            <a:avLst>
              <a:gd name="adj1" fmla="val 27732"/>
              <a:gd name="adj2" fmla="val -58624"/>
            </a:avLst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Draw()</a:t>
            </a:r>
            <a:r>
              <a:rPr kumimoji="1" lang="ja-JP" altLang="en-US" dirty="0" smtClean="0"/>
              <a:t>関数を呼ぶことで描画できる。</a:t>
            </a:r>
            <a:endParaRPr kumimoji="1" lang="ja-JP" altLang="en-US" dirty="0"/>
          </a:p>
        </p:txBody>
      </p:sp>
      <p:sp>
        <p:nvSpPr>
          <p:cNvPr id="12" name="角丸四角形 11"/>
          <p:cNvSpPr/>
          <p:nvPr/>
        </p:nvSpPr>
        <p:spPr>
          <a:xfrm>
            <a:off x="5275246" y="4275112"/>
            <a:ext cx="2414528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RenderTargetView</a:t>
            </a:r>
            <a:endParaRPr kumimoji="1" lang="ja-JP" altLang="en-US" dirty="0"/>
          </a:p>
        </p:txBody>
      </p:sp>
      <p:sp>
        <p:nvSpPr>
          <p:cNvPr id="15" name="横巻き 14"/>
          <p:cNvSpPr/>
          <p:nvPr/>
        </p:nvSpPr>
        <p:spPr>
          <a:xfrm>
            <a:off x="5433391" y="2954143"/>
            <a:ext cx="4183655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d</a:t>
            </a:r>
            <a:r>
              <a:rPr lang="en-US" altLang="ja-JP" dirty="0" err="1" smtClean="0"/>
              <a:t>evice_context</a:t>
            </a:r>
            <a:r>
              <a:rPr lang="en-US" altLang="ja-JP" dirty="0" smtClean="0"/>
              <a:t>-&gt;</a:t>
            </a:r>
            <a:r>
              <a:rPr lang="en-US" altLang="ja-JP" dirty="0" err="1" smtClean="0"/>
              <a:t>SetRenderTargets</a:t>
            </a:r>
            <a:r>
              <a:rPr lang="en-US" altLang="ja-JP" dirty="0" smtClean="0"/>
              <a:t>()</a:t>
            </a:r>
            <a:endParaRPr kumimoji="1" lang="ja-JP" altLang="en-US" dirty="0"/>
          </a:p>
        </p:txBody>
      </p:sp>
      <p:sp>
        <p:nvSpPr>
          <p:cNvPr id="17" name="角丸四角形 16"/>
          <p:cNvSpPr/>
          <p:nvPr/>
        </p:nvSpPr>
        <p:spPr>
          <a:xfrm>
            <a:off x="5751725" y="2210309"/>
            <a:ext cx="2414528" cy="5247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DeviceContext</a:t>
            </a:r>
            <a:endParaRPr kumimoji="1" lang="ja-JP" altLang="en-US" dirty="0"/>
          </a:p>
        </p:txBody>
      </p:sp>
      <p:sp>
        <p:nvSpPr>
          <p:cNvPr id="20" name="楕円 19"/>
          <p:cNvSpPr/>
          <p:nvPr/>
        </p:nvSpPr>
        <p:spPr>
          <a:xfrm>
            <a:off x="9077899" y="4939116"/>
            <a:ext cx="1424543" cy="75533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Draw()</a:t>
            </a:r>
            <a:endParaRPr kumimoji="1" lang="ja-JP" altLang="en-US" dirty="0"/>
          </a:p>
        </p:txBody>
      </p:sp>
      <p:sp>
        <p:nvSpPr>
          <p:cNvPr id="21" name="円形吹き出し 20"/>
          <p:cNvSpPr/>
          <p:nvPr/>
        </p:nvSpPr>
        <p:spPr>
          <a:xfrm>
            <a:off x="2169754" y="5595220"/>
            <a:ext cx="3551104" cy="1061688"/>
          </a:xfrm>
          <a:prstGeom prst="wedgeEllipseCallout">
            <a:avLst>
              <a:gd name="adj1" fmla="val 38901"/>
              <a:gd name="adj2" fmla="val 56558"/>
            </a:avLst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最低限用意するものは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揃った</a:t>
            </a:r>
            <a:endParaRPr kumimoji="1" lang="ja-JP" altLang="en-US" dirty="0"/>
          </a:p>
        </p:txBody>
      </p:sp>
      <p:sp>
        <p:nvSpPr>
          <p:cNvPr id="22" name="円形吹き出し 21"/>
          <p:cNvSpPr/>
          <p:nvPr/>
        </p:nvSpPr>
        <p:spPr>
          <a:xfrm>
            <a:off x="10319133" y="5581825"/>
            <a:ext cx="1634169" cy="1061688"/>
          </a:xfrm>
          <a:prstGeom prst="wedgeEllipseCallout">
            <a:avLst>
              <a:gd name="adj1" fmla="val -37637"/>
              <a:gd name="adj2" fmla="val -56549"/>
            </a:avLst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どこに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描く？</a:t>
            </a:r>
            <a:endParaRPr kumimoji="1" lang="ja-JP" altLang="en-US" dirty="0"/>
          </a:p>
        </p:txBody>
      </p:sp>
      <p:sp>
        <p:nvSpPr>
          <p:cNvPr id="23" name="円形吹き出し 22"/>
          <p:cNvSpPr/>
          <p:nvPr/>
        </p:nvSpPr>
        <p:spPr>
          <a:xfrm>
            <a:off x="8402198" y="1637775"/>
            <a:ext cx="3551104" cy="1061688"/>
          </a:xfrm>
          <a:prstGeom prst="wedgeEllipseCallout">
            <a:avLst>
              <a:gd name="adj1" fmla="val -41761"/>
              <a:gd name="adj2" fmla="val 65897"/>
            </a:avLst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DeviceContext</a:t>
            </a:r>
            <a:r>
              <a:rPr kumimoji="1" lang="ja-JP" altLang="en-US" dirty="0" smtClean="0"/>
              <a:t>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描く場所を指定する。</a:t>
            </a:r>
            <a:endParaRPr kumimoji="1" lang="ja-JP" altLang="en-US" dirty="0"/>
          </a:p>
        </p:txBody>
      </p:sp>
      <p:cxnSp>
        <p:nvCxnSpPr>
          <p:cNvPr id="24" name="直線矢印コネクタ 23"/>
          <p:cNvCxnSpPr/>
          <p:nvPr/>
        </p:nvCxnSpPr>
        <p:spPr>
          <a:xfrm flipH="1">
            <a:off x="4143216" y="4537467"/>
            <a:ext cx="1132030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/>
          <p:nvPr/>
        </p:nvCxnSpPr>
        <p:spPr>
          <a:xfrm flipH="1">
            <a:off x="2862548" y="4537467"/>
            <a:ext cx="430622" cy="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/>
          <p:nvPr/>
        </p:nvCxnSpPr>
        <p:spPr>
          <a:xfrm flipH="1" flipV="1">
            <a:off x="1766765" y="3202311"/>
            <a:ext cx="670760" cy="9335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/>
          <p:nvPr/>
        </p:nvCxnSpPr>
        <p:spPr>
          <a:xfrm flipH="1" flipV="1">
            <a:off x="7689774" y="4537467"/>
            <a:ext cx="1388125" cy="77931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曲線コネクタ 27"/>
          <p:cNvCxnSpPr>
            <a:stCxn id="12" idx="1"/>
            <a:endCxn id="15" idx="1"/>
          </p:cNvCxnSpPr>
          <p:nvPr/>
        </p:nvCxnSpPr>
        <p:spPr>
          <a:xfrm rot="10800000" flipH="1">
            <a:off x="5275245" y="3256637"/>
            <a:ext cx="158145" cy="1280830"/>
          </a:xfrm>
          <a:prstGeom prst="curvedConnector3">
            <a:avLst>
              <a:gd name="adj1" fmla="val -144551"/>
            </a:avLst>
          </a:prstGeom>
          <a:ln w="38100">
            <a:solidFill>
              <a:srgbClr val="FF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二等辺三角形 28"/>
          <p:cNvSpPr/>
          <p:nvPr/>
        </p:nvSpPr>
        <p:spPr>
          <a:xfrm>
            <a:off x="1584702" y="2773353"/>
            <a:ext cx="364125" cy="345125"/>
          </a:xfrm>
          <a:prstGeom prst="triangl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形吹き出し 30"/>
          <p:cNvSpPr/>
          <p:nvPr/>
        </p:nvSpPr>
        <p:spPr>
          <a:xfrm>
            <a:off x="8640896" y="3601419"/>
            <a:ext cx="3551104" cy="1061688"/>
          </a:xfrm>
          <a:prstGeom prst="wedgeEllipseCallout">
            <a:avLst>
              <a:gd name="adj1" fmla="val -41761"/>
              <a:gd name="adj2" fmla="val 65897"/>
            </a:avLst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SetRenderTargets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されたことで繋がる</a:t>
            </a:r>
            <a:endParaRPr kumimoji="1" lang="ja-JP" altLang="en-US" dirty="0"/>
          </a:p>
        </p:txBody>
      </p:sp>
      <p:sp>
        <p:nvSpPr>
          <p:cNvPr id="33" name="円形吹き出し 32"/>
          <p:cNvSpPr/>
          <p:nvPr/>
        </p:nvSpPr>
        <p:spPr>
          <a:xfrm>
            <a:off x="4844294" y="652255"/>
            <a:ext cx="3859557" cy="1061688"/>
          </a:xfrm>
          <a:prstGeom prst="wedgeEllipseCallout">
            <a:avLst>
              <a:gd name="adj1" fmla="val -56236"/>
              <a:gd name="adj2" fmla="val 159227"/>
            </a:avLst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Present()</a:t>
            </a:r>
            <a:r>
              <a:rPr kumimoji="1" lang="ja-JP" altLang="en-US" dirty="0" smtClean="0"/>
              <a:t>で表示する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バッファをスワップさせ、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画面に表示する</a:t>
            </a:r>
            <a:endParaRPr kumimoji="1" lang="ja-JP" altLang="en-US" dirty="0"/>
          </a:p>
        </p:txBody>
      </p:sp>
      <p:sp>
        <p:nvSpPr>
          <p:cNvPr id="34" name="横巻き 33"/>
          <p:cNvSpPr/>
          <p:nvPr/>
        </p:nvSpPr>
        <p:spPr>
          <a:xfrm>
            <a:off x="2258089" y="2911460"/>
            <a:ext cx="2638535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s</a:t>
            </a:r>
            <a:r>
              <a:rPr kumimoji="1" lang="en-US" altLang="ja-JP" dirty="0" err="1" smtClean="0"/>
              <a:t>wapchain</a:t>
            </a:r>
            <a:r>
              <a:rPr kumimoji="1" lang="en-US" altLang="ja-JP" dirty="0" smtClean="0"/>
              <a:t>-&gt;Present()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255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15" grpId="0" animBg="1"/>
      <p:bldP spid="20" grpId="0" animBg="1"/>
      <p:bldP spid="21" grpId="0" animBg="1"/>
      <p:bldP spid="22" grpId="0" animBg="1"/>
      <p:bldP spid="23" grpId="0" animBg="1"/>
      <p:bldP spid="29" grpId="0" animBg="1"/>
      <p:bldP spid="31" grpId="0" animBg="1"/>
      <p:bldP spid="33" grpId="0" animBg="1"/>
      <p:bldP spid="3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右矢印 35"/>
          <p:cNvSpPr/>
          <p:nvPr/>
        </p:nvSpPr>
        <p:spPr>
          <a:xfrm rot="6011404">
            <a:off x="3065367" y="3808688"/>
            <a:ext cx="3038213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4" name="右矢印 33"/>
          <p:cNvSpPr/>
          <p:nvPr/>
        </p:nvSpPr>
        <p:spPr>
          <a:xfrm rot="4070813">
            <a:off x="4137266" y="3776062"/>
            <a:ext cx="3072076" cy="926063"/>
          </a:xfrm>
          <a:prstGeom prst="rightArrow">
            <a:avLst>
              <a:gd name="adj1" fmla="val 45351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描画パイプライン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977618" y="2017733"/>
            <a:ext cx="1578295" cy="12596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Window</a:t>
            </a:r>
            <a:br>
              <a:rPr kumimoji="1" lang="en-US" altLang="ja-JP" dirty="0" smtClean="0"/>
            </a:b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kumimoji="1" lang="ja-JP" altLang="en-US" dirty="0"/>
          </a:p>
        </p:txBody>
      </p:sp>
      <p:sp>
        <p:nvSpPr>
          <p:cNvPr id="5" name="角丸四角形 4"/>
          <p:cNvSpPr/>
          <p:nvPr/>
        </p:nvSpPr>
        <p:spPr>
          <a:xfrm>
            <a:off x="1773716" y="3612593"/>
            <a:ext cx="2710149" cy="1532284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SwapChain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 smtClean="0"/>
          </a:p>
          <a:p>
            <a:pPr algn="ctr"/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1341742" y="2399014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2012502" y="4135820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Front</a:t>
            </a:r>
            <a:br>
              <a:rPr kumimoji="1" lang="en-US" altLang="ja-JP" dirty="0" smtClean="0"/>
            </a:br>
            <a:r>
              <a:rPr kumimoji="1" lang="en-US" altLang="ja-JP" dirty="0" smtClean="0"/>
              <a:t>Buffer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3293170" y="4135819"/>
            <a:ext cx="850046" cy="80329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Buck</a:t>
            </a:r>
            <a:br>
              <a:rPr kumimoji="1" lang="en-US" altLang="ja-JP" dirty="0" smtClean="0"/>
            </a:br>
            <a:r>
              <a:rPr kumimoji="1" lang="en-US" altLang="ja-JP" dirty="0" smtClean="0"/>
              <a:t>Buffer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/>
        </p:nvSpPr>
        <p:spPr>
          <a:xfrm>
            <a:off x="3128790" y="5555159"/>
            <a:ext cx="970358" cy="88970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Depth</a:t>
            </a:r>
            <a:br>
              <a:rPr kumimoji="1" lang="en-US" altLang="ja-JP" dirty="0" smtClean="0"/>
            </a:br>
            <a:r>
              <a:rPr kumimoji="1" lang="en-US" altLang="ja-JP" dirty="0" smtClean="0"/>
              <a:t>Stencil</a:t>
            </a:r>
            <a:br>
              <a:rPr kumimoji="1" lang="en-US" altLang="ja-JP" dirty="0" smtClean="0"/>
            </a:br>
            <a:r>
              <a:rPr kumimoji="1" lang="en-US" altLang="ja-JP" dirty="0" smtClean="0"/>
              <a:t>Buffer</a:t>
            </a:r>
            <a:endParaRPr kumimoji="1" lang="ja-JP" altLang="en-US" dirty="0"/>
          </a:p>
        </p:txBody>
      </p:sp>
      <p:sp>
        <p:nvSpPr>
          <p:cNvPr id="12" name="角丸四角形 11"/>
          <p:cNvSpPr/>
          <p:nvPr/>
        </p:nvSpPr>
        <p:spPr>
          <a:xfrm>
            <a:off x="5275246" y="4275112"/>
            <a:ext cx="2414528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RenderTargetView</a:t>
            </a:r>
            <a:endParaRPr kumimoji="1" lang="ja-JP" altLang="en-US" dirty="0"/>
          </a:p>
        </p:txBody>
      </p:sp>
      <p:sp>
        <p:nvSpPr>
          <p:cNvPr id="13" name="角丸四角形 12"/>
          <p:cNvSpPr/>
          <p:nvPr/>
        </p:nvSpPr>
        <p:spPr>
          <a:xfrm>
            <a:off x="5275246" y="5737658"/>
            <a:ext cx="2414528" cy="524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2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DepthStencilView</a:t>
            </a:r>
            <a:endParaRPr kumimoji="1" lang="ja-JP" altLang="en-US" dirty="0"/>
          </a:p>
        </p:txBody>
      </p:sp>
      <p:sp>
        <p:nvSpPr>
          <p:cNvPr id="14" name="楕円 13"/>
          <p:cNvSpPr/>
          <p:nvPr/>
        </p:nvSpPr>
        <p:spPr>
          <a:xfrm>
            <a:off x="9077899" y="4939116"/>
            <a:ext cx="1424543" cy="75533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Draw()</a:t>
            </a:r>
            <a:endParaRPr kumimoji="1" lang="ja-JP" altLang="en-US" dirty="0"/>
          </a:p>
        </p:txBody>
      </p:sp>
      <p:cxnSp>
        <p:nvCxnSpPr>
          <p:cNvPr id="16" name="直線矢印コネクタ 15"/>
          <p:cNvCxnSpPr>
            <a:stCxn id="14" idx="2"/>
            <a:endCxn id="13" idx="3"/>
          </p:cNvCxnSpPr>
          <p:nvPr/>
        </p:nvCxnSpPr>
        <p:spPr>
          <a:xfrm flipH="1">
            <a:off x="7689774" y="5316785"/>
            <a:ext cx="1388125" cy="68322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>
            <a:stCxn id="14" idx="2"/>
            <a:endCxn id="12" idx="3"/>
          </p:cNvCxnSpPr>
          <p:nvPr/>
        </p:nvCxnSpPr>
        <p:spPr>
          <a:xfrm flipH="1" flipV="1">
            <a:off x="7689774" y="4537467"/>
            <a:ext cx="1388125" cy="77931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>
            <a:stCxn id="12" idx="1"/>
            <a:endCxn id="9" idx="3"/>
          </p:cNvCxnSpPr>
          <p:nvPr/>
        </p:nvCxnSpPr>
        <p:spPr>
          <a:xfrm flipH="1">
            <a:off x="4143216" y="4537467"/>
            <a:ext cx="1132030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>
            <a:stCxn id="13" idx="1"/>
            <a:endCxn id="10" idx="3"/>
          </p:cNvCxnSpPr>
          <p:nvPr/>
        </p:nvCxnSpPr>
        <p:spPr>
          <a:xfrm flipH="1">
            <a:off x="4099148" y="6000013"/>
            <a:ext cx="117609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>
            <a:endCxn id="8" idx="3"/>
          </p:cNvCxnSpPr>
          <p:nvPr/>
        </p:nvCxnSpPr>
        <p:spPr>
          <a:xfrm flipH="1">
            <a:off x="2862548" y="4537467"/>
            <a:ext cx="430622" cy="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>
            <a:stCxn id="8" idx="0"/>
            <a:endCxn id="7" idx="2"/>
          </p:cNvCxnSpPr>
          <p:nvPr/>
        </p:nvCxnSpPr>
        <p:spPr>
          <a:xfrm flipH="1" flipV="1">
            <a:off x="1766765" y="3202311"/>
            <a:ext cx="670760" cy="9335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>
            <a:stCxn id="9" idx="2"/>
            <a:endCxn id="10" idx="0"/>
          </p:cNvCxnSpPr>
          <p:nvPr/>
        </p:nvCxnSpPr>
        <p:spPr>
          <a:xfrm flipH="1">
            <a:off x="3613969" y="4939116"/>
            <a:ext cx="104224" cy="616043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楕円 37"/>
          <p:cNvSpPr/>
          <p:nvPr/>
        </p:nvSpPr>
        <p:spPr>
          <a:xfrm>
            <a:off x="1641513" y="2667568"/>
            <a:ext cx="264405" cy="264405"/>
          </a:xfrm>
          <a:prstGeom prst="ellipse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二等辺三角形 38"/>
          <p:cNvSpPr/>
          <p:nvPr/>
        </p:nvSpPr>
        <p:spPr>
          <a:xfrm>
            <a:off x="1584702" y="2773353"/>
            <a:ext cx="364125" cy="345125"/>
          </a:xfrm>
          <a:prstGeom prst="triangl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/>
          <p:cNvSpPr/>
          <p:nvPr/>
        </p:nvSpPr>
        <p:spPr>
          <a:xfrm>
            <a:off x="9567839" y="4168687"/>
            <a:ext cx="444662" cy="401648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/>
          <p:cNvSpPr/>
          <p:nvPr/>
        </p:nvSpPr>
        <p:spPr>
          <a:xfrm>
            <a:off x="9669640" y="3950947"/>
            <a:ext cx="241059" cy="217740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台形 48"/>
          <p:cNvSpPr/>
          <p:nvPr/>
        </p:nvSpPr>
        <p:spPr>
          <a:xfrm rot="10800000">
            <a:off x="7490596" y="1849836"/>
            <a:ext cx="4599145" cy="2090826"/>
          </a:xfrm>
          <a:prstGeom prst="trapezoid">
            <a:avLst>
              <a:gd name="adj" fmla="val 103661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/>
          <p:cNvSpPr/>
          <p:nvPr/>
        </p:nvSpPr>
        <p:spPr>
          <a:xfrm>
            <a:off x="9556163" y="2464998"/>
            <a:ext cx="405139" cy="405139"/>
          </a:xfrm>
          <a:prstGeom prst="ellipse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二等辺三角形 50"/>
          <p:cNvSpPr/>
          <p:nvPr/>
        </p:nvSpPr>
        <p:spPr>
          <a:xfrm>
            <a:off x="9540816" y="3098162"/>
            <a:ext cx="435832" cy="413090"/>
          </a:xfrm>
          <a:prstGeom prst="triangl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角丸四角形 51"/>
          <p:cNvSpPr/>
          <p:nvPr/>
        </p:nvSpPr>
        <p:spPr>
          <a:xfrm>
            <a:off x="3027804" y="2212972"/>
            <a:ext cx="2414528" cy="524710"/>
          </a:xfrm>
          <a:prstGeom prst="roundRect">
            <a:avLst/>
          </a:prstGeom>
          <a:solidFill>
            <a:srgbClr val="FFFFCC"/>
          </a:solidFill>
          <a:ln w="28575">
            <a:solidFill>
              <a:srgbClr val="CCCC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Device</a:t>
            </a:r>
            <a:endParaRPr kumimoji="1" lang="ja-JP" altLang="en-US" dirty="0"/>
          </a:p>
        </p:txBody>
      </p:sp>
      <p:sp>
        <p:nvSpPr>
          <p:cNvPr id="53" name="角丸四角形 52"/>
          <p:cNvSpPr/>
          <p:nvPr/>
        </p:nvSpPr>
        <p:spPr>
          <a:xfrm>
            <a:off x="5751725" y="2210309"/>
            <a:ext cx="2414528" cy="5247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DeviceContext</a:t>
            </a:r>
            <a:endParaRPr kumimoji="1" lang="ja-JP" altLang="en-US" dirty="0"/>
          </a:p>
        </p:txBody>
      </p:sp>
      <p:sp>
        <p:nvSpPr>
          <p:cNvPr id="30" name="円形吹き出し 29"/>
          <p:cNvSpPr/>
          <p:nvPr/>
        </p:nvSpPr>
        <p:spPr>
          <a:xfrm>
            <a:off x="5100240" y="539945"/>
            <a:ext cx="3551104" cy="1061688"/>
          </a:xfrm>
          <a:prstGeom prst="wedgeEllipseCallout">
            <a:avLst>
              <a:gd name="adj1" fmla="val 38901"/>
              <a:gd name="adj2" fmla="val 56558"/>
            </a:avLst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２つオブジェクトを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描く場合は前後関係を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制御する必要がある</a:t>
            </a:r>
            <a:endParaRPr kumimoji="1" lang="ja-JP" altLang="en-US" dirty="0"/>
          </a:p>
        </p:txBody>
      </p:sp>
      <p:sp>
        <p:nvSpPr>
          <p:cNvPr id="31" name="円形吹き出し 30"/>
          <p:cNvSpPr/>
          <p:nvPr/>
        </p:nvSpPr>
        <p:spPr>
          <a:xfrm>
            <a:off x="140519" y="5546524"/>
            <a:ext cx="2884991" cy="1061688"/>
          </a:xfrm>
          <a:prstGeom prst="wedgeEllipseCallout">
            <a:avLst>
              <a:gd name="adj1" fmla="val 50496"/>
              <a:gd name="adj2" fmla="val -32682"/>
            </a:avLst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奥行情報を描く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テクスチャを作る</a:t>
            </a:r>
            <a:endParaRPr kumimoji="1" lang="ja-JP" altLang="en-US" dirty="0"/>
          </a:p>
        </p:txBody>
      </p:sp>
      <p:sp>
        <p:nvSpPr>
          <p:cNvPr id="32" name="横巻き 31"/>
          <p:cNvSpPr/>
          <p:nvPr/>
        </p:nvSpPr>
        <p:spPr>
          <a:xfrm>
            <a:off x="5275247" y="3162553"/>
            <a:ext cx="3144994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CreateDepthStencilView</a:t>
            </a:r>
            <a:endParaRPr kumimoji="1" lang="ja-JP" altLang="en-US" dirty="0"/>
          </a:p>
        </p:txBody>
      </p:sp>
      <p:sp>
        <p:nvSpPr>
          <p:cNvPr id="35" name="横巻き 34"/>
          <p:cNvSpPr/>
          <p:nvPr/>
        </p:nvSpPr>
        <p:spPr>
          <a:xfrm>
            <a:off x="2570243" y="2880042"/>
            <a:ext cx="2231481" cy="604988"/>
          </a:xfrm>
          <a:prstGeom prst="horizontalScroll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CreateTexture</a:t>
            </a:r>
            <a:endParaRPr kumimoji="1" lang="ja-JP" altLang="en-US" dirty="0"/>
          </a:p>
        </p:txBody>
      </p:sp>
      <p:sp>
        <p:nvSpPr>
          <p:cNvPr id="41" name="円形吹き出し 40"/>
          <p:cNvSpPr/>
          <p:nvPr/>
        </p:nvSpPr>
        <p:spPr>
          <a:xfrm>
            <a:off x="4550383" y="4848509"/>
            <a:ext cx="2884991" cy="822521"/>
          </a:xfrm>
          <a:prstGeom prst="wedgeEllipseCallout">
            <a:avLst>
              <a:gd name="adj1" fmla="val -72847"/>
              <a:gd name="adj2" fmla="val -21967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色</a:t>
            </a:r>
            <a:r>
              <a:rPr kumimoji="1" lang="ja-JP" altLang="en-US" dirty="0" smtClean="0"/>
              <a:t>を塗る前に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奥行を</a:t>
            </a:r>
            <a:r>
              <a:rPr kumimoji="1" lang="ja-JP" altLang="en-US" dirty="0"/>
              <a:t>比較</a:t>
            </a:r>
            <a:r>
              <a:rPr kumimoji="1" lang="ja-JP" altLang="en-US" dirty="0" smtClean="0"/>
              <a:t>するぞ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314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4" grpId="0" animBg="1"/>
      <p:bldP spid="10" grpId="0" animBg="1"/>
      <p:bldP spid="13" grpId="0" animBg="1"/>
      <p:bldP spid="38" grpId="0" animBg="1"/>
      <p:bldP spid="31" grpId="0" animBg="1"/>
      <p:bldP spid="32" grpId="0" animBg="1"/>
      <p:bldP spid="35" grpId="0" animBg="1"/>
      <p:bldP spid="4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実習内容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ja-JP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DirectX</a:t>
            </a:r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の初期化を行い、画面をクリアする。</a:t>
            </a:r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en-US" altLang="ja-JP" dirty="0"/>
          </a:p>
          <a:p>
            <a:pPr rtl="0"/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エラー処理やオブジェクトの解放処理を行うこと。</a:t>
            </a:r>
            <a:endParaRPr lang="en-US" altLang="ja-JP" dirty="0" smtClean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rtl="0"/>
            <a:r>
              <a:rPr lang="ja-JP" altLang="en-US" dirty="0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調べた内容はコメント記述すること。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5200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ブレーンストーミングのプレゼンテーション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870482_TF03460637.potx" id="{8F3B156D-932A-4C4F-B19B-13DA9C7AB513}" vid="{CAF0C7A8-6467-402F-B5CC-E460ADA54AE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ビジネス ブレーンストーミング プレゼンテーション</Template>
  <TotalTime>1771</TotalTime>
  <Words>572</Words>
  <Application>Microsoft Office PowerPoint</Application>
  <PresentationFormat>ワイド画面</PresentationFormat>
  <Paragraphs>185</Paragraphs>
  <Slides>24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30" baseType="lpstr">
      <vt:lpstr>Meiryo UI</vt:lpstr>
      <vt:lpstr>ＭＳ ゴシック</vt:lpstr>
      <vt:lpstr>ＭＳ 明朝</vt:lpstr>
      <vt:lpstr>Palatino Linotype</vt:lpstr>
      <vt:lpstr>Wingdings 2</vt:lpstr>
      <vt:lpstr>ブレーンストーミングのプレゼンテーション</vt:lpstr>
      <vt:lpstr>描画エンジン開発Ⅰ・Ⅱ</vt:lpstr>
      <vt:lpstr>はじめに</vt:lpstr>
      <vt:lpstr>PowerPoint プレゼンテーション</vt:lpstr>
      <vt:lpstr>授業内容</vt:lpstr>
      <vt:lpstr>配布物</vt:lpstr>
      <vt:lpstr>描画エンジン開発Ⅰ・Ⅱで学習すること</vt:lpstr>
      <vt:lpstr>DirectXについて</vt:lpstr>
      <vt:lpstr>DirectXの世代について</vt:lpstr>
      <vt:lpstr>実行結果</vt:lpstr>
      <vt:lpstr>DirectX初期化から画面表示までの流れ</vt:lpstr>
      <vt:lpstr>ウインドウを作成</vt:lpstr>
      <vt:lpstr>DirectX11初期化</vt:lpstr>
      <vt:lpstr>キャンバスの作成</vt:lpstr>
      <vt:lpstr>これから画を描くキャンバスを指定する</vt:lpstr>
      <vt:lpstr>画を描く場所を決める</vt:lpstr>
      <vt:lpstr>キャンバスに画を描く</vt:lpstr>
      <vt:lpstr>画面表示</vt:lpstr>
      <vt:lpstr>画面を表示する仕組み</vt:lpstr>
      <vt:lpstr>描画パイプライン</vt:lpstr>
      <vt:lpstr>描画パイプライン</vt:lpstr>
      <vt:lpstr>描画パイプライン</vt:lpstr>
      <vt:lpstr>描画パイプライン</vt:lpstr>
      <vt:lpstr>描画パイプライン</vt:lpstr>
      <vt:lpstr>実習内容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描画エンジン制作Ⅰ</dc:title>
  <dc:creator>吉野 広二</dc:creator>
  <cp:lastModifiedBy>吉野 広二</cp:lastModifiedBy>
  <cp:revision>73</cp:revision>
  <dcterms:created xsi:type="dcterms:W3CDTF">2019-03-17T05:51:21Z</dcterms:created>
  <dcterms:modified xsi:type="dcterms:W3CDTF">2021-03-03T07:01:42Z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