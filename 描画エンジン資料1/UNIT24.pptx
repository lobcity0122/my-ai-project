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0"/>
  </p:notesMasterIdLst>
  <p:handoutMasterIdLst>
    <p:handoutMasterId r:id="rId21"/>
  </p:handoutMasterIdLst>
  <p:sldIdLst>
    <p:sldId id="272" r:id="rId2"/>
    <p:sldId id="273" r:id="rId3"/>
    <p:sldId id="286" r:id="rId4"/>
    <p:sldId id="344" r:id="rId5"/>
    <p:sldId id="298" r:id="rId6"/>
    <p:sldId id="299" r:id="rId7"/>
    <p:sldId id="309" r:id="rId8"/>
    <p:sldId id="319" r:id="rId9"/>
    <p:sldId id="348" r:id="rId10"/>
    <p:sldId id="349" r:id="rId11"/>
    <p:sldId id="350" r:id="rId12"/>
    <p:sldId id="351" r:id="rId13"/>
    <p:sldId id="352" r:id="rId14"/>
    <p:sldId id="353" r:id="rId15"/>
    <p:sldId id="356" r:id="rId16"/>
    <p:sldId id="357" r:id="rId17"/>
    <p:sldId id="354" r:id="rId18"/>
    <p:sldId id="355" r:id="rId19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F3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8" autoAdjust="0"/>
    <p:restoredTop sz="74394" autoAdjust="0"/>
  </p:normalViewPr>
  <p:slideViewPr>
    <p:cSldViewPr snapToGrid="0">
      <p:cViewPr varScale="1">
        <p:scale>
          <a:sx n="86" d="100"/>
          <a:sy n="86" d="100"/>
        </p:scale>
        <p:origin x="126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148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DA88A-700E-4959-AD05-3C421866BDC6}" type="datetime4">
              <a:rPr kumimoji="1"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2021年11月2日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09A4F4-89FA-4551-A9F4-ECDBD52C06D6}" type="slidenum">
              <a:rPr kumimoji="1"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4810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ECA54F6-A409-4052-BA8C-D33E3AF8AD29}" type="datetime4">
              <a:rPr lang="ja-JP" altLang="en-US" smtClean="0"/>
              <a:pPr/>
              <a:t>2021年11月2日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93B0CF2-7F87-4E02-A248-870047730F99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1498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5133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93B0CF2-7F87-4E02-A248-870047730F9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351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3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6932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5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746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94109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7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508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9570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11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6236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B0CF2-7F87-4E02-A248-870047730F99}" type="slidenum">
              <a:rPr lang="en-US" altLang="ja-JP" smtClean="0"/>
              <a:pPr/>
              <a:t>18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3937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 9"/>
          <p:cNvGrpSpPr/>
          <p:nvPr/>
        </p:nvGrpSpPr>
        <p:grpSpPr>
          <a:xfrm>
            <a:off x="0" y="6208894"/>
            <a:ext cx="12192000" cy="649106"/>
            <a:chOff x="0" y="6208894"/>
            <a:chExt cx="12192000" cy="649106"/>
          </a:xfrm>
        </p:grpSpPr>
        <p:sp>
          <p:nvSpPr>
            <p:cNvPr id="2" name="長方形 1"/>
            <p:cNvSpPr/>
            <p:nvPr/>
          </p:nvSpPr>
          <p:spPr>
            <a:xfrm>
              <a:off x="3048" y="6220178"/>
              <a:ext cx="12188952" cy="637822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cxnSp>
          <p:nvCxnSpPr>
            <p:cNvPr id="7" name="直線​​コネクタ 6"/>
            <p:cNvCxnSpPr/>
            <p:nvPr/>
          </p:nvCxnSpPr>
          <p:spPr>
            <a:xfrm>
              <a:off x="0" y="6208894"/>
              <a:ext cx="12192000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" name="直線​​コネクタ 4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​​コネクタ 10"/>
          <p:cNvCxnSpPr/>
          <p:nvPr userDrawn="1"/>
        </p:nvCxnSpPr>
        <p:spPr>
          <a:xfrm flipV="1">
            <a:off x="3048" y="5937956"/>
            <a:ext cx="8241" cy="5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タイトル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17" name="サブタイトル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 rtlCol="0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ja-JP" altLang="en-US" noProof="0" smtClean="0"/>
              <a:t>マスター サブタイトルの書式設定</a:t>
            </a:r>
            <a:endParaRPr kumimoji="0" lang="ja-JP" altLang="en-US" noProof="0" dirty="0"/>
          </a:p>
        </p:txBody>
      </p:sp>
      <p:sp>
        <p:nvSpPr>
          <p:cNvPr id="30" name="日付プレースホルダー 2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D9F5B4-D2B9-4671-9B63-0110E6386A4E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19" name="フッター プレースホルダー 1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27" name="スライド番号プレースホルダー 2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98082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C11D6-D226-45B1-8AA5-91C501F3B0E7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8168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 ヘッダ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rtlCol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rtlCol="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400AA1-06A4-444F-94EA-80BA16484187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319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 rtlCol="0"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38B790-6ACD-441F-B06D-4917F8B429D2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9018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rtlCol="0" anchor="b"/>
          <a:lstStyle>
            <a:lvl1pPr>
              <a:defRPr/>
            </a:lvl1pPr>
          </a:lstStyle>
          <a:p>
            <a:pPr rtl="0"/>
            <a:r>
              <a:rPr lang="ja-JP" altLang="en-US" smtClean="0"/>
              <a:t>マスター タイトルの書式設定</a:t>
            </a:r>
            <a:endParaRPr kumimoji="0"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rtlCol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rtlCol="0" anchor="ctr"/>
          <a:lstStyle>
            <a:lvl1pPr marL="0" indent="0">
              <a:buNone/>
              <a:defRPr sz="2400" b="1" cap="none" baseline="0">
                <a:solidFill>
                  <a:schemeClr val="tx1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 rtlCol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ja-JP" altLang="en-US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 rtl="0" eaLnBrk="1" latinLnBrk="0" hangingPunct="1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kumimoji="0" lang="en-US" dirty="0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296CEC-F0EC-4499-B406-555829E93D38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" dirty="0"/>
              <a:t>フッターを追加</a:t>
            </a:r>
            <a:endParaRPr 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18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rtlCol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C8EE4A-0564-4F19-AF56-1B86A81857A1}" type="datetime4">
              <a:rPr lang="ja-JP" altLang="en-US" smtClean="0"/>
              <a:t>2021年11月2日</a:t>
            </a:fld>
            <a:endParaRPr 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071814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D0A0B1-5389-4168-8C71-456999E01C6A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288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rtlCol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 rtlCol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  <a:p>
            <a:pPr lvl="1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 rtl="0" eaLnBrk="1" latinLnBrk="0" hangingPunct="1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  <a:endParaRPr kumimoji="0" lang="ja-JP" altLang="en-US" noProof="0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 rtlCol="0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FAF4E1-8E5B-454D-966C-37225B9702A6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192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キャプション付きの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つの角を切り取って丸めた四角形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ja-JP" altLang="en-US" sz="1800" noProof="0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rtlCol="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図プレースホルダー 2" descr="画像を追加する空のプレースホルダー。プレースホルダーをクリックし、追加する画像を選択します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ja-JP" altLang="en-US" noProof="0" smtClean="0"/>
              <a:t>図を追加</a:t>
            </a:r>
            <a:endParaRPr kumimoji="0" lang="ja-JP" altLang="en-US" noProof="0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rtlCol="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rtl="0" eaLnBrk="1" latinLnBrk="0" hangingPunct="1"/>
            <a:r>
              <a:rPr lang="ja-JP" altLang="en-US" noProof="0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A228A8-1DDA-4C9E-B7BB-B3D4A4576159}" type="datetime4">
              <a:rPr lang="ja-JP" altLang="en-US" smtClean="0"/>
              <a:t>2021年11月2日</a:t>
            </a:fld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  <p:sp>
        <p:nvSpPr>
          <p:cNvPr id="10" name="フリーフォーム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フリーフォーム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rtlCol="0" anchor="t" compatLnSpc="1"/>
          <a:lstStyle/>
          <a:p>
            <a:pPr marL="0" algn="l" rtl="0" eaLnBrk="1" latinLnBrk="0" hangingPunct="1"/>
            <a:endParaRPr kumimoji="0" lang="ja-JP" altLang="en-US" sz="1800" noProof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624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89D195-22A8-4E03-A4C1-FF558F7B427F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7777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 rtlCol="0"/>
          <a:lstStyle/>
          <a:p>
            <a:pPr rtl="0"/>
            <a:r>
              <a:rPr lang="ja-JP" altLang="en-US" noProof="0" smtClean="0"/>
              <a:t>マスター タイトルの書式設定</a:t>
            </a:r>
            <a:endParaRPr kumimoji="0" lang="ja-JP" altLang="en-US" noProof="0" dirty="0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914402"/>
            <a:ext cx="8026400" cy="5211763"/>
          </a:xfrm>
        </p:spPr>
        <p:txBody>
          <a:bodyPr vert="eaVert" rtlCol="0"/>
          <a:lstStyle/>
          <a:p>
            <a:pPr lvl="0" rtl="0" eaLnBrk="1" latinLnBrk="0" hangingPunct="1"/>
            <a:r>
              <a:rPr lang="ja-JP" altLang="en-US" noProof="0" dirty="0"/>
              <a:t>クリックしてマスター テキストのスタイルを編集</a:t>
            </a:r>
          </a:p>
          <a:p>
            <a:pPr lvl="1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2 </a:t>
            </a:r>
            <a:r>
              <a:rPr kumimoji="1" lang="ja-JP" altLang="en-US" noProof="0" dirty="0" smtClean="0"/>
              <a:t>レベル</a:t>
            </a:r>
          </a:p>
          <a:p>
            <a:pPr lvl="2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3 </a:t>
            </a:r>
            <a:r>
              <a:rPr kumimoji="1" lang="ja-JP" altLang="en-US" noProof="0" dirty="0" smtClean="0"/>
              <a:t>レベル</a:t>
            </a:r>
          </a:p>
          <a:p>
            <a:pPr lvl="3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4 </a:t>
            </a:r>
            <a:r>
              <a:rPr kumimoji="1" lang="ja-JP" altLang="en-US" noProof="0" dirty="0" smtClean="0"/>
              <a:t>レベル</a:t>
            </a:r>
          </a:p>
          <a:p>
            <a:pPr lvl="4"/>
            <a:r>
              <a:rPr kumimoji="1" lang="ja-JP" altLang="en-US" noProof="0" dirty="0" smtClean="0"/>
              <a:t>第 </a:t>
            </a:r>
            <a:r>
              <a:rPr kumimoji="1" lang="en-US" altLang="ja-JP" noProof="0" dirty="0" smtClean="0"/>
              <a:t>5 </a:t>
            </a:r>
            <a:r>
              <a:rPr kumimoji="1" lang="ja-JP" altLang="en-US" noProof="0" dirty="0" smtClean="0"/>
              <a:t>レベル</a:t>
            </a:r>
            <a:endParaRPr kumimoji="1" lang="ja-JP" altLang="en-US" noProof="0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9B777F-2BA6-42C0-83EF-2CC97DD0D6E7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ja-JP" altLang="en-US" noProof="0" dirty="0"/>
              <a:t>フッターを追加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975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 24"/>
          <p:cNvGrpSpPr/>
          <p:nvPr/>
        </p:nvGrpSpPr>
        <p:grpSpPr>
          <a:xfrm>
            <a:off x="-29028" y="-7144"/>
            <a:ext cx="12240731" cy="6879658"/>
            <a:chOff x="0" y="-21658"/>
            <a:chExt cx="12240731" cy="6879658"/>
          </a:xfrm>
        </p:grpSpPr>
        <p:sp>
          <p:nvSpPr>
            <p:cNvPr id="26" name="長方形 25"/>
            <p:cNvSpPr/>
            <p:nvPr/>
          </p:nvSpPr>
          <p:spPr>
            <a:xfrm>
              <a:off x="31633" y="0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ja-JP" altLang="en-US" noProof="0" dirty="0"/>
            </a:p>
          </p:txBody>
        </p:sp>
        <p:grpSp>
          <p:nvGrpSpPr>
            <p:cNvPr id="27" name="グループ 26"/>
            <p:cNvGrpSpPr/>
            <p:nvPr/>
          </p:nvGrpSpPr>
          <p:grpSpPr>
            <a:xfrm>
              <a:off x="0" y="-21658"/>
              <a:ext cx="12240731" cy="1041400"/>
              <a:chOff x="-25356" y="-7144"/>
              <a:chExt cx="12240731" cy="1041400"/>
            </a:xfrm>
          </p:grpSpPr>
          <p:sp>
            <p:nvSpPr>
              <p:cNvPr id="28" name="フリーフォーム 27"/>
              <p:cNvSpPr>
                <a:spLocks/>
              </p:cNvSpPr>
              <p:nvPr/>
            </p:nvSpPr>
            <p:spPr bwMode="auto">
              <a:xfrm>
                <a:off x="-12700" y="-7144"/>
                <a:ext cx="12217400" cy="1041400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6" y="2"/>
                  </a:cxn>
                  <a:cxn ang="0">
                    <a:pos x="2542" y="0"/>
                  </a:cxn>
                  <a:cxn ang="0">
                    <a:pos x="4374" y="367"/>
                  </a:cxn>
                  <a:cxn ang="0">
                    <a:pos x="5766" y="55"/>
                  </a:cxn>
                  <a:cxn ang="0">
                    <a:pos x="5772" y="213"/>
                  </a:cxn>
                  <a:cxn ang="0">
                    <a:pos x="4302" y="439"/>
                  </a:cxn>
                  <a:cxn ang="0">
                    <a:pos x="1488" y="201"/>
                  </a:cxn>
                  <a:cxn ang="0">
                    <a:pos x="0" y="656"/>
                  </a:cxn>
                  <a:cxn ang="0">
                    <a:pos x="6" y="2"/>
                  </a:cxn>
                </a:cxnLst>
                <a:rect l="0" t="0" r="0" b="0"/>
                <a:pathLst>
                  <a:path w="5772" h="656">
                    <a:moveTo>
                      <a:pt x="6" y="2"/>
                    </a:moveTo>
                    <a:lnTo>
                      <a:pt x="2542" y="0"/>
                    </a:lnTo>
                    <a:cubicBezTo>
                      <a:pt x="2746" y="101"/>
                      <a:pt x="3828" y="367"/>
                      <a:pt x="4374" y="367"/>
                    </a:cubicBezTo>
                    <a:cubicBezTo>
                      <a:pt x="4920" y="367"/>
                      <a:pt x="5526" y="152"/>
                      <a:pt x="5766" y="55"/>
                    </a:cubicBezTo>
                    <a:lnTo>
                      <a:pt x="5772" y="213"/>
                    </a:lnTo>
                    <a:cubicBezTo>
                      <a:pt x="5670" y="257"/>
                      <a:pt x="5016" y="441"/>
                      <a:pt x="4302" y="439"/>
                    </a:cubicBezTo>
                    <a:cubicBezTo>
                      <a:pt x="3588" y="437"/>
                      <a:pt x="2205" y="165"/>
                      <a:pt x="1488" y="201"/>
                    </a:cubicBezTo>
                    <a:cubicBezTo>
                      <a:pt x="750" y="209"/>
                      <a:pt x="270" y="482"/>
                      <a:pt x="0" y="656"/>
                    </a:cubicBezTo>
                    <a:lnTo>
                      <a:pt x="6" y="2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2">
                      <a:shade val="50000"/>
                      <a:alpha val="45000"/>
                      <a:satMod val="120000"/>
                    </a:schemeClr>
                  </a:gs>
                  <a:gs pos="100000">
                    <a:schemeClr val="accent3">
                      <a:shade val="80000"/>
                      <a:alpha val="55000"/>
                      <a:satMod val="155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フリーフォーム 28"/>
              <p:cNvSpPr>
                <a:spLocks/>
              </p:cNvSpPr>
              <p:nvPr/>
            </p:nvSpPr>
            <p:spPr bwMode="auto">
              <a:xfrm>
                <a:off x="5842000" y="-7144"/>
                <a:ext cx="6350000" cy="638175"/>
              </a:xfrm>
              <a:custGeom>
                <a:avLst>
                  <a:gd name="A1" fmla="val 0"/>
                  <a:gd name="A2" fmla="val 0"/>
                  <a:gd name="A3" fmla="val 0"/>
                  <a:gd name="A4" fmla="val 0"/>
                  <a:gd name="A5" fmla="val 0"/>
                  <a:gd name="A6" fmla="val 0"/>
                  <a:gd name="A7" fmla="val 0"/>
                  <a:gd name="A8" fmla="val 0"/>
                </a:avLst>
                <a:gdLst/>
                <a:ahLst/>
                <a:cxnLst>
                  <a:cxn ang="0">
                    <a:pos x="0" y="0"/>
                  </a:cxn>
                  <a:cxn ang="0">
                    <a:pos x="1668" y="564"/>
                  </a:cxn>
                  <a:cxn ang="0">
                    <a:pos x="3000" y="186"/>
                  </a:cxn>
                  <a:cxn ang="0">
                    <a:pos x="3000" y="6"/>
                  </a:cxn>
                  <a:cxn ang="0">
                    <a:pos x="0" y="0"/>
                  </a:cxn>
                </a:cxnLst>
                <a:rect l="0" t="0" r="0" b="0"/>
                <a:pathLst>
                  <a:path w="3000" h="595">
                    <a:moveTo>
                      <a:pt x="0" y="0"/>
                    </a:moveTo>
                    <a:cubicBezTo>
                      <a:pt x="174" y="102"/>
                      <a:pt x="1168" y="533"/>
                      <a:pt x="1668" y="564"/>
                    </a:cubicBezTo>
                    <a:cubicBezTo>
                      <a:pt x="2168" y="595"/>
                      <a:pt x="2778" y="279"/>
                      <a:pt x="3000" y="186"/>
                    </a:cubicBezTo>
                    <a:lnTo>
                      <a:pt x="3000" y="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3">
                      <a:shade val="50000"/>
                      <a:alpha val="30000"/>
                      <a:satMod val="130000"/>
                    </a:schemeClr>
                  </a:gs>
                  <a:gs pos="80000">
                    <a:schemeClr val="accent2">
                      <a:shade val="75000"/>
                      <a:alpha val="45000"/>
                      <a:satMod val="14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rtlCol="0" anchor="t" compatLnSpc="1"/>
              <a:lstStyle/>
              <a:p>
                <a:pPr marL="0" algn="l" rtl="0" eaLnBrk="1" latinLnBrk="0" hangingPunct="1"/>
                <a:endParaRPr kumimoji="0" lang="ja-JP" altLang="en-US" sz="1800" noProof="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31" name="グループ 30"/>
              <p:cNvGrpSpPr/>
              <p:nvPr/>
            </p:nvGrpSpPr>
            <p:grpSpPr>
              <a:xfrm>
                <a:off x="-25356" y="202408"/>
                <a:ext cx="12240731" cy="649224"/>
                <a:chOff x="-19045" y="216550"/>
                <a:chExt cx="9180548" cy="649224"/>
              </a:xfrm>
            </p:grpSpPr>
            <p:sp>
              <p:nvSpPr>
                <p:cNvPr id="32" name="フリーフォーム 31"/>
                <p:cNvSpPr>
                  <a:spLocks/>
                </p:cNvSpPr>
                <p:nvPr/>
              </p:nvSpPr>
              <p:spPr bwMode="auto">
                <a:xfrm rot="21435692">
                  <a:off x="-19045" y="216550"/>
                  <a:ext cx="9163050" cy="649224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966"/>
                    </a:cxn>
                    <a:cxn ang="0">
                      <a:pos x="1608" y="282"/>
                    </a:cxn>
                    <a:cxn ang="0">
                      <a:pos x="4110" y="1008"/>
                    </a:cxn>
                    <a:cxn ang="0">
                      <a:pos x="5772" y="0"/>
                    </a:cxn>
                  </a:cxnLst>
                  <a:rect l="0" t="0" r="0" b="0"/>
                  <a:pathLst>
                    <a:path w="5772" h="1055">
                      <a:moveTo>
                        <a:pt x="0" y="966"/>
                      </a:moveTo>
                      <a:cubicBezTo>
                        <a:pt x="282" y="738"/>
                        <a:pt x="923" y="275"/>
                        <a:pt x="1608" y="282"/>
                      </a:cubicBezTo>
                      <a:cubicBezTo>
                        <a:pt x="2293" y="289"/>
                        <a:pt x="3416" y="1055"/>
                        <a:pt x="4110" y="1008"/>
                      </a:cubicBezTo>
                      <a:cubicBezTo>
                        <a:pt x="4804" y="961"/>
                        <a:pt x="5426" y="210"/>
                        <a:pt x="5772" y="0"/>
                      </a:cubicBezTo>
                    </a:path>
                  </a:pathLst>
                </a:custGeom>
                <a:noFill/>
                <a:ln w="10795" cap="flat" cmpd="sng" algn="ctr">
                  <a:gradFill>
                    <a:gsLst>
                      <a:gs pos="74000">
                        <a:schemeClr val="accent3">
                          <a:shade val="75000"/>
                        </a:schemeClr>
                      </a:gs>
                      <a:gs pos="86000">
                        <a:schemeClr val="tx1">
                          <a:alpha val="29000"/>
                        </a:schemeClr>
                      </a:gs>
                      <a:gs pos="16000">
                        <a:schemeClr val="accent2">
                          <a:shade val="75000"/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  <p:sp>
              <p:nvSpPr>
                <p:cNvPr id="33" name="フリーフォーム 32"/>
                <p:cNvSpPr>
                  <a:spLocks/>
                </p:cNvSpPr>
                <p:nvPr/>
              </p:nvSpPr>
              <p:spPr bwMode="auto">
                <a:xfrm rot="21435692">
                  <a:off x="-14309" y="290003"/>
                  <a:ext cx="9175812" cy="530352"/>
                </a:xfrm>
                <a:custGeom>
                  <a:avLst>
                    <a:gd name="A1" fmla="val 0"/>
                    <a:gd name="A2" fmla="val 0"/>
                    <a:gd name="A3" fmla="val 0"/>
                    <a:gd name="A4" fmla="val 0"/>
                    <a:gd name="A5" fmla="val 0"/>
                    <a:gd name="A6" fmla="val 0"/>
                    <a:gd name="A7" fmla="val 0"/>
                    <a:gd name="A8" fmla="val 0"/>
                  </a:avLst>
                  <a:gdLst/>
                  <a:ahLst/>
                  <a:cxnLst>
                    <a:cxn ang="0">
                      <a:pos x="0" y="732"/>
                    </a:cxn>
                    <a:cxn ang="0">
                      <a:pos x="1638" y="228"/>
                    </a:cxn>
                    <a:cxn ang="0">
                      <a:pos x="4122" y="816"/>
                    </a:cxn>
                    <a:cxn ang="0">
                      <a:pos x="5766" y="0"/>
                    </a:cxn>
                  </a:cxnLst>
                  <a:rect l="0" t="0" r="0" b="0"/>
                  <a:pathLst>
                    <a:path w="5766" h="854">
                      <a:moveTo>
                        <a:pt x="0" y="732"/>
                      </a:moveTo>
                      <a:cubicBezTo>
                        <a:pt x="273" y="647"/>
                        <a:pt x="951" y="214"/>
                        <a:pt x="1638" y="228"/>
                      </a:cubicBezTo>
                      <a:cubicBezTo>
                        <a:pt x="2325" y="242"/>
                        <a:pt x="3434" y="854"/>
                        <a:pt x="4122" y="816"/>
                      </a:cubicBezTo>
                      <a:cubicBezTo>
                        <a:pt x="4810" y="778"/>
                        <a:pt x="5424" y="170"/>
                        <a:pt x="5766" y="0"/>
                      </a:cubicBezTo>
                    </a:path>
                  </a:pathLst>
                </a:custGeom>
                <a:noFill/>
                <a:ln w="9525" cap="flat" cmpd="sng" algn="ctr">
                  <a:gradFill>
                    <a:gsLst>
                      <a:gs pos="74000">
                        <a:schemeClr val="accent4"/>
                      </a:gs>
                      <a:gs pos="44000">
                        <a:schemeClr val="accent1"/>
                      </a:gs>
                      <a:gs pos="33000">
                        <a:schemeClr val="accent2">
                          <a:alpha val="56000"/>
                        </a:schemeClr>
                      </a:gs>
                    </a:gsLst>
                    <a:lin ang="5400000" scaled="1"/>
                  </a:gra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rtlCol="0" anchor="t" compatLnSpc="1"/>
                <a:lstStyle/>
                <a:p>
                  <a:pPr rtl="0"/>
                  <a:endParaRPr kumimoji="0" lang="ja-JP" altLang="en-US" sz="1800" noProof="0" dirty="0"/>
                </a:p>
              </p:txBody>
            </p:sp>
          </p:grpSp>
        </p:grpSp>
      </p:grpSp>
      <p:sp>
        <p:nvSpPr>
          <p:cNvPr id="9" name="タイトル プレースホルダー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rtlCol="0" anchor="b">
            <a:normAutofit/>
          </a:bodyPr>
          <a:lstStyle/>
          <a:p>
            <a:pPr rtl="0"/>
            <a:r>
              <a:rPr lang="ja-JP" altLang="en-US" noProof="0" dirty="0"/>
              <a:t>クリックしてマスター タイトルのスタイルを編集</a:t>
            </a:r>
            <a:endParaRPr kumimoji="0" lang="ja-JP" altLang="en-US" noProof="0" dirty="0"/>
          </a:p>
        </p:txBody>
      </p:sp>
      <p:sp>
        <p:nvSpPr>
          <p:cNvPr id="30" name="テキスト プレースホルダー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434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 eaLnBrk="1" latinLnBrk="0" hangingPunct="1"/>
            <a:r>
              <a:rPr lang="ja-JP" altLang="en-US" noProof="0" dirty="0" smtClean="0"/>
              <a:t>クリックしてマスター テキストのスタイルを編集</a:t>
            </a:r>
          </a:p>
          <a:p>
            <a:pPr lvl="1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2 </a:t>
            </a:r>
            <a:r>
              <a:rPr lang="ja-JP" altLang="en-US" noProof="0" dirty="0" smtClean="0"/>
              <a:t>レベル</a:t>
            </a:r>
          </a:p>
          <a:p>
            <a:pPr lvl="2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3 </a:t>
            </a:r>
            <a:r>
              <a:rPr lang="ja-JP" altLang="en-US" noProof="0" dirty="0" smtClean="0"/>
              <a:t>レベル</a:t>
            </a:r>
          </a:p>
          <a:p>
            <a:pPr lvl="3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4 </a:t>
            </a:r>
            <a:r>
              <a:rPr lang="ja-JP" altLang="en-US" noProof="0" dirty="0" smtClean="0"/>
              <a:t>レベル</a:t>
            </a:r>
          </a:p>
          <a:p>
            <a:pPr lvl="4" rtl="0" eaLnBrk="1" latinLnBrk="0" hangingPunct="1"/>
            <a:r>
              <a:rPr lang="ja-JP" altLang="en-US" noProof="0" dirty="0" smtClean="0"/>
              <a:t>第 </a:t>
            </a:r>
            <a:r>
              <a:rPr lang="en-US" altLang="ja-JP" noProof="0" dirty="0" smtClean="0"/>
              <a:t>5 </a:t>
            </a:r>
            <a:r>
              <a:rPr lang="ja-JP" altLang="en-US" noProof="0" dirty="0" smtClean="0"/>
              <a:t>レベル</a:t>
            </a:r>
            <a:endParaRPr lang="ja-JP" altLang="en-US" noProof="0" dirty="0"/>
          </a:p>
        </p:txBody>
      </p:sp>
      <p:sp>
        <p:nvSpPr>
          <p:cNvPr id="10" name="日付プレースホルダー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196E8732-2B4B-4F0A-8362-53F7A7DF2931}" type="datetime4">
              <a:rPr lang="ja-JP" altLang="en-US" smtClean="0"/>
              <a:t>2021年11月2日</a:t>
            </a:fld>
            <a:endParaRPr lang="en-US" dirty="0"/>
          </a:p>
        </p:txBody>
      </p:sp>
      <p:sp>
        <p:nvSpPr>
          <p:cNvPr id="22" name="フッター プレースホルダー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r>
              <a:rPr lang="ja-JP" altLang="en-US" noProof="0" dirty="0" smtClean="0"/>
              <a:t>フッターを追加</a:t>
            </a:r>
            <a:endParaRPr lang="ja-JP" altLang="en-US" noProof="0" dirty="0"/>
          </a:p>
        </p:txBody>
      </p:sp>
      <p:sp>
        <p:nvSpPr>
          <p:cNvPr id="18" name="スライド番号プレースホルダー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401CF334-2D5C-4859-84A6-CA7E6E43FAEB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9428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lnSpc>
          <a:spcPct val="80000"/>
        </a:lnSpc>
        <a:spcBef>
          <a:spcPct val="0"/>
        </a:spcBef>
        <a:buNone/>
        <a:defRPr kumimoji="1" sz="5000" b="0" kern="1200">
          <a:ln>
            <a:noFill/>
          </a:ln>
          <a:solidFill>
            <a:schemeClr val="tx2"/>
          </a:solidFill>
          <a:effectLst/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95000"/>
        <a:buFont typeface="Wingdings 2"/>
        <a:buChar char=""/>
        <a:defRPr kumimoji="1" sz="26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>
            <a:lumMod val="50000"/>
          </a:schemeClr>
        </a:buClr>
        <a:buSzPct val="85000"/>
        <a:buFont typeface="Wingdings 2"/>
        <a:buChar char=""/>
        <a:defRPr kumimoji="1" sz="24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>
            <a:lumMod val="50000"/>
          </a:schemeClr>
        </a:buClr>
        <a:buSzPct val="70000"/>
        <a:buFont typeface="Wingdings 2"/>
        <a:buChar char=""/>
        <a:defRPr kumimoji="1" sz="21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>
            <a:lumMod val="50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>
            <a:lumMod val="75000"/>
          </a:schemeClr>
        </a:buClr>
        <a:buSzPct val="65000"/>
        <a:buFont typeface="Wingdings 2"/>
        <a:buChar char=""/>
        <a:defRPr kumimoji="1" sz="2000" kern="1200">
          <a:solidFill>
            <a:schemeClr val="tx1"/>
          </a:solidFill>
          <a:latin typeface="ＭＳ 明朝" panose="02020609040205080304" pitchFamily="17" charset="-128"/>
          <a:ea typeface="ＭＳ 明朝" panose="02020609040205080304" pitchFamily="17" charset="-128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>
            <a:lumMod val="50000"/>
          </a:schemeClr>
        </a:buClr>
        <a:buSzPct val="80000"/>
        <a:buFont typeface="Wingdings 2"/>
        <a:buChar char="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>
            <a:lumMod val="75000"/>
          </a:schemeClr>
        </a:buClr>
        <a:buSzPct val="80000"/>
        <a:buFont typeface="Wingdings 2"/>
        <a:buChar char="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0" algn="l" rtl="0" eaLnBrk="1" latinLnBrk="0" hangingPunct="1">
        <a:spcBef>
          <a:spcPct val="20000"/>
        </a:spcBef>
        <a:buClr>
          <a:schemeClr val="tx2"/>
        </a:buClr>
        <a:buFontTx/>
        <a:buNone/>
        <a:defRPr kumimoji="1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ja-JP" altLang="en-US" dirty="0"/>
              <a:t>描画エンジン</a:t>
            </a:r>
            <a:r>
              <a:rPr lang="ja-JP" altLang="en-US" dirty="0" smtClean="0"/>
              <a:t>開発</a:t>
            </a:r>
            <a:r>
              <a:rPr lang="en-US" altLang="ja-JP" dirty="0" smtClean="0"/>
              <a:t>Ⅲ</a:t>
            </a:r>
            <a:r>
              <a:rPr lang="ja-JP" altLang="en-US" dirty="0" smtClean="0"/>
              <a:t>・</a:t>
            </a:r>
            <a:r>
              <a:rPr lang="en-US" altLang="ja-JP" dirty="0" smtClean="0"/>
              <a:t>Ⅳ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サブタイトル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US" altLang="ja-JP" dirty="0" smtClean="0"/>
              <a:t>UNIT24</a:t>
            </a:r>
          </a:p>
        </p:txBody>
      </p:sp>
    </p:spTree>
    <p:extLst>
      <p:ext uri="{BB962C8B-B14F-4D97-AF65-F5344CB8AC3E}">
        <p14:creationId xmlns:p14="http://schemas.microsoft.com/office/powerpoint/2010/main" val="354962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dirty="0" smtClean="0"/>
              <a:t>授業</a:t>
            </a:r>
            <a:r>
              <a:rPr lang="ja-JP" altLang="en-US" dirty="0"/>
              <a:t>内容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コンテンツ プレースホルダー 1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ja-JP" altLang="en-US" dirty="0" smtClean="0"/>
              <a:t>スケルトン</a:t>
            </a:r>
            <a:endParaRPr lang="en-US" altLang="ja-JP" dirty="0" smtClean="0"/>
          </a:p>
          <a:p>
            <a:pPr rtl="0"/>
            <a:endParaRPr lang="en-US" altLang="ja-JP" dirty="0"/>
          </a:p>
          <a:p>
            <a:pPr rtl="0"/>
            <a:r>
              <a:rPr lang="ja-JP" altLang="en-US" dirty="0" smtClean="0"/>
              <a:t>ボーン</a:t>
            </a:r>
            <a:endParaRPr lang="en-US" altLang="ja-JP" dirty="0" smtClean="0"/>
          </a:p>
          <a:p>
            <a:pPr rtl="0"/>
            <a:endParaRPr lang="en-US" altLang="ja-JP" dirty="0"/>
          </a:p>
          <a:p>
            <a:pPr rtl="0"/>
            <a:r>
              <a:rPr lang="ja-JP" altLang="en-US" dirty="0" smtClean="0"/>
              <a:t>バインドポーズ</a:t>
            </a:r>
            <a:endParaRPr lang="en-US" altLang="ja-JP" dirty="0" smtClean="0"/>
          </a:p>
          <a:p>
            <a:pPr rtl="0"/>
            <a:endParaRPr lang="en-US" altLang="ja-JP" dirty="0"/>
          </a:p>
          <a:p>
            <a:pPr rtl="0"/>
            <a:r>
              <a:rPr lang="ja-JP" altLang="en-US" dirty="0" smtClean="0"/>
              <a:t>オフセット行列</a:t>
            </a:r>
            <a:endParaRPr lang="en-US" altLang="ja-JP" dirty="0" smtClean="0"/>
          </a:p>
          <a:p>
            <a:pPr rtl="0"/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50891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実行結果</a:t>
            </a:r>
            <a:endParaRPr kumimoji="1" lang="ja-JP" altLang="en-US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5080001" y="6366638"/>
            <a:ext cx="1710266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cube.004.fbx</a:t>
            </a:r>
            <a:endParaRPr kumimoji="1" lang="ja-JP" altLang="en-US" dirty="0" err="1" smtClean="0"/>
          </a:p>
        </p:txBody>
      </p:sp>
      <p:pic>
        <p:nvPicPr>
          <p:cNvPr id="6" name="コンテンツ プレースホルダー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3713" y="1935163"/>
            <a:ext cx="740457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7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やりたいこと</a:t>
            </a:r>
            <a:endParaRPr kumimoji="1" lang="ja-JP" altLang="en-US" dirty="0"/>
          </a:p>
        </p:txBody>
      </p:sp>
      <p:pic>
        <p:nvPicPr>
          <p:cNvPr id="4" name="コンテンツ プレースホルダー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796" y="2018679"/>
            <a:ext cx="1948087" cy="4343400"/>
          </a:xfrm>
          <a:prstGeom prst="rect">
            <a:avLst/>
          </a:prstGeom>
        </p:spPr>
      </p:pic>
      <p:sp>
        <p:nvSpPr>
          <p:cNvPr id="6" name="二等辺三角形 5"/>
          <p:cNvSpPr/>
          <p:nvPr/>
        </p:nvSpPr>
        <p:spPr>
          <a:xfrm>
            <a:off x="2506081" y="4850094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0</a:t>
            </a:r>
            <a:endParaRPr kumimoji="1" lang="ja-JP" altLang="en-US" sz="2400" dirty="0"/>
          </a:p>
        </p:txBody>
      </p:sp>
      <p:sp>
        <p:nvSpPr>
          <p:cNvPr id="7" name="二等辺三角形 6"/>
          <p:cNvSpPr/>
          <p:nvPr/>
        </p:nvSpPr>
        <p:spPr>
          <a:xfrm>
            <a:off x="2506081" y="3649155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1</a:t>
            </a:r>
            <a:endParaRPr kumimoji="1" lang="ja-JP" altLang="en-US" sz="2400" dirty="0"/>
          </a:p>
        </p:txBody>
      </p:sp>
      <p:sp>
        <p:nvSpPr>
          <p:cNvPr id="8" name="二等辺三角形 7"/>
          <p:cNvSpPr/>
          <p:nvPr/>
        </p:nvSpPr>
        <p:spPr>
          <a:xfrm>
            <a:off x="2506081" y="2446518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2</a:t>
            </a:r>
            <a:endParaRPr kumimoji="1" lang="ja-JP" altLang="en-US" sz="2400" dirty="0"/>
          </a:p>
        </p:txBody>
      </p:sp>
      <p:sp>
        <p:nvSpPr>
          <p:cNvPr id="12" name="右矢印 11"/>
          <p:cNvSpPr/>
          <p:nvPr/>
        </p:nvSpPr>
        <p:spPr>
          <a:xfrm>
            <a:off x="5280865" y="3685717"/>
            <a:ext cx="1165185" cy="867182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32" y="2018679"/>
            <a:ext cx="2342175" cy="4343400"/>
          </a:xfrm>
          <a:prstGeom prst="rect">
            <a:avLst/>
          </a:prstGeom>
        </p:spPr>
      </p:pic>
      <p:sp>
        <p:nvSpPr>
          <p:cNvPr id="17" name="二等辺三角形 16"/>
          <p:cNvSpPr/>
          <p:nvPr/>
        </p:nvSpPr>
        <p:spPr>
          <a:xfrm>
            <a:off x="8741219" y="4878067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0</a:t>
            </a:r>
            <a:endParaRPr kumimoji="1" lang="ja-JP" altLang="en-US" sz="2400" dirty="0"/>
          </a:p>
        </p:txBody>
      </p:sp>
      <p:sp>
        <p:nvSpPr>
          <p:cNvPr id="18" name="二等辺三角形 17"/>
          <p:cNvSpPr/>
          <p:nvPr/>
        </p:nvSpPr>
        <p:spPr>
          <a:xfrm rot="1678446">
            <a:off x="9048234" y="3703103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1</a:t>
            </a:r>
            <a:endParaRPr kumimoji="1" lang="ja-JP" altLang="en-US" sz="2400" dirty="0"/>
          </a:p>
        </p:txBody>
      </p:sp>
      <p:sp>
        <p:nvSpPr>
          <p:cNvPr id="19" name="二等辺三角形 18"/>
          <p:cNvSpPr/>
          <p:nvPr/>
        </p:nvSpPr>
        <p:spPr>
          <a:xfrm rot="280370">
            <a:off x="9415351" y="2465759"/>
            <a:ext cx="515900" cy="1200939"/>
          </a:xfrm>
          <a:prstGeom prst="triangle">
            <a:avLst>
              <a:gd name="adj" fmla="val 4782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2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9779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の全体的な構造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3882776" y="307284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2662095" y="2179445"/>
            <a:ext cx="1875139" cy="377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FbxScene</a:t>
            </a:r>
            <a:endParaRPr kumimoji="1" lang="ja-JP" altLang="en-US" dirty="0"/>
          </a:p>
        </p:txBody>
      </p:sp>
      <p:cxnSp>
        <p:nvCxnSpPr>
          <p:cNvPr id="11" name="曲線コネクタ 10"/>
          <p:cNvCxnSpPr>
            <a:stCxn id="6" idx="2"/>
            <a:endCxn id="4" idx="1"/>
          </p:cNvCxnSpPr>
          <p:nvPr/>
        </p:nvCxnSpPr>
        <p:spPr>
          <a:xfrm rot="16200000" flipH="1">
            <a:off x="3388789" y="2767392"/>
            <a:ext cx="704863" cy="28311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5123684" y="3763509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22" name="曲線コネクタ 13"/>
          <p:cNvCxnSpPr>
            <a:stCxn id="4" idx="2"/>
            <a:endCxn id="20" idx="1"/>
          </p:cNvCxnSpPr>
          <p:nvPr/>
        </p:nvCxnSpPr>
        <p:spPr>
          <a:xfrm rot="16200000" flipH="1">
            <a:off x="4720951" y="3549311"/>
            <a:ext cx="502129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5123684" y="4624795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4" idx="2"/>
            <a:endCxn id="34" idx="1"/>
          </p:cNvCxnSpPr>
          <p:nvPr/>
        </p:nvCxnSpPr>
        <p:spPr>
          <a:xfrm rot="16200000" flipH="1">
            <a:off x="4290308" y="3979954"/>
            <a:ext cx="1363415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 38"/>
          <p:cNvSpPr/>
          <p:nvPr/>
        </p:nvSpPr>
        <p:spPr>
          <a:xfrm>
            <a:off x="7427058" y="3768587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47" name="曲線コネクタ 13"/>
          <p:cNvCxnSpPr>
            <a:stCxn id="20" idx="3"/>
            <a:endCxn id="39" idx="1"/>
          </p:cNvCxnSpPr>
          <p:nvPr/>
        </p:nvCxnSpPr>
        <p:spPr>
          <a:xfrm>
            <a:off x="6998823" y="3952045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角丸四角形 49"/>
          <p:cNvSpPr/>
          <p:nvPr/>
        </p:nvSpPr>
        <p:spPr>
          <a:xfrm>
            <a:off x="10008709" y="344402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51" name="曲線コネクタ 13"/>
          <p:cNvCxnSpPr>
            <a:stCxn id="39" idx="3"/>
            <a:endCxn id="50" idx="1"/>
          </p:cNvCxnSpPr>
          <p:nvPr/>
        </p:nvCxnSpPr>
        <p:spPr>
          <a:xfrm flipV="1">
            <a:off x="9302197" y="3632556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10008709" y="4093154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60" name="曲線コネクタ 13"/>
          <p:cNvCxnSpPr>
            <a:stCxn id="39" idx="3"/>
            <a:endCxn id="59" idx="1"/>
          </p:cNvCxnSpPr>
          <p:nvPr/>
        </p:nvCxnSpPr>
        <p:spPr>
          <a:xfrm>
            <a:off x="9302197" y="3957123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537235" y="548608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sp>
        <p:nvSpPr>
          <p:cNvPr id="66" name="角丸四角形 65"/>
          <p:cNvSpPr/>
          <p:nvPr/>
        </p:nvSpPr>
        <p:spPr>
          <a:xfrm>
            <a:off x="4537234" y="617874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cxnSp>
        <p:nvCxnSpPr>
          <p:cNvPr id="67" name="曲線コネクタ 10"/>
          <p:cNvCxnSpPr>
            <a:stCxn id="6" idx="2"/>
            <a:endCxn id="65" idx="1"/>
          </p:cNvCxnSpPr>
          <p:nvPr/>
        </p:nvCxnSpPr>
        <p:spPr>
          <a:xfrm rot="16200000" flipH="1">
            <a:off x="2509400" y="3646782"/>
            <a:ext cx="3118100" cy="93757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10"/>
          <p:cNvCxnSpPr>
            <a:stCxn id="6" idx="2"/>
            <a:endCxn id="66" idx="1"/>
          </p:cNvCxnSpPr>
          <p:nvPr/>
        </p:nvCxnSpPr>
        <p:spPr>
          <a:xfrm rot="16200000" flipH="1">
            <a:off x="2163069" y="3993112"/>
            <a:ext cx="3810760" cy="937569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角丸四角形 88"/>
          <p:cNvSpPr/>
          <p:nvPr/>
        </p:nvSpPr>
        <p:spPr>
          <a:xfrm>
            <a:off x="100222" y="1915647"/>
            <a:ext cx="1875139" cy="927357"/>
          </a:xfrm>
          <a:prstGeom prst="roundRect">
            <a:avLst/>
          </a:prstGeom>
          <a:solidFill>
            <a:srgbClr val="FFA3A3"/>
          </a:soli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FbxManager</a:t>
            </a:r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100222" y="3763509"/>
            <a:ext cx="1875139" cy="656884"/>
          </a:xfrm>
          <a:prstGeom prst="roundRect">
            <a:avLst/>
          </a:prstGeom>
          <a:solidFill>
            <a:srgbClr val="B4AFF3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FbxImporter</a:t>
            </a:r>
            <a:endParaRPr kumimoji="1" lang="ja-JP" altLang="en-US" dirty="0"/>
          </a:p>
        </p:txBody>
      </p:sp>
      <p:cxnSp>
        <p:nvCxnSpPr>
          <p:cNvPr id="97" name="曲線コネクタ 13"/>
          <p:cNvCxnSpPr>
            <a:stCxn id="89" idx="3"/>
            <a:endCxn id="6" idx="1"/>
          </p:cNvCxnSpPr>
          <p:nvPr/>
        </p:nvCxnSpPr>
        <p:spPr>
          <a:xfrm flipV="1">
            <a:off x="1975361" y="2367981"/>
            <a:ext cx="686734" cy="1134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曲線コネクタ 13"/>
          <p:cNvCxnSpPr>
            <a:stCxn id="89" idx="2"/>
            <a:endCxn id="90" idx="0"/>
          </p:cNvCxnSpPr>
          <p:nvPr/>
        </p:nvCxnSpPr>
        <p:spPr>
          <a:xfrm rot="5400000">
            <a:off x="577540" y="3303256"/>
            <a:ext cx="920505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曲線コネクタ 13"/>
          <p:cNvCxnSpPr>
            <a:stCxn id="90" idx="3"/>
            <a:endCxn id="6" idx="1"/>
          </p:cNvCxnSpPr>
          <p:nvPr/>
        </p:nvCxnSpPr>
        <p:spPr>
          <a:xfrm flipV="1">
            <a:off x="1975361" y="2367981"/>
            <a:ext cx="686734" cy="1723970"/>
          </a:xfrm>
          <a:prstGeom prst="curvedConnector3">
            <a:avLst>
              <a:gd name="adj1" fmla="val 50000"/>
            </a:avLst>
          </a:prstGeom>
          <a:ln w="25400">
            <a:solidFill>
              <a:srgbClr val="B4AFF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角丸四角形 127"/>
          <p:cNvSpPr/>
          <p:nvPr/>
        </p:nvSpPr>
        <p:spPr>
          <a:xfrm>
            <a:off x="7729430" y="5229488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7754083" y="5863153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cxnSp>
        <p:nvCxnSpPr>
          <p:cNvPr id="130" name="曲線コネクタ 13"/>
          <p:cNvCxnSpPr>
            <a:stCxn id="65" idx="3"/>
            <a:endCxn id="128" idx="1"/>
          </p:cNvCxnSpPr>
          <p:nvPr/>
        </p:nvCxnSpPr>
        <p:spPr>
          <a:xfrm flipV="1">
            <a:off x="6816514" y="5418024"/>
            <a:ext cx="912916" cy="256593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曲線コネクタ 13"/>
          <p:cNvCxnSpPr>
            <a:stCxn id="65" idx="3"/>
            <a:endCxn id="129" idx="1"/>
          </p:cNvCxnSpPr>
          <p:nvPr/>
        </p:nvCxnSpPr>
        <p:spPr>
          <a:xfrm>
            <a:off x="6816514" y="5674617"/>
            <a:ext cx="937569" cy="377072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コネクタ 13"/>
          <p:cNvCxnSpPr>
            <a:stCxn id="20" idx="3"/>
            <a:endCxn id="66" idx="3"/>
          </p:cNvCxnSpPr>
          <p:nvPr/>
        </p:nvCxnSpPr>
        <p:spPr>
          <a:xfrm flipH="1">
            <a:off x="6816513" y="3952045"/>
            <a:ext cx="182310" cy="2415232"/>
          </a:xfrm>
          <a:prstGeom prst="curvedConnector3">
            <a:avLst>
              <a:gd name="adj1" fmla="val -125391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コネクタ 13"/>
          <p:cNvCxnSpPr>
            <a:stCxn id="20" idx="3"/>
            <a:endCxn id="65" idx="3"/>
          </p:cNvCxnSpPr>
          <p:nvPr/>
        </p:nvCxnSpPr>
        <p:spPr>
          <a:xfrm flipH="1">
            <a:off x="6816514" y="3952045"/>
            <a:ext cx="182309" cy="1722572"/>
          </a:xfrm>
          <a:prstGeom prst="curvedConnector3">
            <a:avLst>
              <a:gd name="adj1" fmla="val -12539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線コネクタ 13"/>
          <p:cNvCxnSpPr/>
          <p:nvPr/>
        </p:nvCxnSpPr>
        <p:spPr>
          <a:xfrm>
            <a:off x="6998823" y="4808253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7427058" y="4624795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211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の全体的な構造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3882776" y="307284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6" name="角丸四角形 5"/>
          <p:cNvSpPr/>
          <p:nvPr/>
        </p:nvSpPr>
        <p:spPr>
          <a:xfrm>
            <a:off x="2662095" y="2179445"/>
            <a:ext cx="1875139" cy="37707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FbxScene</a:t>
            </a:r>
            <a:endParaRPr kumimoji="1" lang="ja-JP" altLang="en-US" dirty="0"/>
          </a:p>
        </p:txBody>
      </p:sp>
      <p:cxnSp>
        <p:nvCxnSpPr>
          <p:cNvPr id="11" name="曲線コネクタ 10"/>
          <p:cNvCxnSpPr>
            <a:stCxn id="6" idx="2"/>
            <a:endCxn id="4" idx="1"/>
          </p:cNvCxnSpPr>
          <p:nvPr/>
        </p:nvCxnSpPr>
        <p:spPr>
          <a:xfrm rot="16200000" flipH="1">
            <a:off x="3388789" y="2767392"/>
            <a:ext cx="704863" cy="28311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角丸四角形 19"/>
          <p:cNvSpPr/>
          <p:nvPr/>
        </p:nvSpPr>
        <p:spPr>
          <a:xfrm>
            <a:off x="5123684" y="3763509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22" name="曲線コネクタ 13"/>
          <p:cNvCxnSpPr>
            <a:stCxn id="4" idx="2"/>
            <a:endCxn id="20" idx="1"/>
          </p:cNvCxnSpPr>
          <p:nvPr/>
        </p:nvCxnSpPr>
        <p:spPr>
          <a:xfrm rot="16200000" flipH="1">
            <a:off x="4720951" y="3549311"/>
            <a:ext cx="502129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5123684" y="4624795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4" idx="2"/>
            <a:endCxn id="34" idx="1"/>
          </p:cNvCxnSpPr>
          <p:nvPr/>
        </p:nvCxnSpPr>
        <p:spPr>
          <a:xfrm rot="16200000" flipH="1">
            <a:off x="4290308" y="3979954"/>
            <a:ext cx="1363415" cy="303338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角丸四角形 38"/>
          <p:cNvSpPr/>
          <p:nvPr/>
        </p:nvSpPr>
        <p:spPr>
          <a:xfrm>
            <a:off x="7427058" y="3768587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47" name="曲線コネクタ 13"/>
          <p:cNvCxnSpPr>
            <a:stCxn id="20" idx="3"/>
            <a:endCxn id="39" idx="1"/>
          </p:cNvCxnSpPr>
          <p:nvPr/>
        </p:nvCxnSpPr>
        <p:spPr>
          <a:xfrm>
            <a:off x="6998823" y="3952045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角丸四角形 49"/>
          <p:cNvSpPr/>
          <p:nvPr/>
        </p:nvSpPr>
        <p:spPr>
          <a:xfrm>
            <a:off x="10008709" y="344402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51" name="曲線コネクタ 13"/>
          <p:cNvCxnSpPr>
            <a:stCxn id="39" idx="3"/>
            <a:endCxn id="50" idx="1"/>
          </p:cNvCxnSpPr>
          <p:nvPr/>
        </p:nvCxnSpPr>
        <p:spPr>
          <a:xfrm flipV="1">
            <a:off x="9302197" y="3632556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/>
          <p:cNvSpPr/>
          <p:nvPr/>
        </p:nvSpPr>
        <p:spPr>
          <a:xfrm>
            <a:off x="10008709" y="4093154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60" name="曲線コネクタ 13"/>
          <p:cNvCxnSpPr>
            <a:stCxn id="39" idx="3"/>
            <a:endCxn id="59" idx="1"/>
          </p:cNvCxnSpPr>
          <p:nvPr/>
        </p:nvCxnSpPr>
        <p:spPr>
          <a:xfrm>
            <a:off x="9302197" y="3957123"/>
            <a:ext cx="706512" cy="32456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角丸四角形 64"/>
          <p:cNvSpPr/>
          <p:nvPr/>
        </p:nvSpPr>
        <p:spPr>
          <a:xfrm>
            <a:off x="4537235" y="548608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sp>
        <p:nvSpPr>
          <p:cNvPr id="66" name="角丸四角形 65"/>
          <p:cNvSpPr/>
          <p:nvPr/>
        </p:nvSpPr>
        <p:spPr>
          <a:xfrm>
            <a:off x="4537234" y="6178741"/>
            <a:ext cx="2279279" cy="377072"/>
          </a:xfrm>
          <a:prstGeom prst="roundRect">
            <a:avLst/>
          </a:prstGeom>
          <a:solidFill>
            <a:srgbClr val="FADE90"/>
          </a:solidFill>
          <a:ln w="28575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/>
              <a:t>FbxSurfaceMaterial</a:t>
            </a:r>
            <a:endParaRPr kumimoji="1" lang="ja-JP" altLang="en-US" dirty="0"/>
          </a:p>
        </p:txBody>
      </p:sp>
      <p:cxnSp>
        <p:nvCxnSpPr>
          <p:cNvPr id="67" name="曲線コネクタ 10"/>
          <p:cNvCxnSpPr>
            <a:stCxn id="6" idx="2"/>
            <a:endCxn id="65" idx="1"/>
          </p:cNvCxnSpPr>
          <p:nvPr/>
        </p:nvCxnSpPr>
        <p:spPr>
          <a:xfrm rot="16200000" flipH="1">
            <a:off x="2509400" y="3646782"/>
            <a:ext cx="3118100" cy="93757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10"/>
          <p:cNvCxnSpPr>
            <a:stCxn id="6" idx="2"/>
            <a:endCxn id="66" idx="1"/>
          </p:cNvCxnSpPr>
          <p:nvPr/>
        </p:nvCxnSpPr>
        <p:spPr>
          <a:xfrm rot="16200000" flipH="1">
            <a:off x="2163069" y="3993112"/>
            <a:ext cx="3810760" cy="937569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角丸四角形 88"/>
          <p:cNvSpPr/>
          <p:nvPr/>
        </p:nvSpPr>
        <p:spPr>
          <a:xfrm>
            <a:off x="100222" y="1915647"/>
            <a:ext cx="1875139" cy="927357"/>
          </a:xfrm>
          <a:prstGeom prst="roundRect">
            <a:avLst/>
          </a:prstGeom>
          <a:solidFill>
            <a:srgbClr val="FFA3A3"/>
          </a:solidFill>
          <a:ln w="28575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FbxManager</a:t>
            </a:r>
            <a:endParaRPr kumimoji="1" lang="ja-JP" altLang="en-US" dirty="0"/>
          </a:p>
        </p:txBody>
      </p:sp>
      <p:sp>
        <p:nvSpPr>
          <p:cNvPr id="90" name="角丸四角形 89"/>
          <p:cNvSpPr/>
          <p:nvPr/>
        </p:nvSpPr>
        <p:spPr>
          <a:xfrm>
            <a:off x="100222" y="3763509"/>
            <a:ext cx="1875139" cy="656884"/>
          </a:xfrm>
          <a:prstGeom prst="roundRect">
            <a:avLst/>
          </a:prstGeom>
          <a:solidFill>
            <a:srgbClr val="B4AFF3"/>
          </a:solidFill>
          <a:ln w="28575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FbxImporter</a:t>
            </a:r>
            <a:endParaRPr kumimoji="1" lang="ja-JP" altLang="en-US" dirty="0"/>
          </a:p>
        </p:txBody>
      </p:sp>
      <p:cxnSp>
        <p:nvCxnSpPr>
          <p:cNvPr id="97" name="曲線コネクタ 13"/>
          <p:cNvCxnSpPr>
            <a:stCxn id="89" idx="3"/>
            <a:endCxn id="6" idx="1"/>
          </p:cNvCxnSpPr>
          <p:nvPr/>
        </p:nvCxnSpPr>
        <p:spPr>
          <a:xfrm flipV="1">
            <a:off x="1975361" y="2367981"/>
            <a:ext cx="686734" cy="11345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曲線コネクタ 13"/>
          <p:cNvCxnSpPr>
            <a:stCxn id="89" idx="2"/>
            <a:endCxn id="90" idx="0"/>
          </p:cNvCxnSpPr>
          <p:nvPr/>
        </p:nvCxnSpPr>
        <p:spPr>
          <a:xfrm rot="5400000">
            <a:off x="577540" y="3303256"/>
            <a:ext cx="920505" cy="12700"/>
          </a:xfrm>
          <a:prstGeom prst="bent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曲線コネクタ 13"/>
          <p:cNvCxnSpPr>
            <a:stCxn id="90" idx="3"/>
            <a:endCxn id="6" idx="1"/>
          </p:cNvCxnSpPr>
          <p:nvPr/>
        </p:nvCxnSpPr>
        <p:spPr>
          <a:xfrm flipV="1">
            <a:off x="1975361" y="2367981"/>
            <a:ext cx="686734" cy="1723970"/>
          </a:xfrm>
          <a:prstGeom prst="curvedConnector3">
            <a:avLst>
              <a:gd name="adj1" fmla="val 50000"/>
            </a:avLst>
          </a:prstGeom>
          <a:ln w="25400">
            <a:solidFill>
              <a:srgbClr val="B4AFF3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角丸四角形 127"/>
          <p:cNvSpPr/>
          <p:nvPr/>
        </p:nvSpPr>
        <p:spPr>
          <a:xfrm>
            <a:off x="7729430" y="5229488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sp>
        <p:nvSpPr>
          <p:cNvPr id="129" name="角丸四角形 128"/>
          <p:cNvSpPr/>
          <p:nvPr/>
        </p:nvSpPr>
        <p:spPr>
          <a:xfrm>
            <a:off x="7754083" y="5863153"/>
            <a:ext cx="2279279" cy="377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err="1" smtClean="0"/>
              <a:t>FbxFileTexture</a:t>
            </a:r>
            <a:endParaRPr kumimoji="1" lang="ja-JP" altLang="en-US" dirty="0"/>
          </a:p>
        </p:txBody>
      </p:sp>
      <p:cxnSp>
        <p:nvCxnSpPr>
          <p:cNvPr id="130" name="曲線コネクタ 13"/>
          <p:cNvCxnSpPr>
            <a:stCxn id="65" idx="3"/>
            <a:endCxn id="128" idx="1"/>
          </p:cNvCxnSpPr>
          <p:nvPr/>
        </p:nvCxnSpPr>
        <p:spPr>
          <a:xfrm flipV="1">
            <a:off x="6816514" y="5418024"/>
            <a:ext cx="912916" cy="256593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曲線コネクタ 13"/>
          <p:cNvCxnSpPr>
            <a:stCxn id="65" idx="3"/>
            <a:endCxn id="129" idx="1"/>
          </p:cNvCxnSpPr>
          <p:nvPr/>
        </p:nvCxnSpPr>
        <p:spPr>
          <a:xfrm>
            <a:off x="6816514" y="5674617"/>
            <a:ext cx="937569" cy="377072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コネクタ 13"/>
          <p:cNvCxnSpPr>
            <a:stCxn id="20" idx="3"/>
            <a:endCxn id="66" idx="3"/>
          </p:cNvCxnSpPr>
          <p:nvPr/>
        </p:nvCxnSpPr>
        <p:spPr>
          <a:xfrm flipH="1">
            <a:off x="6816513" y="3952045"/>
            <a:ext cx="182310" cy="2415232"/>
          </a:xfrm>
          <a:prstGeom prst="curvedConnector3">
            <a:avLst>
              <a:gd name="adj1" fmla="val -125391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コネクタ 13"/>
          <p:cNvCxnSpPr>
            <a:stCxn id="20" idx="3"/>
            <a:endCxn id="65" idx="3"/>
          </p:cNvCxnSpPr>
          <p:nvPr/>
        </p:nvCxnSpPr>
        <p:spPr>
          <a:xfrm flipH="1">
            <a:off x="6816514" y="3952045"/>
            <a:ext cx="182309" cy="1722572"/>
          </a:xfrm>
          <a:prstGeom prst="curvedConnector3">
            <a:avLst>
              <a:gd name="adj1" fmla="val -12539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/>
          <p:cNvSpPr/>
          <p:nvPr/>
        </p:nvSpPr>
        <p:spPr>
          <a:xfrm>
            <a:off x="3735659" y="2843004"/>
            <a:ext cx="8227298" cy="22594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形吹き出し 4"/>
          <p:cNvSpPr/>
          <p:nvPr/>
        </p:nvSpPr>
        <p:spPr>
          <a:xfrm>
            <a:off x="7461529" y="863022"/>
            <a:ext cx="3957320" cy="1520327"/>
          </a:xfrm>
          <a:prstGeom prst="wedgeEllipseCallout">
            <a:avLst>
              <a:gd name="adj1" fmla="val -14550"/>
              <a:gd name="adj2" fmla="val 6308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今回</a:t>
            </a:r>
            <a:r>
              <a:rPr kumimoji="1" lang="ja-JP" altLang="en-US" dirty="0" smtClean="0"/>
              <a:t>はこのあたりから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様々</a:t>
            </a:r>
            <a:r>
              <a:rPr kumimoji="1" lang="ja-JP" altLang="en-US" dirty="0" smtClean="0"/>
              <a:t>な変換行列の抽出と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計算</a:t>
            </a:r>
            <a:r>
              <a:rPr kumimoji="1" lang="ja-JP" altLang="en-US" dirty="0" smtClean="0"/>
              <a:t>を行います</a:t>
            </a:r>
            <a:endParaRPr kumimoji="1" lang="en-US" altLang="ja-JP" dirty="0" smtClean="0"/>
          </a:p>
        </p:txBody>
      </p:sp>
      <p:cxnSp>
        <p:nvCxnSpPr>
          <p:cNvPr id="36" name="曲線コネクタ 13"/>
          <p:cNvCxnSpPr/>
          <p:nvPr/>
        </p:nvCxnSpPr>
        <p:spPr>
          <a:xfrm>
            <a:off x="6998823" y="4808253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7427058" y="4624795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6999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課題での</a:t>
            </a:r>
            <a:r>
              <a:rPr lang="en-US" altLang="ja-JP" dirty="0" err="1" smtClean="0"/>
              <a:t>skinned_mesh</a:t>
            </a:r>
            <a:r>
              <a:rPr lang="ja-JP" altLang="en-US" dirty="0" smtClean="0"/>
              <a:t>の構造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44966" y="2074127"/>
            <a:ext cx="11931805" cy="46500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横巻き 4"/>
          <p:cNvSpPr/>
          <p:nvPr/>
        </p:nvSpPr>
        <p:spPr>
          <a:xfrm>
            <a:off x="4533063" y="1807323"/>
            <a:ext cx="3056865" cy="778934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/>
              <a:t>skinned_mesh</a:t>
            </a:r>
            <a:endParaRPr kumimoji="1" lang="ja-JP" altLang="en-US" sz="3200" dirty="0"/>
          </a:p>
        </p:txBody>
      </p:sp>
      <p:sp>
        <p:nvSpPr>
          <p:cNvPr id="32" name="フローチャート: 複数書類 31"/>
          <p:cNvSpPr/>
          <p:nvPr/>
        </p:nvSpPr>
        <p:spPr>
          <a:xfrm>
            <a:off x="9268887" y="2690634"/>
            <a:ext cx="2585982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animation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en-US" altLang="ja-JP" dirty="0" smtClean="0"/>
          </a:p>
        </p:txBody>
      </p:sp>
      <p:sp>
        <p:nvSpPr>
          <p:cNvPr id="33" name="フローチャート: 書類 32"/>
          <p:cNvSpPr/>
          <p:nvPr/>
        </p:nvSpPr>
        <p:spPr>
          <a:xfrm>
            <a:off x="353122" y="3323064"/>
            <a:ext cx="1799283" cy="3155796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scene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ja-JP" altLang="en-US" dirty="0"/>
          </a:p>
        </p:txBody>
      </p:sp>
      <p:sp>
        <p:nvSpPr>
          <p:cNvPr id="35" name="フローチャート: 複数書類 34"/>
          <p:cNvSpPr/>
          <p:nvPr/>
        </p:nvSpPr>
        <p:spPr>
          <a:xfrm>
            <a:off x="518871" y="3975410"/>
            <a:ext cx="1450966" cy="194588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node</a:t>
            </a:r>
            <a:endParaRPr kumimoji="1" lang="ja-JP" altLang="en-US" sz="2400" dirty="0"/>
          </a:p>
        </p:txBody>
      </p:sp>
      <p:sp>
        <p:nvSpPr>
          <p:cNvPr id="40" name="フローチャート: 複数書類 39"/>
          <p:cNvSpPr/>
          <p:nvPr/>
        </p:nvSpPr>
        <p:spPr>
          <a:xfrm>
            <a:off x="9491439" y="3997714"/>
            <a:ext cx="1783776" cy="1602814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 smtClean="0"/>
              <a:t>keyframe</a:t>
            </a:r>
            <a:endParaRPr kumimoji="1" lang="ja-JP" altLang="en-US" sz="2400" dirty="0"/>
          </a:p>
        </p:txBody>
      </p:sp>
      <p:sp>
        <p:nvSpPr>
          <p:cNvPr id="48" name="フローチャート: 複数書類 47"/>
          <p:cNvSpPr/>
          <p:nvPr/>
        </p:nvSpPr>
        <p:spPr>
          <a:xfrm>
            <a:off x="2353127" y="2690634"/>
            <a:ext cx="4297447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mesh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0" name="フローチャート: 複数書類 49"/>
          <p:cNvSpPr/>
          <p:nvPr/>
        </p:nvSpPr>
        <p:spPr>
          <a:xfrm>
            <a:off x="253875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vertex</a:t>
            </a:r>
            <a:endParaRPr kumimoji="1" lang="ja-JP" altLang="en-US" sz="2400" dirty="0"/>
          </a:p>
        </p:txBody>
      </p:sp>
      <p:sp>
        <p:nvSpPr>
          <p:cNvPr id="51" name="フローチャート: 複数書類 50"/>
          <p:cNvSpPr/>
          <p:nvPr/>
        </p:nvSpPr>
        <p:spPr>
          <a:xfrm>
            <a:off x="4360566" y="4653801"/>
            <a:ext cx="1516126" cy="1052647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subset</a:t>
            </a:r>
            <a:endParaRPr kumimoji="1" lang="ja-JP" altLang="en-US" sz="2400" dirty="0"/>
          </a:p>
        </p:txBody>
      </p:sp>
      <p:sp>
        <p:nvSpPr>
          <p:cNvPr id="52" name="フローチャート: 複数書類 51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3" name="フローチャート: 複数書類 52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54" name="フローチャート: 書類 5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56" name="フローチャート: 書類 55"/>
          <p:cNvSpPr/>
          <p:nvPr/>
        </p:nvSpPr>
        <p:spPr>
          <a:xfrm>
            <a:off x="2549491" y="4627404"/>
            <a:ext cx="1498621" cy="1743869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skeleton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57" name="フローチャート: 複数書類 56"/>
          <p:cNvSpPr/>
          <p:nvPr/>
        </p:nvSpPr>
        <p:spPr>
          <a:xfrm>
            <a:off x="2681801" y="5124075"/>
            <a:ext cx="1151367" cy="1034562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bone</a:t>
            </a:r>
            <a:endParaRPr kumimoji="1" lang="ja-JP" altLang="en-US" sz="2400" dirty="0"/>
          </a:p>
        </p:txBody>
      </p:sp>
      <p:sp>
        <p:nvSpPr>
          <p:cNvPr id="58" name="フローチャート: 複数書類 57"/>
          <p:cNvSpPr/>
          <p:nvPr/>
        </p:nvSpPr>
        <p:spPr>
          <a:xfrm>
            <a:off x="433636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index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133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課題での</a:t>
            </a:r>
            <a:r>
              <a:rPr lang="en-US" altLang="ja-JP" dirty="0" err="1" smtClean="0"/>
              <a:t>skinned_mesh</a:t>
            </a:r>
            <a:r>
              <a:rPr lang="ja-JP" altLang="en-US" dirty="0" smtClean="0"/>
              <a:t>の構造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144966" y="2074127"/>
            <a:ext cx="11931805" cy="465005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横巻き 4"/>
          <p:cNvSpPr/>
          <p:nvPr/>
        </p:nvSpPr>
        <p:spPr>
          <a:xfrm>
            <a:off x="4533063" y="1807323"/>
            <a:ext cx="3056865" cy="778934"/>
          </a:xfrm>
          <a:prstGeom prst="horizontalScroll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200" dirty="0" err="1" smtClean="0"/>
              <a:t>skinned_mesh</a:t>
            </a:r>
            <a:endParaRPr kumimoji="1" lang="ja-JP" altLang="en-US" sz="3200" dirty="0"/>
          </a:p>
        </p:txBody>
      </p:sp>
      <p:sp>
        <p:nvSpPr>
          <p:cNvPr id="33" name="フローチャート: 書類 32"/>
          <p:cNvSpPr/>
          <p:nvPr/>
        </p:nvSpPr>
        <p:spPr>
          <a:xfrm>
            <a:off x="353122" y="3323064"/>
            <a:ext cx="1799283" cy="3155796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scene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ja-JP" altLang="en-US" dirty="0"/>
          </a:p>
        </p:txBody>
      </p:sp>
      <p:sp>
        <p:nvSpPr>
          <p:cNvPr id="35" name="フローチャート: 複数書類 34"/>
          <p:cNvSpPr/>
          <p:nvPr/>
        </p:nvSpPr>
        <p:spPr>
          <a:xfrm>
            <a:off x="518871" y="3975410"/>
            <a:ext cx="1450966" cy="194588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node</a:t>
            </a:r>
            <a:endParaRPr kumimoji="1" lang="ja-JP" altLang="en-US" sz="2400" dirty="0"/>
          </a:p>
        </p:txBody>
      </p:sp>
      <p:sp>
        <p:nvSpPr>
          <p:cNvPr id="48" name="フローチャート: 複数書類 47"/>
          <p:cNvSpPr/>
          <p:nvPr/>
        </p:nvSpPr>
        <p:spPr>
          <a:xfrm>
            <a:off x="2353127" y="2690634"/>
            <a:ext cx="4297447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mesh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50" name="フローチャート: 複数書類 49"/>
          <p:cNvSpPr/>
          <p:nvPr/>
        </p:nvSpPr>
        <p:spPr>
          <a:xfrm>
            <a:off x="253875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vertex</a:t>
            </a:r>
            <a:endParaRPr kumimoji="1" lang="ja-JP" altLang="en-US" sz="2400" dirty="0"/>
          </a:p>
        </p:txBody>
      </p:sp>
      <p:sp>
        <p:nvSpPr>
          <p:cNvPr id="53" name="フローチャート: 複数書類 52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54" name="フローチャート: 書類 5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58" name="フローチャート: 複数書類 57"/>
          <p:cNvSpPr/>
          <p:nvPr/>
        </p:nvSpPr>
        <p:spPr>
          <a:xfrm>
            <a:off x="4336367" y="3783858"/>
            <a:ext cx="1384576" cy="731570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index</a:t>
            </a:r>
            <a:endParaRPr kumimoji="1" lang="ja-JP" altLang="en-US" sz="2400" dirty="0"/>
          </a:p>
        </p:txBody>
      </p:sp>
      <p:sp>
        <p:nvSpPr>
          <p:cNvPr id="16" name="フローチャート: 複数書類 15"/>
          <p:cNvSpPr/>
          <p:nvPr/>
        </p:nvSpPr>
        <p:spPr>
          <a:xfrm>
            <a:off x="4360566" y="4653801"/>
            <a:ext cx="1516126" cy="1052647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subset</a:t>
            </a:r>
            <a:endParaRPr kumimoji="1" lang="ja-JP" altLang="en-US" sz="2400" dirty="0"/>
          </a:p>
        </p:txBody>
      </p:sp>
      <p:sp>
        <p:nvSpPr>
          <p:cNvPr id="17" name="フローチャート: 書類 16"/>
          <p:cNvSpPr/>
          <p:nvPr/>
        </p:nvSpPr>
        <p:spPr>
          <a:xfrm>
            <a:off x="2549491" y="4627404"/>
            <a:ext cx="1498621" cy="1743869"/>
          </a:xfrm>
          <a:prstGeom prst="flowChartDocumen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skeleton</a:t>
            </a:r>
          </a:p>
          <a:p>
            <a:pPr algn="ctr"/>
            <a:endParaRPr kumimoji="1" lang="en-US" altLang="ja-JP" dirty="0" smtClean="0"/>
          </a:p>
          <a:p>
            <a:pPr algn="ctr"/>
            <a:endParaRPr kumimoji="1" lang="en-US" altLang="ja-JP" dirty="0"/>
          </a:p>
          <a:p>
            <a:pPr algn="ctr"/>
            <a:endParaRPr kumimoji="1" lang="ja-JP" altLang="en-US" dirty="0"/>
          </a:p>
        </p:txBody>
      </p:sp>
      <p:sp>
        <p:nvSpPr>
          <p:cNvPr id="20" name="フローチャート: 複数書類 19"/>
          <p:cNvSpPr/>
          <p:nvPr/>
        </p:nvSpPr>
        <p:spPr>
          <a:xfrm>
            <a:off x="2681801" y="5124075"/>
            <a:ext cx="1151367" cy="1034562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bone</a:t>
            </a:r>
            <a:endParaRPr kumimoji="1" lang="ja-JP" altLang="en-US" sz="2400" dirty="0"/>
          </a:p>
        </p:txBody>
      </p:sp>
      <p:sp>
        <p:nvSpPr>
          <p:cNvPr id="21" name="正方形/長方形 20"/>
          <p:cNvSpPr/>
          <p:nvPr/>
        </p:nvSpPr>
        <p:spPr>
          <a:xfrm>
            <a:off x="2431448" y="4527619"/>
            <a:ext cx="1746550" cy="1945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フローチャート: 複数書類 51"/>
          <p:cNvSpPr/>
          <p:nvPr/>
        </p:nvSpPr>
        <p:spPr>
          <a:xfrm>
            <a:off x="6851296" y="2684459"/>
            <a:ext cx="2195689" cy="3788226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 smtClean="0"/>
              <a:t>material</a:t>
            </a:r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en-US" altLang="ja-JP" sz="2800" dirty="0" smtClean="0"/>
          </a:p>
          <a:p>
            <a:pPr algn="ctr"/>
            <a:endParaRPr kumimoji="1" lang="en-US" altLang="ja-JP" sz="2800" dirty="0"/>
          </a:p>
          <a:p>
            <a:pPr algn="ctr"/>
            <a:endParaRPr kumimoji="1" lang="ja-JP" altLang="en-US" sz="2800" dirty="0"/>
          </a:p>
        </p:txBody>
      </p:sp>
      <p:sp>
        <p:nvSpPr>
          <p:cNvPr id="19" name="円形吹き出し 18"/>
          <p:cNvSpPr/>
          <p:nvPr/>
        </p:nvSpPr>
        <p:spPr>
          <a:xfrm>
            <a:off x="144966" y="2212079"/>
            <a:ext cx="3501835" cy="1136285"/>
          </a:xfrm>
          <a:prstGeom prst="wedgeEllipseCallout">
            <a:avLst>
              <a:gd name="adj1" fmla="val 18872"/>
              <a:gd name="adj2" fmla="val 134341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今回はここを実装する</a:t>
            </a:r>
            <a:endParaRPr kumimoji="1" lang="en-US" altLang="ja-JP" dirty="0" smtClean="0"/>
          </a:p>
        </p:txBody>
      </p:sp>
      <p:sp>
        <p:nvSpPr>
          <p:cNvPr id="27" name="フローチャート: 書類 26"/>
          <p:cNvSpPr/>
          <p:nvPr/>
        </p:nvSpPr>
        <p:spPr>
          <a:xfrm>
            <a:off x="7189713" y="41501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  <p:sp>
        <p:nvSpPr>
          <p:cNvPr id="32" name="フローチャート: 複数書類 31"/>
          <p:cNvSpPr/>
          <p:nvPr/>
        </p:nvSpPr>
        <p:spPr>
          <a:xfrm>
            <a:off x="7037313" y="4946790"/>
            <a:ext cx="1384576" cy="974508"/>
          </a:xfrm>
          <a:prstGeom prst="flowChartMulti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texture</a:t>
            </a:r>
            <a:endParaRPr kumimoji="1" lang="ja-JP" altLang="en-US" sz="2400" dirty="0"/>
          </a:p>
        </p:txBody>
      </p:sp>
      <p:sp>
        <p:nvSpPr>
          <p:cNvPr id="34" name="フローチャート: 書類 33"/>
          <p:cNvSpPr/>
          <p:nvPr/>
        </p:nvSpPr>
        <p:spPr>
          <a:xfrm>
            <a:off x="7037313" y="3997714"/>
            <a:ext cx="1409696" cy="629691"/>
          </a:xfrm>
          <a:prstGeom prst="flowChartDocument">
            <a:avLst/>
          </a:prstGeom>
          <a:solidFill>
            <a:schemeClr val="bg1"/>
          </a:solidFill>
          <a:ln w="381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smtClean="0"/>
              <a:t>color</a:t>
            </a:r>
          </a:p>
        </p:txBody>
      </p:sp>
    </p:spTree>
    <p:extLst>
      <p:ext uri="{BB962C8B-B14F-4D97-AF65-F5344CB8AC3E}">
        <p14:creationId xmlns:p14="http://schemas.microsoft.com/office/powerpoint/2010/main" val="345127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キャラクターモデルのメッシュ</a:t>
            </a:r>
            <a:endParaRPr kumimoji="1" lang="ja-JP" altLang="en-US" dirty="0"/>
          </a:p>
        </p:txBody>
      </p:sp>
      <p:pic>
        <p:nvPicPr>
          <p:cNvPr id="1030" name="Picture 6" descr="https://oakcorp.net/okino/wp-content/themes/okino/img/skinning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847088"/>
            <a:ext cx="6124575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角丸四角形 13"/>
          <p:cNvSpPr/>
          <p:nvPr/>
        </p:nvSpPr>
        <p:spPr>
          <a:xfrm>
            <a:off x="8857569" y="2424711"/>
            <a:ext cx="2383971" cy="81642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角丸四角形 14"/>
          <p:cNvSpPr/>
          <p:nvPr/>
        </p:nvSpPr>
        <p:spPr>
          <a:xfrm>
            <a:off x="7293017" y="3818762"/>
            <a:ext cx="2192932" cy="2853419"/>
          </a:xfrm>
          <a:prstGeom prst="roundRect">
            <a:avLst/>
          </a:prstGeom>
          <a:noFill/>
          <a:ln w="57150"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/>
          <p:cNvSpPr/>
          <p:nvPr/>
        </p:nvSpPr>
        <p:spPr>
          <a:xfrm>
            <a:off x="5809570" y="2424711"/>
            <a:ext cx="2192931" cy="81642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角丸四角形 16"/>
          <p:cNvSpPr/>
          <p:nvPr/>
        </p:nvSpPr>
        <p:spPr>
          <a:xfrm>
            <a:off x="8002502" y="1847088"/>
            <a:ext cx="855068" cy="816429"/>
          </a:xfrm>
          <a:prstGeom prst="roundRect">
            <a:avLst/>
          </a:prstGeom>
          <a:noFill/>
          <a:ln w="57150">
            <a:solidFill>
              <a:srgbClr val="00B0F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角丸四角形 17"/>
          <p:cNvSpPr/>
          <p:nvPr/>
        </p:nvSpPr>
        <p:spPr>
          <a:xfrm>
            <a:off x="8002501" y="2663517"/>
            <a:ext cx="855067" cy="115524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角丸四角形吹き出し 19"/>
          <p:cNvSpPr/>
          <p:nvPr/>
        </p:nvSpPr>
        <p:spPr>
          <a:xfrm>
            <a:off x="1926770" y="2141035"/>
            <a:ext cx="3350899" cy="896080"/>
          </a:xfrm>
          <a:prstGeom prst="wedgeRoundRectCallout">
            <a:avLst>
              <a:gd name="adj1" fmla="val 58128"/>
              <a:gd name="adj2" fmla="val -16876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パーツやマテリアルの単位で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メッシュが分割されている。</a:t>
            </a:r>
            <a:endParaRPr kumimoji="1" lang="ja-JP" altLang="en-US" dirty="0"/>
          </a:p>
        </p:txBody>
      </p:sp>
      <p:sp>
        <p:nvSpPr>
          <p:cNvPr id="3" name="楕円 2"/>
          <p:cNvSpPr/>
          <p:nvPr/>
        </p:nvSpPr>
        <p:spPr>
          <a:xfrm>
            <a:off x="7836061" y="3923819"/>
            <a:ext cx="578734" cy="13542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/>
          <p:cNvSpPr/>
          <p:nvPr/>
        </p:nvSpPr>
        <p:spPr>
          <a:xfrm rot="372453">
            <a:off x="7770582" y="5150914"/>
            <a:ext cx="578734" cy="12424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/>
          <p:cNvSpPr/>
          <p:nvPr/>
        </p:nvSpPr>
        <p:spPr>
          <a:xfrm rot="372453">
            <a:off x="7726704" y="6300847"/>
            <a:ext cx="429243" cy="4228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/>
          <p:cNvSpPr/>
          <p:nvPr/>
        </p:nvSpPr>
        <p:spPr>
          <a:xfrm>
            <a:off x="8477478" y="3891233"/>
            <a:ext cx="578734" cy="13542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/>
          <p:cNvSpPr/>
          <p:nvPr/>
        </p:nvSpPr>
        <p:spPr>
          <a:xfrm rot="21186554">
            <a:off x="8574596" y="5153496"/>
            <a:ext cx="578734" cy="12424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楕円 24"/>
          <p:cNvSpPr/>
          <p:nvPr/>
        </p:nvSpPr>
        <p:spPr>
          <a:xfrm rot="372453">
            <a:off x="8669633" y="6300847"/>
            <a:ext cx="429243" cy="4228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 25"/>
          <p:cNvSpPr/>
          <p:nvPr/>
        </p:nvSpPr>
        <p:spPr>
          <a:xfrm>
            <a:off x="345542" y="4541273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sp>
        <p:nvSpPr>
          <p:cNvPr id="27" name="角丸四角形 26"/>
          <p:cNvSpPr/>
          <p:nvPr/>
        </p:nvSpPr>
        <p:spPr>
          <a:xfrm>
            <a:off x="2648916" y="4536195"/>
            <a:ext cx="1875139" cy="37707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28" name="曲線コネクタ 13"/>
          <p:cNvCxnSpPr>
            <a:stCxn id="26" idx="3"/>
            <a:endCxn id="27" idx="1"/>
          </p:cNvCxnSpPr>
          <p:nvPr/>
        </p:nvCxnSpPr>
        <p:spPr>
          <a:xfrm flipV="1">
            <a:off x="2220681" y="4724731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角丸四角形 28"/>
          <p:cNvSpPr/>
          <p:nvPr/>
        </p:nvSpPr>
        <p:spPr>
          <a:xfrm>
            <a:off x="5157705" y="4536195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30" name="曲線コネクタ 13"/>
          <p:cNvCxnSpPr>
            <a:stCxn id="27" idx="3"/>
            <a:endCxn id="29" idx="1"/>
          </p:cNvCxnSpPr>
          <p:nvPr/>
        </p:nvCxnSpPr>
        <p:spPr>
          <a:xfrm>
            <a:off x="4524055" y="4724731"/>
            <a:ext cx="633650" cy="12700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角丸四角形 30"/>
          <p:cNvSpPr/>
          <p:nvPr/>
        </p:nvSpPr>
        <p:spPr>
          <a:xfrm>
            <a:off x="5157704" y="5277501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32" name="曲線コネクタ 13"/>
          <p:cNvCxnSpPr>
            <a:stCxn id="27" idx="3"/>
            <a:endCxn id="31" idx="1"/>
          </p:cNvCxnSpPr>
          <p:nvPr/>
        </p:nvCxnSpPr>
        <p:spPr>
          <a:xfrm>
            <a:off x="4524055" y="4724731"/>
            <a:ext cx="633649" cy="741306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角丸四角形 32"/>
          <p:cNvSpPr/>
          <p:nvPr/>
        </p:nvSpPr>
        <p:spPr>
          <a:xfrm>
            <a:off x="5157704" y="6042432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34" name="曲線コネクタ 13"/>
          <p:cNvCxnSpPr>
            <a:stCxn id="27" idx="3"/>
            <a:endCxn id="33" idx="1"/>
          </p:cNvCxnSpPr>
          <p:nvPr/>
        </p:nvCxnSpPr>
        <p:spPr>
          <a:xfrm>
            <a:off x="4524055" y="4724731"/>
            <a:ext cx="633649" cy="1506237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曲線コネクタ 13"/>
          <p:cNvCxnSpPr>
            <a:stCxn id="26" idx="0"/>
          </p:cNvCxnSpPr>
          <p:nvPr/>
        </p:nvCxnSpPr>
        <p:spPr>
          <a:xfrm rot="5400000" flipH="1" flipV="1">
            <a:off x="4061489" y="1376934"/>
            <a:ext cx="385962" cy="5942716"/>
          </a:xfrm>
          <a:prstGeom prst="curved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線コネクタ 13"/>
          <p:cNvCxnSpPr>
            <a:endCxn id="3" idx="2"/>
          </p:cNvCxnSpPr>
          <p:nvPr/>
        </p:nvCxnSpPr>
        <p:spPr>
          <a:xfrm flipV="1">
            <a:off x="7068906" y="4600938"/>
            <a:ext cx="767155" cy="50316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曲線コネクタ 13"/>
          <p:cNvCxnSpPr>
            <a:stCxn id="31" idx="3"/>
            <a:endCxn id="13" idx="2"/>
          </p:cNvCxnSpPr>
          <p:nvPr/>
        </p:nvCxnSpPr>
        <p:spPr>
          <a:xfrm>
            <a:off x="7032843" y="5466037"/>
            <a:ext cx="739436" cy="274837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曲線コネクタ 13"/>
          <p:cNvCxnSpPr>
            <a:stCxn id="33" idx="3"/>
          </p:cNvCxnSpPr>
          <p:nvPr/>
        </p:nvCxnSpPr>
        <p:spPr>
          <a:xfrm>
            <a:off x="7032843" y="6230968"/>
            <a:ext cx="739436" cy="281301"/>
          </a:xfrm>
          <a:prstGeom prst="curvedConnector3">
            <a:avLst>
              <a:gd name="adj1" fmla="val 50000"/>
            </a:avLst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角丸四角形吹き出し 41"/>
          <p:cNvSpPr/>
          <p:nvPr/>
        </p:nvSpPr>
        <p:spPr>
          <a:xfrm>
            <a:off x="509286" y="5523424"/>
            <a:ext cx="3779529" cy="896080"/>
          </a:xfrm>
          <a:prstGeom prst="wedgeRoundRectCallout">
            <a:avLst>
              <a:gd name="adj1" fmla="val 70909"/>
              <a:gd name="adj2" fmla="val -38835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スキニングに必要な頂点データや行列データをもっている。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8692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スキニングに必要な</a:t>
            </a:r>
            <a:r>
              <a:rPr kumimoji="1" lang="en-US" altLang="ja-JP" dirty="0" smtClean="0"/>
              <a:t>FBX</a:t>
            </a:r>
            <a:r>
              <a:rPr kumimoji="1" lang="ja-JP" altLang="en-US" dirty="0" smtClean="0"/>
              <a:t>の構成図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609600" y="2251041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7" name="角丸四角形 6"/>
          <p:cNvSpPr/>
          <p:nvPr/>
        </p:nvSpPr>
        <p:spPr>
          <a:xfrm>
            <a:off x="2058852" y="5513910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8" name="曲線コネクタ 13"/>
          <p:cNvCxnSpPr>
            <a:stCxn id="4" idx="2"/>
            <a:endCxn id="7" idx="1"/>
          </p:cNvCxnSpPr>
          <p:nvPr/>
        </p:nvCxnSpPr>
        <p:spPr>
          <a:xfrm rot="16200000" flipH="1">
            <a:off x="265845" y="3909438"/>
            <a:ext cx="3074333" cy="511682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角丸四角形 8"/>
          <p:cNvSpPr/>
          <p:nvPr/>
        </p:nvSpPr>
        <p:spPr>
          <a:xfrm>
            <a:off x="2058852" y="291291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10" name="曲線コネクタ 13"/>
          <p:cNvCxnSpPr>
            <a:stCxn id="4" idx="2"/>
            <a:endCxn id="9" idx="1"/>
          </p:cNvCxnSpPr>
          <p:nvPr/>
        </p:nvCxnSpPr>
        <p:spPr>
          <a:xfrm rot="16200000" flipH="1">
            <a:off x="1566343" y="2608940"/>
            <a:ext cx="473337" cy="511682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4362226" y="5518988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12" name="曲線コネクタ 13"/>
          <p:cNvCxnSpPr>
            <a:stCxn id="7" idx="3"/>
            <a:endCxn id="11" idx="1"/>
          </p:cNvCxnSpPr>
          <p:nvPr/>
        </p:nvCxnSpPr>
        <p:spPr>
          <a:xfrm>
            <a:off x="3933991" y="5702446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 12"/>
          <p:cNvSpPr/>
          <p:nvPr/>
        </p:nvSpPr>
        <p:spPr>
          <a:xfrm>
            <a:off x="6747107" y="5513910"/>
            <a:ext cx="1875139" cy="3770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14" name="曲線コネクタ 13"/>
          <p:cNvCxnSpPr>
            <a:stCxn id="11" idx="3"/>
            <a:endCxn id="13" idx="1"/>
          </p:cNvCxnSpPr>
          <p:nvPr/>
        </p:nvCxnSpPr>
        <p:spPr>
          <a:xfrm flipV="1">
            <a:off x="6237365" y="5702446"/>
            <a:ext cx="509742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3424656" y="3574787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3" name="曲線コネクタ 13"/>
          <p:cNvCxnSpPr>
            <a:stCxn id="9" idx="2"/>
            <a:endCxn id="32" idx="1"/>
          </p:cNvCxnSpPr>
          <p:nvPr/>
        </p:nvCxnSpPr>
        <p:spPr>
          <a:xfrm rot="16200000" flipH="1">
            <a:off x="2973871" y="3312537"/>
            <a:ext cx="473337" cy="428234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角丸四角形 36"/>
          <p:cNvSpPr/>
          <p:nvPr/>
        </p:nvSpPr>
        <p:spPr>
          <a:xfrm>
            <a:off x="3424655" y="435327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cxnSp>
        <p:nvCxnSpPr>
          <p:cNvPr id="38" name="曲線コネクタ 13"/>
          <p:cNvCxnSpPr>
            <a:stCxn id="9" idx="2"/>
            <a:endCxn id="37" idx="1"/>
          </p:cNvCxnSpPr>
          <p:nvPr/>
        </p:nvCxnSpPr>
        <p:spPr>
          <a:xfrm rot="16200000" flipH="1">
            <a:off x="2584626" y="3701781"/>
            <a:ext cx="1251824" cy="428233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角丸四角形 40"/>
          <p:cNvSpPr/>
          <p:nvPr/>
        </p:nvSpPr>
        <p:spPr>
          <a:xfrm>
            <a:off x="9131988" y="5518444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sp>
        <p:nvSpPr>
          <p:cNvPr id="42" name="角丸四角形 41"/>
          <p:cNvSpPr/>
          <p:nvPr/>
        </p:nvSpPr>
        <p:spPr>
          <a:xfrm>
            <a:off x="9131987" y="6259750"/>
            <a:ext cx="1875139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endParaRPr kumimoji="1" lang="ja-JP" altLang="en-US" dirty="0"/>
          </a:p>
        </p:txBody>
      </p:sp>
      <p:cxnSp>
        <p:nvCxnSpPr>
          <p:cNvPr id="43" name="曲線コネクタ 13"/>
          <p:cNvCxnSpPr>
            <a:stCxn id="13" idx="3"/>
            <a:endCxn id="41" idx="1"/>
          </p:cNvCxnSpPr>
          <p:nvPr/>
        </p:nvCxnSpPr>
        <p:spPr>
          <a:xfrm>
            <a:off x="8622246" y="5702446"/>
            <a:ext cx="509742" cy="4534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曲線コネクタ 13"/>
          <p:cNvCxnSpPr>
            <a:stCxn id="13" idx="3"/>
            <a:endCxn id="42" idx="1"/>
          </p:cNvCxnSpPr>
          <p:nvPr/>
        </p:nvCxnSpPr>
        <p:spPr>
          <a:xfrm>
            <a:off x="8622246" y="5702446"/>
            <a:ext cx="509741" cy="745840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曲線コネクタ 13"/>
          <p:cNvCxnSpPr>
            <a:stCxn id="41" idx="3"/>
            <a:endCxn id="37" idx="3"/>
          </p:cNvCxnSpPr>
          <p:nvPr/>
        </p:nvCxnSpPr>
        <p:spPr>
          <a:xfrm flipH="1" flipV="1">
            <a:off x="5299794" y="4541810"/>
            <a:ext cx="5707333" cy="1165170"/>
          </a:xfrm>
          <a:prstGeom prst="curvedConnector3">
            <a:avLst>
              <a:gd name="adj1" fmla="val -5627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線コネクタ 13"/>
          <p:cNvCxnSpPr>
            <a:stCxn id="42" idx="3"/>
            <a:endCxn id="32" idx="3"/>
          </p:cNvCxnSpPr>
          <p:nvPr/>
        </p:nvCxnSpPr>
        <p:spPr>
          <a:xfrm flipH="1" flipV="1">
            <a:off x="5299795" y="3763323"/>
            <a:ext cx="5707331" cy="2684963"/>
          </a:xfrm>
          <a:prstGeom prst="curvedConnector3">
            <a:avLst>
              <a:gd name="adj1" fmla="val -14754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角丸四角形吹き出し 56"/>
          <p:cNvSpPr/>
          <p:nvPr/>
        </p:nvSpPr>
        <p:spPr>
          <a:xfrm>
            <a:off x="10501319" y="3485211"/>
            <a:ext cx="1500851" cy="556224"/>
          </a:xfrm>
          <a:prstGeom prst="wedgeRoundRectCallout">
            <a:avLst>
              <a:gd name="adj1" fmla="val -30353"/>
              <a:gd name="adj2" fmla="val 98277"/>
              <a:gd name="adj3" fmla="val 16667"/>
            </a:avLst>
          </a:prstGeom>
          <a:noFill/>
          <a:ln w="3810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GetLink</a:t>
            </a:r>
            <a:r>
              <a:rPr kumimoji="1" lang="en-US" altLang="ja-JP" dirty="0" smtClean="0"/>
              <a:t>()</a:t>
            </a:r>
            <a:endParaRPr kumimoji="1" lang="ja-JP" altLang="en-US" dirty="0"/>
          </a:p>
        </p:txBody>
      </p:sp>
      <p:sp>
        <p:nvSpPr>
          <p:cNvPr id="23" name="円形吹き出し 22"/>
          <p:cNvSpPr/>
          <p:nvPr/>
        </p:nvSpPr>
        <p:spPr>
          <a:xfrm>
            <a:off x="7126198" y="2211322"/>
            <a:ext cx="3880928" cy="1136285"/>
          </a:xfrm>
          <a:prstGeom prst="wedgeEllipseCallout">
            <a:avLst>
              <a:gd name="adj1" fmla="val 34399"/>
              <a:gd name="adj2" fmla="val 69570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この関数でボーンの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姿勢</a:t>
            </a:r>
            <a:r>
              <a:rPr kumimoji="1" lang="ja-JP" altLang="en-US" dirty="0" smtClean="0"/>
              <a:t>などが詰まっている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ノードを参照できる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437094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一般的なモデルのノードツリー</a:t>
            </a:r>
            <a:endParaRPr kumimoji="1" lang="ja-JP" altLang="en-US" dirty="0"/>
          </a:p>
        </p:txBody>
      </p:sp>
      <p:sp>
        <p:nvSpPr>
          <p:cNvPr id="4" name="角丸四角形 3"/>
          <p:cNvSpPr/>
          <p:nvPr/>
        </p:nvSpPr>
        <p:spPr>
          <a:xfrm>
            <a:off x="609600" y="2251041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Root</a:t>
            </a:r>
            <a:endParaRPr kumimoji="1" lang="ja-JP" altLang="en-US" dirty="0"/>
          </a:p>
        </p:txBody>
      </p:sp>
      <p:sp>
        <p:nvSpPr>
          <p:cNvPr id="5" name="角丸四角形 4"/>
          <p:cNvSpPr/>
          <p:nvPr/>
        </p:nvSpPr>
        <p:spPr>
          <a:xfrm>
            <a:off x="2058852" y="5513910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ArmMesh</a:t>
            </a:r>
            <a:endParaRPr kumimoji="1" lang="ja-JP" altLang="en-US" dirty="0"/>
          </a:p>
        </p:txBody>
      </p:sp>
      <p:cxnSp>
        <p:nvCxnSpPr>
          <p:cNvPr id="6" name="曲線コネクタ 13"/>
          <p:cNvCxnSpPr>
            <a:stCxn id="4" idx="2"/>
            <a:endCxn id="5" idx="1"/>
          </p:cNvCxnSpPr>
          <p:nvPr/>
        </p:nvCxnSpPr>
        <p:spPr>
          <a:xfrm rot="16200000" flipH="1">
            <a:off x="265845" y="3909438"/>
            <a:ext cx="3074333" cy="511682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角丸四角形 6"/>
          <p:cNvSpPr/>
          <p:nvPr/>
        </p:nvSpPr>
        <p:spPr>
          <a:xfrm>
            <a:off x="2058852" y="2912914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Shoulder</a:t>
            </a:r>
            <a:endParaRPr kumimoji="1" lang="ja-JP" altLang="en-US" dirty="0"/>
          </a:p>
        </p:txBody>
      </p:sp>
      <p:cxnSp>
        <p:nvCxnSpPr>
          <p:cNvPr id="8" name="曲線コネクタ 13"/>
          <p:cNvCxnSpPr>
            <a:stCxn id="4" idx="2"/>
            <a:endCxn id="7" idx="1"/>
          </p:cNvCxnSpPr>
          <p:nvPr/>
        </p:nvCxnSpPr>
        <p:spPr>
          <a:xfrm rot="16200000" flipH="1">
            <a:off x="1566343" y="2608940"/>
            <a:ext cx="473337" cy="511682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角丸四角形 8"/>
          <p:cNvSpPr/>
          <p:nvPr/>
        </p:nvSpPr>
        <p:spPr>
          <a:xfrm>
            <a:off x="4362226" y="5518988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Mesh</a:t>
            </a:r>
            <a:endParaRPr kumimoji="1" lang="ja-JP" altLang="en-US" dirty="0"/>
          </a:p>
        </p:txBody>
      </p:sp>
      <p:cxnSp>
        <p:nvCxnSpPr>
          <p:cNvPr id="10" name="曲線コネクタ 13"/>
          <p:cNvCxnSpPr>
            <a:stCxn id="5" idx="3"/>
            <a:endCxn id="9" idx="1"/>
          </p:cNvCxnSpPr>
          <p:nvPr/>
        </p:nvCxnSpPr>
        <p:spPr>
          <a:xfrm>
            <a:off x="3933991" y="5702446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角丸四角形 10"/>
          <p:cNvSpPr/>
          <p:nvPr/>
        </p:nvSpPr>
        <p:spPr>
          <a:xfrm>
            <a:off x="3424656" y="3574787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UpperArm</a:t>
            </a:r>
            <a:endParaRPr kumimoji="1" lang="ja-JP" altLang="en-US" dirty="0"/>
          </a:p>
        </p:txBody>
      </p:sp>
      <p:cxnSp>
        <p:nvCxnSpPr>
          <p:cNvPr id="12" name="曲線コネクタ 13"/>
          <p:cNvCxnSpPr>
            <a:stCxn id="7" idx="2"/>
            <a:endCxn id="11" idx="1"/>
          </p:cNvCxnSpPr>
          <p:nvPr/>
        </p:nvCxnSpPr>
        <p:spPr>
          <a:xfrm rot="16200000" flipH="1">
            <a:off x="2973871" y="3312537"/>
            <a:ext cx="473337" cy="428234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曲線コネクタ 13"/>
          <p:cNvCxnSpPr>
            <a:stCxn id="11" idx="2"/>
            <a:endCxn id="13" idx="1"/>
          </p:cNvCxnSpPr>
          <p:nvPr/>
        </p:nvCxnSpPr>
        <p:spPr>
          <a:xfrm rot="16200000" flipH="1">
            <a:off x="4332552" y="3981533"/>
            <a:ext cx="592489" cy="53314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6" descr="https://oakcorp.net/okino/wp-content/themes/okino/img/skinning3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076" y="2068508"/>
            <a:ext cx="5701011" cy="4628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角丸四角形 15"/>
          <p:cNvSpPr/>
          <p:nvPr/>
        </p:nvSpPr>
        <p:spPr>
          <a:xfrm>
            <a:off x="9552051" y="2506344"/>
            <a:ext cx="2161530" cy="81642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/>
          <p:cNvSpPr/>
          <p:nvPr/>
        </p:nvSpPr>
        <p:spPr>
          <a:xfrm>
            <a:off x="4895366" y="4355812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LowerArm</a:t>
            </a:r>
            <a:endParaRPr kumimoji="1" lang="ja-JP" altLang="en-US" dirty="0"/>
          </a:p>
        </p:txBody>
      </p:sp>
      <p:cxnSp>
        <p:nvCxnSpPr>
          <p:cNvPr id="20" name="曲線コネクタ 13"/>
          <p:cNvCxnSpPr>
            <a:stCxn id="9" idx="3"/>
            <a:endCxn id="16" idx="2"/>
          </p:cNvCxnSpPr>
          <p:nvPr/>
        </p:nvCxnSpPr>
        <p:spPr>
          <a:xfrm flipV="1">
            <a:off x="6237365" y="3322773"/>
            <a:ext cx="4395451" cy="2384751"/>
          </a:xfrm>
          <a:prstGeom prst="curvedConnector2">
            <a:avLst/>
          </a:prstGeom>
          <a:ln w="38100">
            <a:solidFill>
              <a:srgbClr val="FFC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曲線コネクタ 13"/>
          <p:cNvCxnSpPr>
            <a:stCxn id="13" idx="3"/>
          </p:cNvCxnSpPr>
          <p:nvPr/>
        </p:nvCxnSpPr>
        <p:spPr>
          <a:xfrm flipV="1">
            <a:off x="6770505" y="2912914"/>
            <a:ext cx="3681434" cy="1631434"/>
          </a:xfrm>
          <a:prstGeom prst="curvedConnector3">
            <a:avLst>
              <a:gd name="adj1" fmla="val 97790"/>
            </a:avLst>
          </a:prstGeom>
          <a:ln w="3810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曲線コネクタ 13"/>
          <p:cNvCxnSpPr>
            <a:stCxn id="11" idx="3"/>
          </p:cNvCxnSpPr>
          <p:nvPr/>
        </p:nvCxnSpPr>
        <p:spPr>
          <a:xfrm flipV="1">
            <a:off x="5299795" y="2863059"/>
            <a:ext cx="4561835" cy="900264"/>
          </a:xfrm>
          <a:prstGeom prst="curvedConnector3">
            <a:avLst>
              <a:gd name="adj1" fmla="val 99985"/>
            </a:avLst>
          </a:prstGeom>
          <a:ln w="3810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楕円 32"/>
          <p:cNvSpPr/>
          <p:nvPr/>
        </p:nvSpPr>
        <p:spPr>
          <a:xfrm>
            <a:off x="9097701" y="6418341"/>
            <a:ext cx="127321" cy="158491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曲線コネクタ 13"/>
          <p:cNvCxnSpPr>
            <a:stCxn id="5" idx="2"/>
            <a:endCxn id="33" idx="2"/>
          </p:cNvCxnSpPr>
          <p:nvPr/>
        </p:nvCxnSpPr>
        <p:spPr>
          <a:xfrm rot="16200000" flipH="1">
            <a:off x="5743759" y="3143644"/>
            <a:ext cx="606605" cy="6101279"/>
          </a:xfrm>
          <a:prstGeom prst="curvedConnector2">
            <a:avLst/>
          </a:prstGeom>
          <a:ln w="3810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角丸四角形吹き出し 36"/>
          <p:cNvSpPr/>
          <p:nvPr/>
        </p:nvSpPr>
        <p:spPr>
          <a:xfrm>
            <a:off x="8237259" y="959810"/>
            <a:ext cx="3739392" cy="896080"/>
          </a:xfrm>
          <a:prstGeom prst="wedgeRoundRectCallout">
            <a:avLst>
              <a:gd name="adj1" fmla="val 11144"/>
              <a:gd name="adj2" fmla="val 100697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このメッシュの頂点の位置は</a:t>
            </a:r>
            <a:r>
              <a:rPr kumimoji="1" lang="en-US" altLang="ja-JP" dirty="0" err="1" smtClean="0"/>
              <a:t>ArmMesh</a:t>
            </a:r>
            <a:r>
              <a:rPr kumimoji="1" lang="ja-JP" altLang="en-US" dirty="0" smtClean="0"/>
              <a:t>の位置からの相対位置。</a:t>
            </a:r>
            <a:endParaRPr kumimoji="1" lang="ja-JP" altLang="en-US" dirty="0"/>
          </a:p>
        </p:txBody>
      </p:sp>
      <p:sp>
        <p:nvSpPr>
          <p:cNvPr id="38" name="角丸四角形吹き出し 37"/>
          <p:cNvSpPr/>
          <p:nvPr/>
        </p:nvSpPr>
        <p:spPr>
          <a:xfrm>
            <a:off x="3659048" y="1925648"/>
            <a:ext cx="3739392" cy="896080"/>
          </a:xfrm>
          <a:prstGeom prst="wedgeRoundRectCallout">
            <a:avLst>
              <a:gd name="adj1" fmla="val 112146"/>
              <a:gd name="adj2" fmla="val 48566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LowerArm</a:t>
            </a:r>
            <a:r>
              <a:rPr kumimoji="1" lang="ja-JP" altLang="en-US" dirty="0" smtClean="0"/>
              <a:t>を回転させたときに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どうなって欲しいか考えよう。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4931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ボーンを回転させた時のメッシュの変形</a:t>
            </a:r>
            <a:endParaRPr kumimoji="1" lang="ja-JP" altLang="en-US" dirty="0"/>
          </a:p>
        </p:txBody>
      </p:sp>
      <p:pic>
        <p:nvPicPr>
          <p:cNvPr id="1028" name="Picture 4" descr="gmpg_017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53" y="2072141"/>
            <a:ext cx="5363818" cy="442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mpg_017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419" y="2166730"/>
            <a:ext cx="5961564" cy="4224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/>
          <p:cNvSpPr txBox="1"/>
          <p:nvPr/>
        </p:nvSpPr>
        <p:spPr>
          <a:xfrm>
            <a:off x="2554798" y="6390862"/>
            <a:ext cx="737928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正解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657908" y="6390862"/>
            <a:ext cx="920585" cy="36933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dirty="0" smtClean="0"/>
              <a:t>不正解</a:t>
            </a:r>
          </a:p>
        </p:txBody>
      </p:sp>
    </p:spTree>
    <p:extLst>
      <p:ext uri="{BB962C8B-B14F-4D97-AF65-F5344CB8AC3E}">
        <p14:creationId xmlns:p14="http://schemas.microsoft.com/office/powerpoint/2010/main" val="110075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4618383" cy="1143000"/>
          </a:xfrm>
        </p:spPr>
        <p:txBody>
          <a:bodyPr/>
          <a:lstStyle/>
          <a:p>
            <a:r>
              <a:rPr kumimoji="1" lang="ja-JP" altLang="en-US" dirty="0" smtClean="0"/>
              <a:t>回転の手順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599" y="1935480"/>
            <a:ext cx="4399723" cy="4343400"/>
          </a:xfrm>
        </p:spPr>
        <p:txBody>
          <a:bodyPr/>
          <a:lstStyle/>
          <a:p>
            <a:r>
              <a:rPr kumimoji="1" lang="en-US" altLang="ja-JP" dirty="0" smtClean="0"/>
              <a:t>Unit.04</a:t>
            </a:r>
            <a:r>
              <a:rPr lang="ja-JP" altLang="en-US" dirty="0" smtClean="0"/>
              <a:t>のスプライト回転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と手順は同じ。</a:t>
            </a:r>
            <a:endParaRPr lang="en-US" altLang="ja-JP" dirty="0" smtClean="0"/>
          </a:p>
          <a:p>
            <a:endParaRPr kumimoji="1" lang="en-US" altLang="ja-JP" dirty="0"/>
          </a:p>
          <a:p>
            <a:r>
              <a:rPr lang="ja-JP" altLang="en-US" dirty="0" smtClean="0"/>
              <a:t>原点に戻すところに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初期姿勢の逆行列を使う。</a:t>
            </a:r>
            <a:endParaRPr kumimoji="1" lang="ja-JP" altLang="en-US" dirty="0"/>
          </a:p>
        </p:txBody>
      </p:sp>
      <p:pic>
        <p:nvPicPr>
          <p:cNvPr id="4" name="Picture 2" descr="gmpg_017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7251" y="79674"/>
            <a:ext cx="6659217" cy="6778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890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様々な変換行列の空間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メッシュ空間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ボーン空間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グローバル空間</a:t>
            </a:r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様々な空間があるが、どの視点で考えるかというだけの話。</a:t>
            </a:r>
            <a:endParaRPr kumimoji="1" lang="ja-JP" altLang="en-US" dirty="0"/>
          </a:p>
        </p:txBody>
      </p:sp>
      <p:cxnSp>
        <p:nvCxnSpPr>
          <p:cNvPr id="5" name="直線コネクタ 4"/>
          <p:cNvCxnSpPr/>
          <p:nvPr/>
        </p:nvCxnSpPr>
        <p:spPr>
          <a:xfrm>
            <a:off x="6023113" y="3569747"/>
            <a:ext cx="41744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/>
          <p:cNvCxnSpPr/>
          <p:nvPr/>
        </p:nvCxnSpPr>
        <p:spPr>
          <a:xfrm>
            <a:off x="8001001" y="1770764"/>
            <a:ext cx="0" cy="37470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正方形/長方形 8"/>
          <p:cNvSpPr/>
          <p:nvPr/>
        </p:nvSpPr>
        <p:spPr>
          <a:xfrm>
            <a:off x="8347546" y="2055968"/>
            <a:ext cx="1143000" cy="63610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/>
          <p:cNvSpPr/>
          <p:nvPr/>
        </p:nvSpPr>
        <p:spPr>
          <a:xfrm>
            <a:off x="8706677" y="4051794"/>
            <a:ext cx="198783" cy="198783"/>
          </a:xfrm>
          <a:prstGeom prst="ellipse">
            <a:avLst/>
          </a:prstGeom>
          <a:solidFill>
            <a:srgbClr val="0070C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11"/>
          <p:cNvSpPr/>
          <p:nvPr/>
        </p:nvSpPr>
        <p:spPr>
          <a:xfrm>
            <a:off x="7812976" y="2363643"/>
            <a:ext cx="376048" cy="903460"/>
          </a:xfrm>
          <a:prstGeom prst="triangle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楕円 7"/>
          <p:cNvSpPr/>
          <p:nvPr/>
        </p:nvSpPr>
        <p:spPr>
          <a:xfrm>
            <a:off x="7901609" y="3470355"/>
            <a:ext cx="198783" cy="198783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12"/>
          <p:cNvSpPr/>
          <p:nvPr/>
        </p:nvSpPr>
        <p:spPr>
          <a:xfrm rot="5400000">
            <a:off x="8256082" y="1922290"/>
            <a:ext cx="376048" cy="903460"/>
          </a:xfrm>
          <a:prstGeom prst="triangle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角丸四角形吹き出し 13"/>
          <p:cNvSpPr/>
          <p:nvPr/>
        </p:nvSpPr>
        <p:spPr>
          <a:xfrm>
            <a:off x="3788257" y="4151185"/>
            <a:ext cx="3739392" cy="896080"/>
          </a:xfrm>
          <a:prstGeom prst="wedgeRoundRectCallout">
            <a:avLst>
              <a:gd name="adj1" fmla="val 55797"/>
              <a:gd name="adj2" fmla="val -98955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原点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こいつを基準とした空間が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グローバル空間</a:t>
            </a:r>
            <a:endParaRPr kumimoji="1" lang="ja-JP" altLang="en-US" dirty="0"/>
          </a:p>
        </p:txBody>
      </p:sp>
      <p:sp>
        <p:nvSpPr>
          <p:cNvPr id="15" name="角丸四角形吹き出し 14"/>
          <p:cNvSpPr/>
          <p:nvPr/>
        </p:nvSpPr>
        <p:spPr>
          <a:xfrm>
            <a:off x="8180938" y="4621736"/>
            <a:ext cx="3739392" cy="896080"/>
          </a:xfrm>
          <a:prstGeom prst="wedgeRoundRectCallout">
            <a:avLst>
              <a:gd name="adj1" fmla="val -31915"/>
              <a:gd name="adj2" fmla="val -82318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MeshNode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こいつを基準とした空間が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メッシュ空間</a:t>
            </a:r>
            <a:endParaRPr kumimoji="1" lang="ja-JP" altLang="en-US" dirty="0"/>
          </a:p>
        </p:txBody>
      </p:sp>
      <p:sp>
        <p:nvSpPr>
          <p:cNvPr id="16" name="角丸四角形吹き出し 15"/>
          <p:cNvSpPr/>
          <p:nvPr/>
        </p:nvSpPr>
        <p:spPr>
          <a:xfrm>
            <a:off x="3769981" y="2328797"/>
            <a:ext cx="3739392" cy="896080"/>
          </a:xfrm>
          <a:prstGeom prst="wedgeRoundRectCallout">
            <a:avLst>
              <a:gd name="adj1" fmla="val 59253"/>
              <a:gd name="adj2" fmla="val -42388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Bone</a:t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こいつを基準とした空間が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ボーン空間</a:t>
            </a:r>
            <a:endParaRPr kumimoji="1" lang="ja-JP" altLang="en-US" dirty="0"/>
          </a:p>
        </p:txBody>
      </p:sp>
      <p:sp>
        <p:nvSpPr>
          <p:cNvPr id="17" name="角丸四角形吹き出し 16"/>
          <p:cNvSpPr/>
          <p:nvPr/>
        </p:nvSpPr>
        <p:spPr>
          <a:xfrm>
            <a:off x="8347546" y="827548"/>
            <a:ext cx="3739392" cy="896080"/>
          </a:xfrm>
          <a:prstGeom prst="wedgeRoundRectCallout">
            <a:avLst>
              <a:gd name="adj1" fmla="val -31383"/>
              <a:gd name="adj2" fmla="val 75185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Mesh</a:t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こいつは</a:t>
            </a:r>
            <a:r>
              <a:rPr kumimoji="1" lang="en-US" altLang="ja-JP" dirty="0" err="1" smtClean="0"/>
              <a:t>MeshNode</a:t>
            </a:r>
            <a:r>
              <a:rPr kumimoji="1" lang="ja-JP" altLang="en-US" dirty="0" smtClean="0"/>
              <a:t>基準の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頂点データを持っている。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70868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" descr="ãã¹ã­ãã³ã°ãã®ç»åæ¤ç´¢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56" y="1843127"/>
            <a:ext cx="3848100" cy="491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下図で考えてみる</a:t>
            </a:r>
            <a:endParaRPr kumimoji="1" lang="ja-JP" altLang="en-US" dirty="0"/>
          </a:p>
        </p:txBody>
      </p:sp>
      <p:sp>
        <p:nvSpPr>
          <p:cNvPr id="29" name="角丸四角形 28"/>
          <p:cNvSpPr/>
          <p:nvPr/>
        </p:nvSpPr>
        <p:spPr>
          <a:xfrm>
            <a:off x="2448607" y="2006280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endParaRPr kumimoji="1" lang="ja-JP" altLang="en-US" dirty="0"/>
          </a:p>
        </p:txBody>
      </p:sp>
      <p:sp>
        <p:nvSpPr>
          <p:cNvPr id="30" name="角丸四角形 29"/>
          <p:cNvSpPr/>
          <p:nvPr/>
        </p:nvSpPr>
        <p:spPr>
          <a:xfrm>
            <a:off x="4751981" y="2011358"/>
            <a:ext cx="1875139" cy="3770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FbxMesh</a:t>
            </a:r>
            <a:endParaRPr kumimoji="1" lang="ja-JP" altLang="en-US" dirty="0"/>
          </a:p>
        </p:txBody>
      </p:sp>
      <p:cxnSp>
        <p:nvCxnSpPr>
          <p:cNvPr id="31" name="曲線コネクタ 13"/>
          <p:cNvCxnSpPr>
            <a:stCxn id="29" idx="3"/>
            <a:endCxn id="30" idx="1"/>
          </p:cNvCxnSpPr>
          <p:nvPr/>
        </p:nvCxnSpPr>
        <p:spPr>
          <a:xfrm>
            <a:off x="4323746" y="2194816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角丸四角形 31"/>
          <p:cNvSpPr/>
          <p:nvPr/>
        </p:nvSpPr>
        <p:spPr>
          <a:xfrm>
            <a:off x="7055355" y="2006280"/>
            <a:ext cx="1875139" cy="377072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FbxSkin</a:t>
            </a:r>
            <a:endParaRPr kumimoji="1" lang="ja-JP" altLang="en-US" dirty="0"/>
          </a:p>
        </p:txBody>
      </p:sp>
      <p:cxnSp>
        <p:nvCxnSpPr>
          <p:cNvPr id="33" name="曲線コネクタ 13"/>
          <p:cNvCxnSpPr>
            <a:stCxn id="30" idx="3"/>
            <a:endCxn id="32" idx="1"/>
          </p:cNvCxnSpPr>
          <p:nvPr/>
        </p:nvCxnSpPr>
        <p:spPr>
          <a:xfrm flipV="1">
            <a:off x="6627120" y="2194816"/>
            <a:ext cx="428235" cy="5078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角丸四角形 33"/>
          <p:cNvSpPr/>
          <p:nvPr/>
        </p:nvSpPr>
        <p:spPr>
          <a:xfrm>
            <a:off x="9564143" y="2006280"/>
            <a:ext cx="2269407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（上腕）</a:t>
            </a:r>
            <a:endParaRPr kumimoji="1" lang="ja-JP" altLang="en-US" dirty="0"/>
          </a:p>
        </p:txBody>
      </p:sp>
      <p:cxnSp>
        <p:nvCxnSpPr>
          <p:cNvPr id="35" name="曲線コネクタ 13"/>
          <p:cNvCxnSpPr>
            <a:stCxn id="32" idx="3"/>
            <a:endCxn id="34" idx="1"/>
          </p:cNvCxnSpPr>
          <p:nvPr/>
        </p:nvCxnSpPr>
        <p:spPr>
          <a:xfrm>
            <a:off x="8930494" y="2194816"/>
            <a:ext cx="633649" cy="12700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角丸四角形 35"/>
          <p:cNvSpPr/>
          <p:nvPr/>
        </p:nvSpPr>
        <p:spPr>
          <a:xfrm>
            <a:off x="9564143" y="2747586"/>
            <a:ext cx="2269407" cy="37707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FbxCluster</a:t>
            </a:r>
            <a:r>
              <a:rPr kumimoji="1" lang="ja-JP" altLang="en-US" dirty="0" smtClean="0"/>
              <a:t>（前腕）</a:t>
            </a:r>
            <a:endParaRPr kumimoji="1" lang="ja-JP" altLang="en-US" dirty="0"/>
          </a:p>
        </p:txBody>
      </p:sp>
      <p:cxnSp>
        <p:nvCxnSpPr>
          <p:cNvPr id="37" name="曲線コネクタ 13"/>
          <p:cNvCxnSpPr>
            <a:stCxn id="32" idx="3"/>
            <a:endCxn id="36" idx="1"/>
          </p:cNvCxnSpPr>
          <p:nvPr/>
        </p:nvCxnSpPr>
        <p:spPr>
          <a:xfrm>
            <a:off x="8930494" y="2194816"/>
            <a:ext cx="633649" cy="741306"/>
          </a:xfrm>
          <a:prstGeom prst="bentConnector3">
            <a:avLst>
              <a:gd name="adj1" fmla="val 50000"/>
            </a:avLst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角丸四角形吹き出し 39"/>
          <p:cNvSpPr/>
          <p:nvPr/>
        </p:nvSpPr>
        <p:spPr>
          <a:xfrm>
            <a:off x="272184" y="4448648"/>
            <a:ext cx="2277290" cy="1307913"/>
          </a:xfrm>
          <a:prstGeom prst="wedgeRoundRectCallout">
            <a:avLst>
              <a:gd name="adj1" fmla="val 28601"/>
              <a:gd name="adj2" fmla="val -77345"/>
              <a:gd name="adj3" fmla="val 1666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頂点データは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メッシュノードを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中心と考えた値が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入っている</a:t>
            </a:r>
            <a:endParaRPr kumimoji="1" lang="ja-JP" altLang="en-US" dirty="0"/>
          </a:p>
        </p:txBody>
      </p:sp>
      <p:sp>
        <p:nvSpPr>
          <p:cNvPr id="41" name="角丸四角形 40"/>
          <p:cNvSpPr/>
          <p:nvPr/>
        </p:nvSpPr>
        <p:spPr>
          <a:xfrm rot="594525">
            <a:off x="2264508" y="3132493"/>
            <a:ext cx="888054" cy="459389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/>
          <p:cNvSpPr/>
          <p:nvPr/>
        </p:nvSpPr>
        <p:spPr>
          <a:xfrm>
            <a:off x="2032822" y="3849818"/>
            <a:ext cx="198783" cy="198783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角丸四角形吹き出し 38"/>
          <p:cNvSpPr/>
          <p:nvPr/>
        </p:nvSpPr>
        <p:spPr>
          <a:xfrm>
            <a:off x="8318810" y="3362187"/>
            <a:ext cx="3062517" cy="556224"/>
          </a:xfrm>
          <a:prstGeom prst="wedgeRoundRectCallout">
            <a:avLst>
              <a:gd name="adj1" fmla="val 58642"/>
              <a:gd name="adj2" fmla="val 42142"/>
              <a:gd name="adj3" fmla="val 16667"/>
            </a:avLst>
          </a:prstGeom>
          <a:noFill/>
          <a:ln w="3810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GetTransformLinkMatrix</a:t>
            </a:r>
            <a:r>
              <a:rPr kumimoji="1" lang="en-US" altLang="ja-JP" dirty="0" smtClean="0"/>
              <a:t>()</a:t>
            </a:r>
            <a:endParaRPr kumimoji="1" lang="ja-JP" altLang="en-US" dirty="0"/>
          </a:p>
        </p:txBody>
      </p:sp>
      <p:sp>
        <p:nvSpPr>
          <p:cNvPr id="42" name="角丸四角形 41"/>
          <p:cNvSpPr/>
          <p:nvPr/>
        </p:nvSpPr>
        <p:spPr>
          <a:xfrm>
            <a:off x="4767088" y="2783807"/>
            <a:ext cx="1875139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r>
              <a:rPr kumimoji="1" lang="ja-JP" altLang="en-US" dirty="0" smtClean="0"/>
              <a:t>（</a:t>
            </a:r>
            <a:r>
              <a:rPr kumimoji="1" lang="ja-JP" altLang="en-US" dirty="0" smtClean="0"/>
              <a:t>肩）</a:t>
            </a:r>
            <a:endParaRPr kumimoji="1" lang="ja-JP" altLang="en-US" dirty="0"/>
          </a:p>
        </p:txBody>
      </p:sp>
      <p:sp>
        <p:nvSpPr>
          <p:cNvPr id="48" name="角丸四角形 47"/>
          <p:cNvSpPr/>
          <p:nvPr/>
        </p:nvSpPr>
        <p:spPr>
          <a:xfrm>
            <a:off x="6146578" y="3472746"/>
            <a:ext cx="2071048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r>
              <a:rPr kumimoji="1" lang="ja-JP" altLang="en-US" dirty="0" smtClean="0"/>
              <a:t>（上腕</a:t>
            </a:r>
            <a:r>
              <a:rPr kumimoji="1" lang="en-US" altLang="ja-JP" dirty="0" smtClean="0"/>
              <a:t>)</a:t>
            </a:r>
          </a:p>
        </p:txBody>
      </p:sp>
      <p:cxnSp>
        <p:nvCxnSpPr>
          <p:cNvPr id="51" name="曲線コネクタ 13"/>
          <p:cNvCxnSpPr>
            <a:stCxn id="42" idx="2"/>
            <a:endCxn id="48" idx="1"/>
          </p:cNvCxnSpPr>
          <p:nvPr/>
        </p:nvCxnSpPr>
        <p:spPr>
          <a:xfrm rot="16200000" flipH="1">
            <a:off x="5675417" y="3190120"/>
            <a:ext cx="500403" cy="441920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角丸四角形 51"/>
          <p:cNvSpPr/>
          <p:nvPr/>
        </p:nvSpPr>
        <p:spPr>
          <a:xfrm>
            <a:off x="6146579" y="4251233"/>
            <a:ext cx="2071047" cy="37707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FbxNode</a:t>
            </a:r>
            <a:r>
              <a:rPr kumimoji="1" lang="ja-JP" altLang="en-US" dirty="0" smtClean="0"/>
              <a:t>（前腕）</a:t>
            </a:r>
            <a:endParaRPr kumimoji="1" lang="en-US" altLang="ja-JP" dirty="0" smtClean="0"/>
          </a:p>
        </p:txBody>
      </p:sp>
      <p:cxnSp>
        <p:nvCxnSpPr>
          <p:cNvPr id="53" name="曲線コネクタ 13"/>
          <p:cNvCxnSpPr>
            <a:stCxn id="42" idx="2"/>
            <a:endCxn id="52" idx="1"/>
          </p:cNvCxnSpPr>
          <p:nvPr/>
        </p:nvCxnSpPr>
        <p:spPr>
          <a:xfrm rot="16200000" flipH="1">
            <a:off x="5286173" y="3579363"/>
            <a:ext cx="1278890" cy="441921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曲線コネクタ 13"/>
          <p:cNvCxnSpPr>
            <a:endCxn id="42" idx="1"/>
          </p:cNvCxnSpPr>
          <p:nvPr/>
        </p:nvCxnSpPr>
        <p:spPr>
          <a:xfrm rot="16200000" flipH="1">
            <a:off x="4236282" y="2441537"/>
            <a:ext cx="774988" cy="286623"/>
          </a:xfrm>
          <a:prstGeom prst="bentConnector2">
            <a:avLst/>
          </a:prstGeom>
          <a:ln w="254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曲線コネクタ 13"/>
          <p:cNvCxnSpPr>
            <a:stCxn id="36" idx="3"/>
            <a:endCxn id="52" idx="3"/>
          </p:cNvCxnSpPr>
          <p:nvPr/>
        </p:nvCxnSpPr>
        <p:spPr>
          <a:xfrm flipH="1">
            <a:off x="8217626" y="2936122"/>
            <a:ext cx="3615924" cy="1503647"/>
          </a:xfrm>
          <a:prstGeom prst="curvedConnector3">
            <a:avLst>
              <a:gd name="adj1" fmla="val -6322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線コネクタ 13"/>
          <p:cNvCxnSpPr>
            <a:stCxn id="36" idx="3"/>
            <a:endCxn id="29" idx="0"/>
          </p:cNvCxnSpPr>
          <p:nvPr/>
        </p:nvCxnSpPr>
        <p:spPr>
          <a:xfrm flipH="1" flipV="1">
            <a:off x="3386177" y="2006280"/>
            <a:ext cx="8447373" cy="929842"/>
          </a:xfrm>
          <a:prstGeom prst="curvedConnector4">
            <a:avLst>
              <a:gd name="adj1" fmla="val -2706"/>
              <a:gd name="adj2" fmla="val 219327"/>
            </a:avLst>
          </a:prstGeom>
          <a:ln w="25400">
            <a:solidFill>
              <a:srgbClr val="F9ADF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角丸四角形吹き出し 68"/>
          <p:cNvSpPr/>
          <p:nvPr/>
        </p:nvSpPr>
        <p:spPr>
          <a:xfrm>
            <a:off x="7627434" y="1185374"/>
            <a:ext cx="2576296" cy="556224"/>
          </a:xfrm>
          <a:prstGeom prst="wedgeRoundRectCallout">
            <a:avLst>
              <a:gd name="adj1" fmla="val 60374"/>
              <a:gd name="adj2" fmla="val -38050"/>
              <a:gd name="adj3" fmla="val 16667"/>
            </a:avLst>
          </a:prstGeom>
          <a:noFill/>
          <a:ln w="38100">
            <a:solidFill>
              <a:srgbClr val="92D05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 smtClean="0"/>
              <a:t>GetTransformMatrix</a:t>
            </a:r>
            <a:r>
              <a:rPr kumimoji="1" lang="en-US" altLang="ja-JP" dirty="0" smtClean="0"/>
              <a:t>()</a:t>
            </a:r>
            <a:endParaRPr kumimoji="1" lang="ja-JP" altLang="en-US" dirty="0"/>
          </a:p>
        </p:txBody>
      </p:sp>
      <p:sp>
        <p:nvSpPr>
          <p:cNvPr id="75" name="円形吹き出し 74"/>
          <p:cNvSpPr/>
          <p:nvPr/>
        </p:nvSpPr>
        <p:spPr>
          <a:xfrm>
            <a:off x="8586608" y="4600232"/>
            <a:ext cx="3534417" cy="1136285"/>
          </a:xfrm>
          <a:prstGeom prst="wedgeEllipseCallout">
            <a:avLst>
              <a:gd name="adj1" fmla="val 955"/>
              <a:gd name="adj2" fmla="val -10020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関連ボーンの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グローバル</a:t>
            </a:r>
            <a:r>
              <a:rPr kumimoji="1" lang="ja-JP" altLang="en-US" dirty="0" smtClean="0"/>
              <a:t>行列を取得</a:t>
            </a:r>
            <a:endParaRPr kumimoji="1" lang="en-US" altLang="ja-JP" dirty="0" smtClean="0"/>
          </a:p>
        </p:txBody>
      </p:sp>
      <p:sp>
        <p:nvSpPr>
          <p:cNvPr id="76" name="円形吹き出し 75"/>
          <p:cNvSpPr/>
          <p:nvPr/>
        </p:nvSpPr>
        <p:spPr>
          <a:xfrm>
            <a:off x="8586609" y="64461"/>
            <a:ext cx="3605392" cy="932377"/>
          </a:xfrm>
          <a:prstGeom prst="wedgeEllipseCallout">
            <a:avLst>
              <a:gd name="adj1" fmla="val -20939"/>
              <a:gd name="adj2" fmla="val 64142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メッシュノードの</a:t>
            </a:r>
            <a:endParaRPr kumimoji="1" lang="en-US" altLang="ja-JP" dirty="0" smtClean="0"/>
          </a:p>
          <a:p>
            <a:pPr algn="ctr"/>
            <a:r>
              <a:rPr kumimoji="1" lang="ja-JP" altLang="en-US" dirty="0"/>
              <a:t>グローバル</a:t>
            </a:r>
            <a:r>
              <a:rPr kumimoji="1" lang="ja-JP" altLang="en-US" dirty="0" smtClean="0"/>
              <a:t>行列を取得</a:t>
            </a:r>
            <a:endParaRPr kumimoji="1" lang="en-US" altLang="ja-JP" dirty="0" smtClean="0"/>
          </a:p>
        </p:txBody>
      </p:sp>
      <p:cxnSp>
        <p:nvCxnSpPr>
          <p:cNvPr id="77" name="曲線コネクタ 13"/>
          <p:cNvCxnSpPr>
            <a:stCxn id="29" idx="2"/>
          </p:cNvCxnSpPr>
          <p:nvPr/>
        </p:nvCxnSpPr>
        <p:spPr>
          <a:xfrm rot="5400000">
            <a:off x="2027784" y="2587173"/>
            <a:ext cx="1562214" cy="1154572"/>
          </a:xfrm>
          <a:prstGeom prst="curvedConnector3">
            <a:avLst>
              <a:gd name="adj1" fmla="val 101393"/>
            </a:avLst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曲線コネクタ 13"/>
          <p:cNvCxnSpPr>
            <a:stCxn id="52" idx="2"/>
          </p:cNvCxnSpPr>
          <p:nvPr/>
        </p:nvCxnSpPr>
        <p:spPr>
          <a:xfrm rot="5400000" flipH="1">
            <a:off x="4497485" y="1943688"/>
            <a:ext cx="1146963" cy="4222273"/>
          </a:xfrm>
          <a:prstGeom prst="curvedConnector4">
            <a:avLst>
              <a:gd name="adj1" fmla="val -19931"/>
              <a:gd name="adj2" fmla="val 96332"/>
            </a:avLst>
          </a:prstGeom>
          <a:ln w="2540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楕円 89"/>
          <p:cNvSpPr/>
          <p:nvPr/>
        </p:nvSpPr>
        <p:spPr>
          <a:xfrm>
            <a:off x="2087609" y="6076580"/>
            <a:ext cx="198783" cy="198783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角丸四角形吹き出し 91"/>
          <p:cNvSpPr/>
          <p:nvPr/>
        </p:nvSpPr>
        <p:spPr>
          <a:xfrm>
            <a:off x="4323747" y="5096812"/>
            <a:ext cx="4153954" cy="1661216"/>
          </a:xfrm>
          <a:prstGeom prst="wedgeRoundRectCallout">
            <a:avLst>
              <a:gd name="adj1" fmla="val -10682"/>
              <a:gd name="adj2" fmla="val -49862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dirty="0" smtClean="0"/>
              <a:t>現状では頂点座標はメッシュ空間。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スキニングは動かしたボーンに頂点が追従して欲しいので頂点座標をボーン空間にしたい。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4258613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やりたい行列変換</a:t>
            </a:r>
            <a:endParaRPr kumimoji="1" lang="ja-JP" altLang="en-US" dirty="0"/>
          </a:p>
        </p:txBody>
      </p:sp>
      <p:sp>
        <p:nvSpPr>
          <p:cNvPr id="4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601" y="1935480"/>
            <a:ext cx="11337560" cy="4343400"/>
          </a:xfrm>
        </p:spPr>
        <p:txBody>
          <a:bodyPr>
            <a:normAutofit/>
          </a:bodyPr>
          <a:lstStyle/>
          <a:p>
            <a:r>
              <a:rPr lang="ja-JP" altLang="en-US" dirty="0" smtClean="0"/>
              <a:t>グローバル座標 </a:t>
            </a:r>
            <a:r>
              <a:rPr lang="en-US" altLang="ja-JP" dirty="0" smtClean="0"/>
              <a:t>= </a:t>
            </a:r>
            <a:r>
              <a:rPr lang="ja-JP" altLang="en-US" dirty="0" smtClean="0"/>
              <a:t>メッシュ空間の頂点座標</a:t>
            </a:r>
            <a:r>
              <a:rPr lang="en-US" altLang="ja-JP" dirty="0" smtClean="0"/>
              <a:t>×</a:t>
            </a:r>
            <a:r>
              <a:rPr lang="ja-JP" altLang="en-US" dirty="0" smtClean="0"/>
              <a:t>メッシュのグローバル行列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 smtClean="0"/>
              <a:t>ボーン空間座標 </a:t>
            </a:r>
            <a:r>
              <a:rPr lang="en-US" altLang="ja-JP" dirty="0" smtClean="0"/>
              <a:t>= </a:t>
            </a:r>
            <a:r>
              <a:rPr lang="ja-JP" altLang="en-US" dirty="0" smtClean="0"/>
              <a:t>グローバル空間の頂点座標</a:t>
            </a:r>
            <a:r>
              <a:rPr lang="en-US" altLang="ja-JP" dirty="0" smtClean="0"/>
              <a:t>×</a:t>
            </a:r>
            <a:r>
              <a:rPr lang="ja-JP" altLang="en-US" dirty="0" smtClean="0"/>
              <a:t>ボーン逆行列</a:t>
            </a:r>
            <a:endParaRPr lang="en-US" altLang="ja-JP" dirty="0"/>
          </a:p>
          <a:p>
            <a:endParaRPr lang="en-US" altLang="ja-JP" dirty="0" smtClean="0"/>
          </a:p>
          <a:p>
            <a:endParaRPr lang="en-US" altLang="ja-JP" dirty="0" smtClean="0"/>
          </a:p>
        </p:txBody>
      </p:sp>
      <p:pic>
        <p:nvPicPr>
          <p:cNvPr id="44" name="Picture 2" descr="ãã¹ã­ãã³ã°ãã®ç»åæ¤ç´¢çµ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44" y="3430037"/>
            <a:ext cx="2605636" cy="3327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楕円 44"/>
          <p:cNvSpPr/>
          <p:nvPr/>
        </p:nvSpPr>
        <p:spPr>
          <a:xfrm>
            <a:off x="2010520" y="4743276"/>
            <a:ext cx="152817" cy="152817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/>
          <p:cNvSpPr/>
          <p:nvPr/>
        </p:nvSpPr>
        <p:spPr>
          <a:xfrm>
            <a:off x="2051600" y="6271176"/>
            <a:ext cx="152817" cy="152817"/>
          </a:xfrm>
          <a:prstGeom prst="ellipse">
            <a:avLst/>
          </a:prstGeom>
          <a:solidFill>
            <a:srgbClr val="00B05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/>
          <p:cNvSpPr/>
          <p:nvPr/>
        </p:nvSpPr>
        <p:spPr>
          <a:xfrm>
            <a:off x="2438592" y="4378586"/>
            <a:ext cx="152817" cy="152817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角丸四角形吹き出し 55"/>
          <p:cNvSpPr/>
          <p:nvPr/>
        </p:nvSpPr>
        <p:spPr>
          <a:xfrm>
            <a:off x="3713323" y="5830840"/>
            <a:ext cx="3739392" cy="896080"/>
          </a:xfrm>
          <a:prstGeom prst="wedgeRoundRectCallout">
            <a:avLst>
              <a:gd name="adj1" fmla="val -82572"/>
              <a:gd name="adj2" fmla="val 4334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原点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こいつを基準とした空間が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グローバル空間</a:t>
            </a:r>
            <a:endParaRPr kumimoji="1" lang="ja-JP" altLang="en-US" dirty="0"/>
          </a:p>
        </p:txBody>
      </p:sp>
      <p:sp>
        <p:nvSpPr>
          <p:cNvPr id="57" name="角丸四角形吹き出し 56"/>
          <p:cNvSpPr/>
          <p:nvPr/>
        </p:nvSpPr>
        <p:spPr>
          <a:xfrm>
            <a:off x="3713323" y="4743276"/>
            <a:ext cx="3739392" cy="896080"/>
          </a:xfrm>
          <a:prstGeom prst="wedgeRoundRectCallout">
            <a:avLst>
              <a:gd name="adj1" fmla="val -91817"/>
              <a:gd name="adj2" fmla="val -41710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メッシュの基準位置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こいつを基準とした空間が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/>
              <a:t>メッシュ</a:t>
            </a:r>
            <a:r>
              <a:rPr kumimoji="1" lang="ja-JP" altLang="en-US" dirty="0" smtClean="0"/>
              <a:t>空間</a:t>
            </a:r>
            <a:endParaRPr kumimoji="1" lang="ja-JP" altLang="en-US" dirty="0"/>
          </a:p>
        </p:txBody>
      </p:sp>
      <p:sp>
        <p:nvSpPr>
          <p:cNvPr id="59" name="角丸四角形吹き出し 58"/>
          <p:cNvSpPr/>
          <p:nvPr/>
        </p:nvSpPr>
        <p:spPr>
          <a:xfrm>
            <a:off x="3713323" y="3635323"/>
            <a:ext cx="3739392" cy="896080"/>
          </a:xfrm>
          <a:prstGeom prst="wedgeRoundRectCallout">
            <a:avLst>
              <a:gd name="adj1" fmla="val -76310"/>
              <a:gd name="adj2" fmla="val 36690"/>
              <a:gd name="adj3" fmla="val 16667"/>
            </a:avLst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ボーンの基準位置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こいつを基準とした空間が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ボーン</a:t>
            </a:r>
            <a:r>
              <a:rPr kumimoji="1" lang="ja-JP" altLang="en-US" dirty="0" smtClean="0"/>
              <a:t>空間</a:t>
            </a:r>
            <a:endParaRPr kumimoji="1" lang="ja-JP" altLang="en-US" dirty="0"/>
          </a:p>
        </p:txBody>
      </p:sp>
      <p:sp>
        <p:nvSpPr>
          <p:cNvPr id="60" name="円形吹き出し 59"/>
          <p:cNvSpPr/>
          <p:nvPr/>
        </p:nvSpPr>
        <p:spPr>
          <a:xfrm>
            <a:off x="7577237" y="3539038"/>
            <a:ext cx="4494446" cy="1357055"/>
          </a:xfrm>
          <a:prstGeom prst="wedgeEllipseCallout">
            <a:avLst>
              <a:gd name="adj1" fmla="val -44946"/>
              <a:gd name="adj2" fmla="val -50088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ボーン空間座標にすることで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ボーンを動かすことで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スキニングができる</a:t>
            </a:r>
            <a:endParaRPr kumimoji="1" lang="en-US" altLang="ja-JP" dirty="0" smtClean="0"/>
          </a:p>
        </p:txBody>
      </p:sp>
      <p:sp>
        <p:nvSpPr>
          <p:cNvPr id="61" name="円形吹き出し 60"/>
          <p:cNvSpPr/>
          <p:nvPr/>
        </p:nvSpPr>
        <p:spPr>
          <a:xfrm>
            <a:off x="7514976" y="5100031"/>
            <a:ext cx="4494446" cy="1357055"/>
          </a:xfrm>
          <a:prstGeom prst="wedgeEllipseCallout">
            <a:avLst>
              <a:gd name="adj1" fmla="val -39736"/>
              <a:gd name="adj2" fmla="val -59127"/>
            </a:avLst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 smtClean="0"/>
              <a:t>やっていることは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メッシュ空間の頂点座標を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ボーン空間の頂点座標に</a:t>
            </a:r>
            <a:endParaRPr kumimoji="1" lang="en-US" altLang="ja-JP" dirty="0" smtClean="0"/>
          </a:p>
          <a:p>
            <a:pPr algn="ctr"/>
            <a:r>
              <a:rPr kumimoji="1" lang="ja-JP" altLang="en-US" dirty="0" smtClean="0"/>
              <a:t>変換している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51738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57" grpId="0" animBg="1"/>
      <p:bldP spid="5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オフセット行列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09599" y="1935480"/>
            <a:ext cx="11337561" cy="4343400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dirty="0" smtClean="0"/>
              <a:t>メッシュ</a:t>
            </a:r>
            <a:r>
              <a:rPr lang="ja-JP" altLang="en-US" dirty="0"/>
              <a:t>空間からボーン空間への</a:t>
            </a:r>
            <a:r>
              <a:rPr lang="ja-JP" altLang="en-US" dirty="0" smtClean="0"/>
              <a:t>変換する行列をオフセット行列と呼ぶ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// </a:t>
            </a:r>
            <a:r>
              <a:rPr lang="ja-JP" altLang="en-US" dirty="0" smtClean="0"/>
              <a:t>メッシュの初期グローバル行列を取得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err="1" smtClean="0"/>
              <a:t>FbxAMatrix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reference_global_init_position</a:t>
            </a:r>
            <a:r>
              <a:rPr lang="en-US" altLang="ja-JP" dirty="0" smtClean="0"/>
              <a:t>;</a:t>
            </a:r>
            <a:br>
              <a:rPr lang="en-US" altLang="ja-JP" dirty="0" smtClean="0"/>
            </a:br>
            <a:r>
              <a:rPr lang="en-US" altLang="ja-JP" dirty="0" smtClean="0"/>
              <a:t>cluster-&gt;</a:t>
            </a:r>
            <a:r>
              <a:rPr lang="en-US" altLang="ja-JP" dirty="0" err="1" smtClean="0"/>
              <a:t>GetTransformMatrix</a:t>
            </a:r>
            <a:r>
              <a:rPr lang="en-US" altLang="ja-JP" dirty="0" smtClean="0"/>
              <a:t>(</a:t>
            </a:r>
            <a:r>
              <a:rPr lang="en-US" altLang="ja-JP" dirty="0" err="1" smtClean="0"/>
              <a:t>reference_global_init_position</a:t>
            </a:r>
            <a:r>
              <a:rPr lang="en-US" altLang="ja-JP" dirty="0" smtClean="0"/>
              <a:t>);</a:t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// </a:t>
            </a:r>
            <a:r>
              <a:rPr lang="ja-JP" altLang="en-US" dirty="0" smtClean="0"/>
              <a:t>ボーンの初期グローバル行列を取得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err="1" smtClean="0"/>
              <a:t>FbxAMatrix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cluster_global_init_position</a:t>
            </a:r>
            <a:r>
              <a:rPr lang="en-US" altLang="ja-JP" dirty="0" smtClean="0"/>
              <a:t>;</a:t>
            </a:r>
            <a:br>
              <a:rPr lang="en-US" altLang="ja-JP" dirty="0" smtClean="0"/>
            </a:br>
            <a:r>
              <a:rPr lang="en-US" altLang="ja-JP" dirty="0" smtClean="0"/>
              <a:t>cluster-&gt;</a:t>
            </a:r>
            <a:r>
              <a:rPr lang="en-US" altLang="ja-JP" dirty="0" err="1" smtClean="0"/>
              <a:t>GetTransformLinkMatrix</a:t>
            </a:r>
            <a:r>
              <a:rPr lang="en-US" altLang="ja-JP" dirty="0" smtClean="0"/>
              <a:t>(</a:t>
            </a:r>
            <a:r>
              <a:rPr lang="en-US" altLang="ja-JP" dirty="0" err="1" smtClean="0"/>
              <a:t>cluster_global_init_position</a:t>
            </a:r>
            <a:r>
              <a:rPr lang="en-US" altLang="ja-JP" dirty="0" smtClean="0"/>
              <a:t>);</a:t>
            </a:r>
            <a:br>
              <a:rPr lang="en-US" altLang="ja-JP" dirty="0" smtClean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// </a:t>
            </a:r>
            <a:r>
              <a:rPr lang="ja-JP" altLang="en-US" dirty="0" smtClean="0"/>
              <a:t>メッシュ空間の頂点座標をグローバル空間の頂点座標にする行列と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// </a:t>
            </a:r>
            <a:r>
              <a:rPr lang="ja-JP" altLang="en-US" dirty="0" smtClean="0"/>
              <a:t>グローバル空間の頂点座標をボーン空間の頂点座標にする行列を掛け算することで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smtClean="0"/>
              <a:t>// </a:t>
            </a:r>
            <a:r>
              <a:rPr lang="ja-JP" altLang="en-US" dirty="0" smtClean="0"/>
              <a:t>メッシュ空間からボーン空間へ変換するオフセット行列を作成する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err="1" smtClean="0"/>
              <a:t>FbxAMattix</a:t>
            </a:r>
            <a:r>
              <a:rPr lang="en-US" altLang="ja-JP" dirty="0" smtClean="0"/>
              <a:t> </a:t>
            </a:r>
            <a:r>
              <a:rPr lang="en-US" altLang="ja-JP" dirty="0" err="1" smtClean="0"/>
              <a:t>offset_transform</a:t>
            </a:r>
            <a:r>
              <a:rPr lang="en-US" altLang="ja-JP" dirty="0" smtClean="0"/>
              <a:t> =</a:t>
            </a:r>
            <a:br>
              <a:rPr lang="en-US" altLang="ja-JP" dirty="0" smtClean="0"/>
            </a:br>
            <a:r>
              <a:rPr lang="en-US" altLang="ja-JP" dirty="0" smtClean="0"/>
              <a:t> </a:t>
            </a:r>
            <a:r>
              <a:rPr lang="en-US" altLang="ja-JP" dirty="0" err="1" smtClean="0"/>
              <a:t>cluster_global_init_position.Inverse</a:t>
            </a:r>
            <a:r>
              <a:rPr lang="en-US" altLang="ja-JP" dirty="0" smtClean="0"/>
              <a:t>() * </a:t>
            </a:r>
            <a:r>
              <a:rPr lang="en-US" altLang="ja-JP" dirty="0" err="1" smtClean="0"/>
              <a:t>reference_global_init_position</a:t>
            </a:r>
            <a:r>
              <a:rPr lang="en-US" altLang="ja-JP" dirty="0" smtClean="0"/>
              <a:t>;</a:t>
            </a:r>
            <a:br>
              <a:rPr lang="en-US" altLang="ja-JP" dirty="0" smtClean="0"/>
            </a:br>
            <a:endParaRPr lang="en-US" altLang="ja-JP" dirty="0"/>
          </a:p>
          <a:p>
            <a:r>
              <a:rPr lang="ja-JP" altLang="en-US" dirty="0" smtClean="0"/>
              <a:t>スキニング後の頂点座標 </a:t>
            </a:r>
            <a:r>
              <a:rPr lang="en-US" altLang="ja-JP" dirty="0" smtClean="0"/>
              <a:t>= </a:t>
            </a:r>
            <a:r>
              <a:rPr lang="ja-JP" altLang="en-US" dirty="0" smtClean="0"/>
              <a:t>メッシュ空間の頂点座標 </a:t>
            </a:r>
            <a:r>
              <a:rPr lang="en-US" altLang="ja-JP" dirty="0" smtClean="0"/>
              <a:t>* </a:t>
            </a:r>
            <a:r>
              <a:rPr lang="ja-JP" altLang="en-US" dirty="0"/>
              <a:t>オフセット</a:t>
            </a:r>
            <a:r>
              <a:rPr lang="ja-JP" altLang="en-US" dirty="0" smtClean="0"/>
              <a:t>行列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67576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実習</a:t>
            </a:r>
            <a:r>
              <a:rPr lang="ja-JP" altLang="en-US" dirty="0"/>
              <a:t>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FbxMesh</a:t>
            </a:r>
            <a:r>
              <a:rPr kumimoji="1" lang="ja-JP" altLang="en-US" dirty="0" smtClean="0"/>
              <a:t>からボーン行列を取り出す。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ボーン行列を取り出す際、スキニングがうまくいくように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行列空間の差異を解消する変換行列を計算する。</a:t>
            </a:r>
            <a:endParaRPr kumimoji="1" lang="en-US" altLang="ja-JP" dirty="0" smtClean="0"/>
          </a:p>
          <a:p>
            <a:endParaRPr lang="en-US" altLang="ja-JP" dirty="0"/>
          </a:p>
          <a:p>
            <a:r>
              <a:rPr kumimoji="1" lang="ja-JP" altLang="en-US" dirty="0" smtClean="0"/>
              <a:t>取り出したボーン行列を定数バッファに格納し、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意図した姿勢で描画できているか確認する。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2436507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ブレーンストーミングのプレゼンテーション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870482_TF03460637.potx" id="{8F3B156D-932A-4C4F-B19B-13DA9C7AB513}" vid="{CAF0C7A8-6467-402F-B5CC-E460ADA54AEF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ビジネス ブレーンストーミング プレゼンテーション</Template>
  <TotalTime>2712</TotalTime>
  <Words>476</Words>
  <Application>Microsoft Office PowerPoint</Application>
  <PresentationFormat>ワイド画面</PresentationFormat>
  <Paragraphs>222</Paragraphs>
  <Slides>18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4" baseType="lpstr">
      <vt:lpstr>Meiryo UI</vt:lpstr>
      <vt:lpstr>ＭＳ ゴシック</vt:lpstr>
      <vt:lpstr>ＭＳ 明朝</vt:lpstr>
      <vt:lpstr>Palatino Linotype</vt:lpstr>
      <vt:lpstr>Wingdings 2</vt:lpstr>
      <vt:lpstr>ブレーンストーミングのプレゼンテーション</vt:lpstr>
      <vt:lpstr>描画エンジン開発Ⅲ・Ⅳ</vt:lpstr>
      <vt:lpstr>授業内容</vt:lpstr>
      <vt:lpstr>実行結果</vt:lpstr>
      <vt:lpstr>やりたいこと</vt:lpstr>
      <vt:lpstr>FBXの全体的な構造</vt:lpstr>
      <vt:lpstr>FBXの全体的な構造</vt:lpstr>
      <vt:lpstr>課題でのskinned_meshの構造</vt:lpstr>
      <vt:lpstr>課題でのskinned_meshの構造</vt:lpstr>
      <vt:lpstr>キャラクターモデルのメッシュ</vt:lpstr>
      <vt:lpstr>スキニングに必要なFBXの構成図</vt:lpstr>
      <vt:lpstr>一般的なモデルのノードツリー</vt:lpstr>
      <vt:lpstr>ボーンを回転させた時のメッシュの変形</vt:lpstr>
      <vt:lpstr>回転の手順</vt:lpstr>
      <vt:lpstr>様々な変換行列の空間</vt:lpstr>
      <vt:lpstr>下図で考えてみる</vt:lpstr>
      <vt:lpstr>やりたい行列変換</vt:lpstr>
      <vt:lpstr>オフセット行列</vt:lpstr>
      <vt:lpstr>実習内容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描画エンジン制作Ⅰ</dc:title>
  <dc:creator>吉野 広二</dc:creator>
  <cp:lastModifiedBy>吉野 広二</cp:lastModifiedBy>
  <cp:revision>152</cp:revision>
  <dcterms:created xsi:type="dcterms:W3CDTF">2019-03-17T05:51:21Z</dcterms:created>
  <dcterms:modified xsi:type="dcterms:W3CDTF">2021-11-02T07:53:42Z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74069100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