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handoutMasterIdLst>
    <p:handoutMasterId r:id="rId17"/>
  </p:handoutMasterIdLst>
  <p:sldIdLst>
    <p:sldId id="272" r:id="rId2"/>
    <p:sldId id="273" r:id="rId3"/>
    <p:sldId id="286" r:id="rId4"/>
    <p:sldId id="287" r:id="rId5"/>
    <p:sldId id="288" r:id="rId6"/>
    <p:sldId id="289" r:id="rId7"/>
    <p:sldId id="292" r:id="rId8"/>
    <p:sldId id="291" r:id="rId9"/>
    <p:sldId id="277" r:id="rId10"/>
    <p:sldId id="278" r:id="rId11"/>
    <p:sldId id="279" r:id="rId12"/>
    <p:sldId id="282" r:id="rId13"/>
    <p:sldId id="293" r:id="rId14"/>
    <p:sldId id="274" r:id="rId15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8" autoAdjust="0"/>
    <p:restoredTop sz="75270" autoAdjust="0"/>
  </p:normalViewPr>
  <p:slideViewPr>
    <p:cSldViewPr snapToGrid="0">
      <p:cViewPr varScale="1">
        <p:scale>
          <a:sx n="76" d="100"/>
          <a:sy n="76" d="100"/>
        </p:scale>
        <p:origin x="126" y="6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14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DA88A-700E-4959-AD05-3C421866BDC6}" type="datetime4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2026年7月7日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9A4F4-89FA-4551-A9F4-ECDBD52C06D6}" type="slidenum">
              <a:rPr kumimoji="1"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4810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ECA54F6-A409-4052-BA8C-D33E3AF8AD29}" type="datetime4">
              <a:rPr lang="ja-JP" altLang="en-US" smtClean="0"/>
              <a:pPr/>
              <a:t>2026年7月7日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93B0CF2-7F87-4E02-A248-870047730F99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635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5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46600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長方形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cxnSp>
          <p:nvCxnSpPr>
            <p:cNvPr id="7" name="直線​​コネクタ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直線​​コネクタ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タイトル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17" name="サブタイトル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ja-JP" altLang="en-US" noProof="0"/>
              <a:t>マスター サブタイトルの書式設定</a:t>
            </a:r>
            <a:endParaRPr kumimoji="0" lang="ja-JP" altLang="en-US" noProof="0" dirty="0"/>
          </a:p>
        </p:txBody>
      </p:sp>
      <p:sp>
        <p:nvSpPr>
          <p:cNvPr id="30" name="日付プレースホルダー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D9F5B4-D2B9-4671-9B63-0110E6386A4E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19" name="フッター プレースホルダー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27" name="スライド番号プレースホルダー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kumimoji="0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0C11D6-D226-45B1-8AA5-91C501F3B0E7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400AA1-06A4-444F-94EA-80BA16484187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kumimoji="0" lang="ja-JP" altLang="en-US" noProof="0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38B790-6ACD-441F-B06D-4917F8B429D2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ja-JP" altLang="en-US"/>
              <a:t>マスター タイトルの書式設定</a:t>
            </a:r>
            <a:endParaRPr kumimoji="0"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/>
              <a:t>マスター テキストの書式設定</a:t>
            </a:r>
          </a:p>
          <a:p>
            <a:pPr lvl="1" rtl="0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rtl="0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rtl="0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rtl="0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/>
              <a:t>マスター テキストの書式設定</a:t>
            </a:r>
          </a:p>
          <a:p>
            <a:pPr lvl="1" rtl="0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rtl="0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rtl="0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rtl="0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296CEC-F0EC-4499-B406-555829E93D38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" dirty="0"/>
              <a:t>フッターを追加</a:t>
            </a:r>
            <a:endParaRPr 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C8EE4A-0564-4F19-AF56-1B86A81857A1}" type="datetime4">
              <a:rPr lang="ja-JP" altLang="en-US" smtClean="0"/>
              <a:t>2026年7月7日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D0A0B1-5389-4168-8C71-456999E01C6A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FAF4E1-8E5B-454D-966C-37225B9702A6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キャプション付きの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つの角を切り取って丸めた四角形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図プレースホルダー 2" descr="画像を追加する空のプレースホルダー。プレースホルダーをクリックし、追加する画像を選択します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ja-JP" altLang="en-US" noProof="0"/>
              <a:t>図を追加</a:t>
            </a:r>
            <a:endParaRPr kumimoji="0"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A228A8-1DDA-4C9E-B7BB-B3D4A4576159}" type="datetime4">
              <a:rPr lang="ja-JP" altLang="en-US" smtClean="0"/>
              <a:t>2026年7月7日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  <p:sp>
        <p:nvSpPr>
          <p:cNvPr id="10" name="フリーフォーム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フリーフォーム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2 </a:t>
            </a:r>
            <a:r>
              <a:rPr kumimoji="1" lang="ja-JP" altLang="en-US" noProof="0" dirty="0"/>
              <a:t>レベル</a:t>
            </a:r>
          </a:p>
          <a:p>
            <a:pPr lvl="2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3 </a:t>
            </a:r>
            <a:r>
              <a:rPr kumimoji="1" lang="ja-JP" altLang="en-US" noProof="0" dirty="0"/>
              <a:t>レベル</a:t>
            </a:r>
          </a:p>
          <a:p>
            <a:pPr lvl="3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4 </a:t>
            </a:r>
            <a:r>
              <a:rPr kumimoji="1" lang="ja-JP" altLang="en-US" noProof="0" dirty="0"/>
              <a:t>レベル</a:t>
            </a:r>
          </a:p>
          <a:p>
            <a:pPr lvl="4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5 </a:t>
            </a:r>
            <a:r>
              <a:rPr kumimoji="1" lang="ja-JP" altLang="en-US" noProof="0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89D195-22A8-4E03-A4C1-FF558F7B427F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2 </a:t>
            </a:r>
            <a:r>
              <a:rPr kumimoji="1" lang="ja-JP" altLang="en-US" noProof="0" dirty="0"/>
              <a:t>レベル</a:t>
            </a:r>
          </a:p>
          <a:p>
            <a:pPr lvl="2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3 </a:t>
            </a:r>
            <a:r>
              <a:rPr kumimoji="1" lang="ja-JP" altLang="en-US" noProof="0" dirty="0"/>
              <a:t>レベル</a:t>
            </a:r>
          </a:p>
          <a:p>
            <a:pPr lvl="3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4 </a:t>
            </a:r>
            <a:r>
              <a:rPr kumimoji="1" lang="ja-JP" altLang="en-US" noProof="0" dirty="0"/>
              <a:t>レベル</a:t>
            </a:r>
          </a:p>
          <a:p>
            <a:pPr lvl="4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5 </a:t>
            </a:r>
            <a:r>
              <a:rPr kumimoji="1" lang="ja-JP" altLang="en-US" noProof="0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9B777F-2BA6-42C0-83EF-2CC97DD0D6E7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長方形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grpSp>
          <p:nvGrpSpPr>
            <p:cNvPr id="27" name="グループ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フリーフォーム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フリーフォーム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グループ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フリーフォーム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  <p:sp>
              <p:nvSpPr>
                <p:cNvPr id="33" name="フリーフォーム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</p:grpSp>
        </p:grpSp>
      </p:grpSp>
      <p:sp>
        <p:nvSpPr>
          <p:cNvPr id="9" name="タイトル プレースホルダー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ja-JP" altLang="en-US" noProof="0" dirty="0"/>
              <a:t>クリックしてマスター タイトルのスタイルを編集</a:t>
            </a:r>
            <a:endParaRPr kumimoji="0" lang="ja-JP" altLang="en-US" noProof="0" dirty="0"/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43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 rtl="0" eaLnBrk="1" latinLnBrk="0" hangingPunct="1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 eaLnBrk="1" latinLnBrk="0" hangingPunct="1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 eaLnBrk="1" latinLnBrk="0" hangingPunct="1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 eaLnBrk="1" latinLnBrk="0" hangingPunct="1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0" name="日付プレースホルダー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196E8732-2B4B-4F0A-8362-53F7A7DF2931}" type="datetime4">
              <a:rPr lang="ja-JP" altLang="en-US" smtClean="0"/>
              <a:t>2026年7月7日</a:t>
            </a:fld>
            <a:endParaRPr lang="en-US" dirty="0"/>
          </a:p>
        </p:txBody>
      </p:sp>
      <p:sp>
        <p:nvSpPr>
          <p:cNvPr id="22" name="フッター プレースホルダー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r>
              <a:rPr lang="ja-JP" altLang="en-US" noProof="0" dirty="0"/>
              <a:t>フッターを追加</a:t>
            </a:r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401CF334-2D5C-4859-84A6-CA7E6E43FAEB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lnSpc>
          <a:spcPct val="80000"/>
        </a:lnSpc>
        <a:spcBef>
          <a:spcPct val="0"/>
        </a:spcBef>
        <a:buNone/>
        <a:defRPr kumimoji="1" sz="5000" b="0" kern="1200">
          <a:ln>
            <a:noFill/>
          </a:ln>
          <a:solidFill>
            <a:schemeClr val="tx2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1" sz="26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1" sz="24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1" sz="21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ja-JP" altLang="en-US" dirty="0"/>
              <a:t>描画エンジン開発</a:t>
            </a:r>
            <a:r>
              <a:rPr lang="en-US" altLang="ja-JP" dirty="0"/>
              <a:t>Ⅰ</a:t>
            </a:r>
            <a:r>
              <a:rPr lang="ja-JP" altLang="en-US" dirty="0"/>
              <a:t>・</a:t>
            </a:r>
            <a:r>
              <a:rPr lang="en-US" altLang="ja-JP" dirty="0"/>
              <a:t>Ⅱ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サブタイトル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ja-JP"/>
              <a:t>UNIT16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/>
              <a:t>授業内容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ja-JP" altLang="en-US" dirty="0"/>
              <a:t>フォンシェーディング</a:t>
            </a:r>
            <a:endParaRPr lang="en-US" altLang="ja-JP" dirty="0"/>
          </a:p>
          <a:p>
            <a:pPr rtl="0"/>
            <a:endParaRPr lang="en-US" altLang="ja-JP" dirty="0"/>
          </a:p>
          <a:p>
            <a:pPr rtl="0"/>
            <a:r>
              <a:rPr lang="ja-JP" altLang="en-US" dirty="0"/>
              <a:t>バンプマッピング</a:t>
            </a:r>
            <a:endParaRPr lang="en-US" altLang="ja-JP" dirty="0"/>
          </a:p>
          <a:p>
            <a:pPr rtl="0"/>
            <a:endParaRPr lang="en-US" altLang="ja-JP" dirty="0"/>
          </a:p>
          <a:p>
            <a:pPr rtl="0"/>
            <a:r>
              <a:rPr lang="ja-JP" altLang="en-US" dirty="0"/>
              <a:t>ダミーテクスチャ</a:t>
            </a:r>
            <a:endParaRPr lang="en-US" altLang="ja-JP" dirty="0"/>
          </a:p>
          <a:p>
            <a:pPr rtl="0"/>
            <a:endParaRPr lang="en-US" altLang="ja-JP" dirty="0"/>
          </a:p>
          <a:p>
            <a:pPr rtl="0"/>
            <a:r>
              <a:rPr lang="ja-JP" altLang="en-US" dirty="0"/>
              <a:t>バウンディングボックス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実行結果（フォンシェーディング）</a:t>
            </a:r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7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実行結果（バンプマップ）</a:t>
            </a:r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6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実行結果（バウンディングボックス）</a:t>
            </a:r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4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実行結果（すべてのメッシュに対応）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1" y="2110269"/>
            <a:ext cx="2166850" cy="1929988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52544"/>
            <a:ext cx="2497906" cy="1967162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761" y="2160476"/>
            <a:ext cx="2191636" cy="2115405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4644" y="4429196"/>
            <a:ext cx="2536131" cy="1998164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673" y="2507242"/>
            <a:ext cx="2855474" cy="3843908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5489" y="2110269"/>
            <a:ext cx="2626620" cy="214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9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フォンシェーディング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通常の陰影計算に加えて光反射の表現をする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01" y="3557847"/>
            <a:ext cx="9007183" cy="2809425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6968834" y="3612648"/>
            <a:ext cx="2988249" cy="27521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73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バンプマッピング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凹凸を表現する</a:t>
            </a:r>
          </a:p>
        </p:txBody>
      </p:sp>
      <p:pic>
        <p:nvPicPr>
          <p:cNvPr id="2050" name="Picture 2" descr="fig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05" y="2954151"/>
            <a:ext cx="4619915" cy="346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www.4gamer.net/specials/3de/hl2/img/02/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925" y="1582722"/>
            <a:ext cx="6448486" cy="4836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6666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法線ベクトル</a:t>
            </a:r>
            <a:r>
              <a:rPr lang="en-US" altLang="ja-JP" dirty="0"/>
              <a:t>(Normal)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頂点の向き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ライティングの計算などに用いる。</a:t>
            </a:r>
          </a:p>
        </p:txBody>
      </p:sp>
      <p:pic>
        <p:nvPicPr>
          <p:cNvPr id="4" name="Picture 4" descr="http://www.opengl-tutorial.org/assets/images/tuto-13-normal-mapping/NormalVecto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707129"/>
            <a:ext cx="4572000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156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接線ベクトル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「とある点（ピクセル）に接している」ベクトル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法線マップによるライティングなどに用いる。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法線ベクトルとテクスチャ座標で求めれる。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だいたい</a:t>
            </a:r>
            <a:r>
              <a:rPr lang="en-US" altLang="ja-JP" dirty="0"/>
              <a:t>DCC</a:t>
            </a:r>
            <a:r>
              <a:rPr lang="ja-JP" altLang="en-US" dirty="0"/>
              <a:t>ツールで出力時にあるので</a:t>
            </a:r>
            <a:br>
              <a:rPr lang="en-US" altLang="ja-JP" dirty="0"/>
            </a:br>
            <a:r>
              <a:rPr lang="ja-JP" altLang="en-US" dirty="0"/>
              <a:t>わざわざ上記の方法で求める場合は少ない。</a:t>
            </a:r>
            <a:endParaRPr kumimoji="1" lang="en-US" altLang="ja-JP" dirty="0"/>
          </a:p>
        </p:txBody>
      </p:sp>
      <p:pic>
        <p:nvPicPr>
          <p:cNvPr id="4" name="Picture 8" descr="http://www.opengl-tutorial.org/assets/images/tuto-13-normal-mapping/TangentVectorFromUV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707129"/>
            <a:ext cx="4572000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249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通常の描画</a:t>
            </a:r>
          </a:p>
        </p:txBody>
      </p:sp>
      <p:pic>
        <p:nvPicPr>
          <p:cNvPr id="2050" name="Picture 2" descr="ãã³ããããã¨ãã§ã¯ãã®ãªãç³å¡ãç³ã®ç¸ãé¢ã¯ãã·ã¼ã³åã®å¤ªé½ã® Directional ã©ã¤ãï¼æ¥åï¼ãåãã¦ãã¾ããã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07754"/>
            <a:ext cx="11035763" cy="3608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319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法線マップによる描画</a:t>
            </a:r>
          </a:p>
        </p:txBody>
      </p:sp>
      <p:pic>
        <p:nvPicPr>
          <p:cNvPr id="4" name="Picture 4" descr="åãç³å¡ã«ãã³ããããã³ã°ãé©ç¨ãããã®ãæ¥åï¼Directional ã©ã¤ãï¼ã«ããç³ã®ç§ãããæ¹ããå¤ªé½ã«é¢ããé¨åã¨é¢ãã¦ãªãé¨åã§ã¾ã£ããç°ãªã£ã¦ãã¾ãã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2907753"/>
            <a:ext cx="10964971" cy="3585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 ãããã®ç³ã®æ³ç·ãããã«ããæããã·ã¢ã³ã®é åã¯ãããããã®ç³ã®ãè§é¨åã®ããªã´ã³ã®é¢æ³ç·ãæ¥è§åº¦ã«å¤æ´ãããããåã¯ä¿®æ­£ãããè§åº¦ã«å½ããã¾ã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350" y="1404354"/>
            <a:ext cx="497205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77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バウンディングボックス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オブジェクトの最大寸法または</a:t>
            </a:r>
            <a:r>
              <a:rPr lang="ja-JP" altLang="en-US" u="sng" dirty="0"/>
              <a:t>範囲</a:t>
            </a:r>
            <a:r>
              <a:rPr lang="ja-JP" altLang="en-US" dirty="0"/>
              <a:t>を囲む最小のボックス</a:t>
            </a:r>
            <a:endParaRPr kumimoji="1" lang="ja-JP" altLang="en-US" dirty="0"/>
          </a:p>
        </p:txBody>
      </p:sp>
      <p:pic>
        <p:nvPicPr>
          <p:cNvPr id="5122" name="Picture 2" descr="http://docs.autodesk.com/3DSMAX/15/JPN/3ds-Max-Help/images/GUID-C0F48977-56E5-4CCF-95A0-99C94F68C6FD-lo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531" y="2865984"/>
            <a:ext cx="4838700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22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重複する頂点データの削除</a:t>
            </a:r>
          </a:p>
        </p:txBody>
      </p:sp>
      <p:pic>
        <p:nvPicPr>
          <p:cNvPr id="4" name="Picture 12" descr="illustration of a square that consists of two triang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633" y="3658027"/>
            <a:ext cx="2346691" cy="2296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正方形/長方形 5"/>
          <p:cNvSpPr/>
          <p:nvPr/>
        </p:nvSpPr>
        <p:spPr>
          <a:xfrm>
            <a:off x="4080668" y="3154321"/>
            <a:ext cx="1278410" cy="533796"/>
          </a:xfrm>
          <a:prstGeom prst="rect">
            <a:avLst/>
          </a:prstGeom>
          <a:solidFill>
            <a:srgbClr val="00B0F0"/>
          </a:solidFill>
          <a:ln w="57150">
            <a:solidFill>
              <a:srgbClr val="0070C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[0]</a:t>
            </a:r>
            <a:r>
              <a:rPr kumimoji="1" lang="ja-JP" altLang="en-US" sz="2000" dirty="0"/>
              <a:t>左上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4080668" y="3688117"/>
            <a:ext cx="1278410" cy="533796"/>
          </a:xfrm>
          <a:prstGeom prst="rect">
            <a:avLst/>
          </a:prstGeom>
          <a:solidFill>
            <a:srgbClr val="00B0F0"/>
          </a:solidFill>
          <a:ln w="57150">
            <a:solidFill>
              <a:srgbClr val="0070C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[1]</a:t>
            </a:r>
            <a:r>
              <a:rPr kumimoji="1" lang="ja-JP" altLang="en-US" sz="2000" dirty="0"/>
              <a:t>右上</a:t>
            </a:r>
          </a:p>
        </p:txBody>
      </p:sp>
      <p:sp>
        <p:nvSpPr>
          <p:cNvPr id="9" name="正方形/長方形 8"/>
          <p:cNvSpPr/>
          <p:nvPr/>
        </p:nvSpPr>
        <p:spPr>
          <a:xfrm>
            <a:off x="4080668" y="4227578"/>
            <a:ext cx="1278410" cy="533796"/>
          </a:xfrm>
          <a:prstGeom prst="rect">
            <a:avLst/>
          </a:prstGeom>
          <a:solidFill>
            <a:srgbClr val="00B0F0"/>
          </a:solidFill>
          <a:ln w="57150">
            <a:solidFill>
              <a:srgbClr val="0070C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[2]</a:t>
            </a:r>
            <a:r>
              <a:rPr kumimoji="1" lang="ja-JP" altLang="en-US" sz="2000" dirty="0"/>
              <a:t>左下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4080668" y="4767039"/>
            <a:ext cx="1278410" cy="533796"/>
          </a:xfrm>
          <a:prstGeom prst="rect">
            <a:avLst/>
          </a:prstGeom>
          <a:solidFill>
            <a:srgbClr val="00B0F0"/>
          </a:solidFill>
          <a:ln w="57150">
            <a:solidFill>
              <a:srgbClr val="0070C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[3]</a:t>
            </a:r>
            <a:r>
              <a:rPr kumimoji="1" lang="ja-JP" altLang="en-US" sz="2000" dirty="0"/>
              <a:t>左下</a:t>
            </a:r>
          </a:p>
        </p:txBody>
      </p:sp>
      <p:sp>
        <p:nvSpPr>
          <p:cNvPr id="12" name="正方形/長方形 11"/>
          <p:cNvSpPr/>
          <p:nvPr/>
        </p:nvSpPr>
        <p:spPr>
          <a:xfrm>
            <a:off x="4080668" y="5300835"/>
            <a:ext cx="1278410" cy="533796"/>
          </a:xfrm>
          <a:prstGeom prst="rect">
            <a:avLst/>
          </a:prstGeom>
          <a:solidFill>
            <a:srgbClr val="00B0F0"/>
          </a:solidFill>
          <a:ln w="57150">
            <a:solidFill>
              <a:srgbClr val="0070C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[4]</a:t>
            </a:r>
            <a:r>
              <a:rPr kumimoji="1" lang="ja-JP" altLang="en-US" sz="2000" dirty="0"/>
              <a:t>右上</a:t>
            </a:r>
          </a:p>
        </p:txBody>
      </p:sp>
      <p:sp>
        <p:nvSpPr>
          <p:cNvPr id="13" name="正方形/長方形 12"/>
          <p:cNvSpPr/>
          <p:nvPr/>
        </p:nvSpPr>
        <p:spPr>
          <a:xfrm>
            <a:off x="4080668" y="5833476"/>
            <a:ext cx="1278410" cy="533796"/>
          </a:xfrm>
          <a:prstGeom prst="rect">
            <a:avLst/>
          </a:prstGeom>
          <a:solidFill>
            <a:srgbClr val="00B0F0"/>
          </a:solidFill>
          <a:ln w="57150">
            <a:solidFill>
              <a:srgbClr val="0070C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[5]</a:t>
            </a:r>
            <a:r>
              <a:rPr kumimoji="1" lang="ja-JP" altLang="en-US" sz="2000" dirty="0"/>
              <a:t>右下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5737777" y="3154321"/>
            <a:ext cx="1278410" cy="533796"/>
          </a:xfrm>
          <a:prstGeom prst="rect">
            <a:avLst/>
          </a:prstGeom>
          <a:solidFill>
            <a:srgbClr val="92D050"/>
          </a:solidFill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[0] 0</a:t>
            </a:r>
            <a:endParaRPr kumimoji="1" lang="ja-JP" altLang="en-US" sz="2000" dirty="0"/>
          </a:p>
        </p:txBody>
      </p:sp>
      <p:sp>
        <p:nvSpPr>
          <p:cNvPr id="15" name="正方形/長方形 14"/>
          <p:cNvSpPr/>
          <p:nvPr/>
        </p:nvSpPr>
        <p:spPr>
          <a:xfrm>
            <a:off x="5737777" y="3688117"/>
            <a:ext cx="1278410" cy="533796"/>
          </a:xfrm>
          <a:prstGeom prst="rect">
            <a:avLst/>
          </a:prstGeom>
          <a:solidFill>
            <a:srgbClr val="92D050"/>
          </a:solidFill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[1] 1</a:t>
            </a:r>
            <a:endParaRPr kumimoji="1" lang="ja-JP" altLang="en-US" sz="2000" dirty="0"/>
          </a:p>
        </p:txBody>
      </p:sp>
      <p:sp>
        <p:nvSpPr>
          <p:cNvPr id="16" name="正方形/長方形 15"/>
          <p:cNvSpPr/>
          <p:nvPr/>
        </p:nvSpPr>
        <p:spPr>
          <a:xfrm>
            <a:off x="5737777" y="4227578"/>
            <a:ext cx="1278410" cy="533796"/>
          </a:xfrm>
          <a:prstGeom prst="rect">
            <a:avLst/>
          </a:prstGeom>
          <a:solidFill>
            <a:srgbClr val="92D050"/>
          </a:solidFill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[2] 2</a:t>
            </a:r>
            <a:endParaRPr kumimoji="1" lang="ja-JP" altLang="en-US" sz="2000" dirty="0"/>
          </a:p>
        </p:txBody>
      </p:sp>
      <p:sp>
        <p:nvSpPr>
          <p:cNvPr id="17" name="正方形/長方形 16"/>
          <p:cNvSpPr/>
          <p:nvPr/>
        </p:nvSpPr>
        <p:spPr>
          <a:xfrm>
            <a:off x="5737777" y="4767039"/>
            <a:ext cx="1278410" cy="533796"/>
          </a:xfrm>
          <a:prstGeom prst="rect">
            <a:avLst/>
          </a:prstGeom>
          <a:solidFill>
            <a:srgbClr val="92D050"/>
          </a:solidFill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[3]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3</a:t>
            </a:r>
            <a:endParaRPr kumimoji="1" lang="ja-JP" altLang="en-US" sz="2000" dirty="0"/>
          </a:p>
        </p:txBody>
      </p:sp>
      <p:sp>
        <p:nvSpPr>
          <p:cNvPr id="18" name="正方形/長方形 17"/>
          <p:cNvSpPr/>
          <p:nvPr/>
        </p:nvSpPr>
        <p:spPr>
          <a:xfrm>
            <a:off x="5737777" y="5300835"/>
            <a:ext cx="1278410" cy="533796"/>
          </a:xfrm>
          <a:prstGeom prst="rect">
            <a:avLst/>
          </a:prstGeom>
          <a:solidFill>
            <a:srgbClr val="92D050"/>
          </a:solidFill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[4]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4</a:t>
            </a:r>
            <a:endParaRPr kumimoji="1" lang="ja-JP" altLang="en-US" sz="2000" dirty="0"/>
          </a:p>
        </p:txBody>
      </p:sp>
      <p:sp>
        <p:nvSpPr>
          <p:cNvPr id="19" name="正方形/長方形 18"/>
          <p:cNvSpPr/>
          <p:nvPr/>
        </p:nvSpPr>
        <p:spPr>
          <a:xfrm>
            <a:off x="5737777" y="5833476"/>
            <a:ext cx="1278410" cy="533796"/>
          </a:xfrm>
          <a:prstGeom prst="rect">
            <a:avLst/>
          </a:prstGeom>
          <a:solidFill>
            <a:srgbClr val="92D050"/>
          </a:solidFill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[5]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5</a:t>
            </a:r>
            <a:endParaRPr kumimoji="1" lang="ja-JP" altLang="en-US" sz="2000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876789" y="2577972"/>
            <a:ext cx="1686167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Vertex Buffer</a:t>
            </a:r>
            <a:endParaRPr kumimoji="1" lang="ja-JP" altLang="en-US" sz="2000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5687620" y="2577972"/>
            <a:ext cx="1603324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Index Buffer</a:t>
            </a:r>
            <a:endParaRPr kumimoji="1" lang="ja-JP" altLang="en-US" sz="2000" dirty="0"/>
          </a:p>
        </p:txBody>
      </p:sp>
      <p:sp>
        <p:nvSpPr>
          <p:cNvPr id="24" name="正方形/長方形 23"/>
          <p:cNvSpPr/>
          <p:nvPr/>
        </p:nvSpPr>
        <p:spPr>
          <a:xfrm>
            <a:off x="8646881" y="3154321"/>
            <a:ext cx="1278410" cy="533796"/>
          </a:xfrm>
          <a:prstGeom prst="rect">
            <a:avLst/>
          </a:prstGeom>
          <a:solidFill>
            <a:srgbClr val="00B0F0"/>
          </a:solidFill>
          <a:ln w="57150">
            <a:solidFill>
              <a:srgbClr val="0070C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[0]</a:t>
            </a:r>
            <a:r>
              <a:rPr kumimoji="1" lang="ja-JP" altLang="en-US" sz="2000" dirty="0"/>
              <a:t>左上</a:t>
            </a:r>
          </a:p>
        </p:txBody>
      </p:sp>
      <p:sp>
        <p:nvSpPr>
          <p:cNvPr id="25" name="正方形/長方形 24"/>
          <p:cNvSpPr/>
          <p:nvPr/>
        </p:nvSpPr>
        <p:spPr>
          <a:xfrm>
            <a:off x="8646881" y="3688117"/>
            <a:ext cx="1278410" cy="533796"/>
          </a:xfrm>
          <a:prstGeom prst="rect">
            <a:avLst/>
          </a:prstGeom>
          <a:solidFill>
            <a:srgbClr val="00B0F0"/>
          </a:solidFill>
          <a:ln w="57150">
            <a:solidFill>
              <a:srgbClr val="0070C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[1]</a:t>
            </a:r>
            <a:r>
              <a:rPr kumimoji="1" lang="ja-JP" altLang="en-US" sz="2000" dirty="0"/>
              <a:t>右上</a:t>
            </a:r>
          </a:p>
        </p:txBody>
      </p:sp>
      <p:sp>
        <p:nvSpPr>
          <p:cNvPr id="26" name="正方形/長方形 25"/>
          <p:cNvSpPr/>
          <p:nvPr/>
        </p:nvSpPr>
        <p:spPr>
          <a:xfrm>
            <a:off x="8646881" y="4227578"/>
            <a:ext cx="1278410" cy="533796"/>
          </a:xfrm>
          <a:prstGeom prst="rect">
            <a:avLst/>
          </a:prstGeom>
          <a:solidFill>
            <a:srgbClr val="00B0F0"/>
          </a:solidFill>
          <a:ln w="57150">
            <a:solidFill>
              <a:srgbClr val="0070C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[2]</a:t>
            </a:r>
            <a:r>
              <a:rPr kumimoji="1" lang="ja-JP" altLang="en-US" sz="2000" dirty="0"/>
              <a:t>左下</a:t>
            </a:r>
          </a:p>
        </p:txBody>
      </p:sp>
      <p:sp>
        <p:nvSpPr>
          <p:cNvPr id="27" name="正方形/長方形 26"/>
          <p:cNvSpPr/>
          <p:nvPr/>
        </p:nvSpPr>
        <p:spPr>
          <a:xfrm>
            <a:off x="8646881" y="4767039"/>
            <a:ext cx="1278410" cy="533796"/>
          </a:xfrm>
          <a:prstGeom prst="rect">
            <a:avLst/>
          </a:prstGeom>
          <a:solidFill>
            <a:srgbClr val="00B0F0"/>
          </a:solidFill>
          <a:ln w="57150">
            <a:solidFill>
              <a:srgbClr val="0070C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[3]</a:t>
            </a:r>
            <a:r>
              <a:rPr kumimoji="1" lang="ja-JP" altLang="en-US" sz="2000" dirty="0"/>
              <a:t>右下</a:t>
            </a:r>
          </a:p>
        </p:txBody>
      </p:sp>
      <p:sp>
        <p:nvSpPr>
          <p:cNvPr id="30" name="正方形/長方形 29"/>
          <p:cNvSpPr/>
          <p:nvPr/>
        </p:nvSpPr>
        <p:spPr>
          <a:xfrm>
            <a:off x="10303990" y="3154321"/>
            <a:ext cx="1278410" cy="533796"/>
          </a:xfrm>
          <a:prstGeom prst="rect">
            <a:avLst/>
          </a:prstGeom>
          <a:solidFill>
            <a:srgbClr val="92D050"/>
          </a:solidFill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[0] 0</a:t>
            </a:r>
            <a:endParaRPr kumimoji="1" lang="ja-JP" altLang="en-US" sz="2000" dirty="0"/>
          </a:p>
        </p:txBody>
      </p:sp>
      <p:sp>
        <p:nvSpPr>
          <p:cNvPr id="31" name="正方形/長方形 30"/>
          <p:cNvSpPr/>
          <p:nvPr/>
        </p:nvSpPr>
        <p:spPr>
          <a:xfrm>
            <a:off x="10303990" y="3688117"/>
            <a:ext cx="1278410" cy="533796"/>
          </a:xfrm>
          <a:prstGeom prst="rect">
            <a:avLst/>
          </a:prstGeom>
          <a:solidFill>
            <a:srgbClr val="92D050"/>
          </a:solidFill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[1] 1</a:t>
            </a:r>
            <a:endParaRPr kumimoji="1" lang="ja-JP" altLang="en-US" sz="2000" dirty="0"/>
          </a:p>
        </p:txBody>
      </p:sp>
      <p:sp>
        <p:nvSpPr>
          <p:cNvPr id="32" name="正方形/長方形 31"/>
          <p:cNvSpPr/>
          <p:nvPr/>
        </p:nvSpPr>
        <p:spPr>
          <a:xfrm>
            <a:off x="10303990" y="4227578"/>
            <a:ext cx="1278410" cy="533796"/>
          </a:xfrm>
          <a:prstGeom prst="rect">
            <a:avLst/>
          </a:prstGeom>
          <a:solidFill>
            <a:srgbClr val="92D050"/>
          </a:solidFill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[2] 2</a:t>
            </a:r>
            <a:endParaRPr kumimoji="1" lang="ja-JP" altLang="en-US" sz="2000" dirty="0"/>
          </a:p>
        </p:txBody>
      </p:sp>
      <p:sp>
        <p:nvSpPr>
          <p:cNvPr id="33" name="正方形/長方形 32"/>
          <p:cNvSpPr/>
          <p:nvPr/>
        </p:nvSpPr>
        <p:spPr>
          <a:xfrm>
            <a:off x="10303990" y="4767039"/>
            <a:ext cx="1278410" cy="533796"/>
          </a:xfrm>
          <a:prstGeom prst="rect">
            <a:avLst/>
          </a:prstGeom>
          <a:solidFill>
            <a:srgbClr val="92D050"/>
          </a:solidFill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[3]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2</a:t>
            </a:r>
            <a:endParaRPr kumimoji="1" lang="ja-JP" altLang="en-US" sz="2000" dirty="0"/>
          </a:p>
        </p:txBody>
      </p:sp>
      <p:sp>
        <p:nvSpPr>
          <p:cNvPr id="34" name="正方形/長方形 33"/>
          <p:cNvSpPr/>
          <p:nvPr/>
        </p:nvSpPr>
        <p:spPr>
          <a:xfrm>
            <a:off x="10303990" y="5300835"/>
            <a:ext cx="1278410" cy="533796"/>
          </a:xfrm>
          <a:prstGeom prst="rect">
            <a:avLst/>
          </a:prstGeom>
          <a:solidFill>
            <a:srgbClr val="92D050"/>
          </a:solidFill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[4]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35" name="正方形/長方形 34"/>
          <p:cNvSpPr/>
          <p:nvPr/>
        </p:nvSpPr>
        <p:spPr>
          <a:xfrm>
            <a:off x="10303990" y="5833476"/>
            <a:ext cx="1278410" cy="533796"/>
          </a:xfrm>
          <a:prstGeom prst="rect">
            <a:avLst/>
          </a:prstGeom>
          <a:solidFill>
            <a:srgbClr val="92D050"/>
          </a:solidFill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[5]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3</a:t>
            </a:r>
            <a:endParaRPr kumimoji="1" lang="ja-JP" altLang="en-US" sz="2000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8443002" y="2577972"/>
            <a:ext cx="1686167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Vertex Buffer</a:t>
            </a:r>
            <a:endParaRPr kumimoji="1" lang="ja-JP" altLang="en-US" sz="20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10253833" y="2577972"/>
            <a:ext cx="1603324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Index Buffer</a:t>
            </a:r>
            <a:endParaRPr kumimoji="1" lang="ja-JP" altLang="en-US" sz="2000" dirty="0"/>
          </a:p>
        </p:txBody>
      </p:sp>
      <p:sp>
        <p:nvSpPr>
          <p:cNvPr id="38" name="右矢印 37"/>
          <p:cNvSpPr/>
          <p:nvPr/>
        </p:nvSpPr>
        <p:spPr>
          <a:xfrm>
            <a:off x="7187877" y="4039564"/>
            <a:ext cx="1179359" cy="925975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/>
              <a:t>最適化</a:t>
            </a:r>
          </a:p>
        </p:txBody>
      </p:sp>
    </p:spTree>
    <p:extLst>
      <p:ext uri="{BB962C8B-B14F-4D97-AF65-F5344CB8AC3E}">
        <p14:creationId xmlns:p14="http://schemas.microsoft.com/office/powerpoint/2010/main" val="421594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ブレーンストーミングのプレゼンテーション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482_TF03460637.potx" id="{8F3B156D-932A-4C4F-B19B-13DA9C7AB513}" vid="{CAF0C7A8-6467-402F-B5CC-E460ADA54AE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ビジネス ブレーンストーミング プレゼンテーション</Template>
  <TotalTime>1263</TotalTime>
  <Words>248</Words>
  <Application>Microsoft Office PowerPoint</Application>
  <PresentationFormat>ワイド画面</PresentationFormat>
  <Paragraphs>65</Paragraphs>
  <Slides>14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Meiryo UI</vt:lpstr>
      <vt:lpstr>ＭＳ 明朝</vt:lpstr>
      <vt:lpstr>Palatino Linotype</vt:lpstr>
      <vt:lpstr>Wingdings 2</vt:lpstr>
      <vt:lpstr>ブレーンストーミングのプレゼンテーション</vt:lpstr>
      <vt:lpstr>描画エンジン開発Ⅰ・Ⅱ</vt:lpstr>
      <vt:lpstr>授業内容</vt:lpstr>
      <vt:lpstr>実行結果（フォンシェーディング）</vt:lpstr>
      <vt:lpstr>実行結果（バンプマップ）</vt:lpstr>
      <vt:lpstr>実行結果（バウンディングボックス）</vt:lpstr>
      <vt:lpstr>実行結果（すべてのメッシュに対応）</vt:lpstr>
      <vt:lpstr>フォンシェーディング</vt:lpstr>
      <vt:lpstr>バンプマッピング</vt:lpstr>
      <vt:lpstr>法線ベクトル(Normal)</vt:lpstr>
      <vt:lpstr>接線ベクトル</vt:lpstr>
      <vt:lpstr>通常の描画</vt:lpstr>
      <vt:lpstr>法線マップによる描画</vt:lpstr>
      <vt:lpstr>バウンディングボックス</vt:lpstr>
      <vt:lpstr>重複する頂点データの削除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描画エンジン制作Ⅰ</dc:title>
  <dc:creator>吉野 広二</dc:creator>
  <cp:lastModifiedBy>小西 陸生</cp:lastModifiedBy>
  <cp:revision>88</cp:revision>
  <dcterms:created xsi:type="dcterms:W3CDTF">2019-03-17T05:51:21Z</dcterms:created>
  <dcterms:modified xsi:type="dcterms:W3CDTF">2026-07-07T00:21:57Z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