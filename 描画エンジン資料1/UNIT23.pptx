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handoutMasterIdLst>
    <p:handoutMasterId r:id="rId14"/>
  </p:handoutMasterIdLst>
  <p:sldIdLst>
    <p:sldId id="272" r:id="rId2"/>
    <p:sldId id="273" r:id="rId3"/>
    <p:sldId id="286" r:id="rId4"/>
    <p:sldId id="344" r:id="rId5"/>
    <p:sldId id="298" r:id="rId6"/>
    <p:sldId id="299" r:id="rId7"/>
    <p:sldId id="309" r:id="rId8"/>
    <p:sldId id="319" r:id="rId9"/>
    <p:sldId id="345" r:id="rId10"/>
    <p:sldId id="346" r:id="rId11"/>
    <p:sldId id="347" r:id="rId12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F3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74394" autoAdjust="0"/>
  </p:normalViewPr>
  <p:slideViewPr>
    <p:cSldViewPr snapToGrid="0">
      <p:cViewPr varScale="1">
        <p:scale>
          <a:sx n="86" d="100"/>
          <a:sy n="86" d="100"/>
        </p:scale>
        <p:origin x="582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2021年10月27日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2021年10月27日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3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6932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4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8510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5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37466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4109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7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508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9570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10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99727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 smtClean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2021年10月27日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2021年10月27日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2021年10月27日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2021年10月27日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2021年10月27日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2021年10月27日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2021年10月27日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2021年10月27日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 smtClean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2021年10月27日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2021年10月27日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2021年10月27日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 smtClean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2 </a:t>
            </a:r>
            <a:r>
              <a:rPr lang="ja-JP" altLang="en-US" noProof="0" dirty="0" smtClean="0"/>
              <a:t>レベル</a:t>
            </a:r>
          </a:p>
          <a:p>
            <a:pPr lvl="2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3 </a:t>
            </a:r>
            <a:r>
              <a:rPr lang="ja-JP" altLang="en-US" noProof="0" dirty="0" smtClean="0"/>
              <a:t>レベル</a:t>
            </a:r>
          </a:p>
          <a:p>
            <a:pPr lvl="3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4 </a:t>
            </a:r>
            <a:r>
              <a:rPr lang="ja-JP" altLang="en-US" noProof="0" dirty="0" smtClean="0"/>
              <a:t>レベル</a:t>
            </a:r>
          </a:p>
          <a:p>
            <a:pPr lvl="4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5 </a:t>
            </a:r>
            <a:r>
              <a:rPr lang="ja-JP" altLang="en-US" noProof="0" dirty="0" smtClean="0"/>
              <a:t>レベル</a:t>
            </a:r>
            <a:endParaRPr lang="ja-JP" altLang="en-US" noProof="0" dirty="0"/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2021年10月27日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 smtClean="0"/>
              <a:t>フッターを追加</a:t>
            </a:r>
            <a:endParaRPr lang="ja-JP" altLang="en-US" noProof="0" dirty="0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描画エンジン</a:t>
            </a:r>
            <a:r>
              <a:rPr lang="ja-JP" altLang="en-US" dirty="0" smtClean="0"/>
              <a:t>開発</a:t>
            </a:r>
            <a:r>
              <a:rPr lang="en-US" altLang="ja-JP" dirty="0" smtClean="0"/>
              <a:t>Ⅲ</a:t>
            </a:r>
            <a:r>
              <a:rPr lang="ja-JP" altLang="en-US" dirty="0" smtClean="0"/>
              <a:t>・</a:t>
            </a:r>
            <a:r>
              <a:rPr lang="en-US" altLang="ja-JP" dirty="0" smtClean="0"/>
              <a:t>Ⅳ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/>
              <a:t>UNIT23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授業</a:t>
            </a:r>
            <a:r>
              <a:rPr lang="ja-JP" altLang="en-US" dirty="0"/>
              <a:t>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endParaRPr lang="en-US" altLang="ja-JP" dirty="0" smtClean="0"/>
          </a:p>
          <a:p>
            <a:pPr rtl="0"/>
            <a:r>
              <a:rPr lang="ja-JP" altLang="en-US" dirty="0"/>
              <a:t>ボーン</a:t>
            </a:r>
            <a:r>
              <a:rPr lang="ja-JP" altLang="en-US" dirty="0" smtClean="0"/>
              <a:t>影響力</a:t>
            </a:r>
            <a:endParaRPr lang="en-US" altLang="ja-JP" dirty="0" smtClean="0"/>
          </a:p>
          <a:p>
            <a:pPr rtl="0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</a:t>
            </a:r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080001" y="6366638"/>
            <a:ext cx="171026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cube.004.fbx</a:t>
            </a:r>
            <a:endParaRPr kumimoji="1" lang="ja-JP" altLang="en-US" dirty="0" err="1" smtClean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7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やりたいこと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92796" y="2018679"/>
            <a:ext cx="1948087" cy="434340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230" y="2018679"/>
            <a:ext cx="2421321" cy="4343400"/>
          </a:xfrm>
          <a:prstGeom prst="rect">
            <a:avLst/>
          </a:prstGeom>
        </p:spPr>
      </p:pic>
      <p:sp>
        <p:nvSpPr>
          <p:cNvPr id="6" name="二等辺三角形 5"/>
          <p:cNvSpPr/>
          <p:nvPr/>
        </p:nvSpPr>
        <p:spPr>
          <a:xfrm>
            <a:off x="2506081" y="4850094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0</a:t>
            </a:r>
            <a:endParaRPr kumimoji="1" lang="ja-JP" altLang="en-US" sz="2400" dirty="0"/>
          </a:p>
        </p:txBody>
      </p:sp>
      <p:sp>
        <p:nvSpPr>
          <p:cNvPr id="7" name="二等辺三角形 6"/>
          <p:cNvSpPr/>
          <p:nvPr/>
        </p:nvSpPr>
        <p:spPr>
          <a:xfrm>
            <a:off x="2506081" y="3649155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1</a:t>
            </a:r>
            <a:endParaRPr kumimoji="1" lang="ja-JP" altLang="en-US" sz="2400" dirty="0"/>
          </a:p>
        </p:txBody>
      </p:sp>
      <p:sp>
        <p:nvSpPr>
          <p:cNvPr id="8" name="二等辺三角形 7"/>
          <p:cNvSpPr/>
          <p:nvPr/>
        </p:nvSpPr>
        <p:spPr>
          <a:xfrm>
            <a:off x="2506081" y="2446518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2</a:t>
            </a:r>
            <a:endParaRPr kumimoji="1" lang="ja-JP" altLang="en-US" sz="2400" dirty="0"/>
          </a:p>
        </p:txBody>
      </p:sp>
      <p:sp>
        <p:nvSpPr>
          <p:cNvPr id="9" name="二等辺三角形 8"/>
          <p:cNvSpPr/>
          <p:nvPr/>
        </p:nvSpPr>
        <p:spPr>
          <a:xfrm>
            <a:off x="8747047" y="4848396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0</a:t>
            </a:r>
            <a:endParaRPr kumimoji="1" lang="ja-JP" altLang="en-US" sz="2400" dirty="0"/>
          </a:p>
        </p:txBody>
      </p:sp>
      <p:sp>
        <p:nvSpPr>
          <p:cNvPr id="10" name="二等辺三角形 9"/>
          <p:cNvSpPr/>
          <p:nvPr/>
        </p:nvSpPr>
        <p:spPr>
          <a:xfrm>
            <a:off x="8747047" y="3647457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1</a:t>
            </a:r>
            <a:endParaRPr kumimoji="1" lang="ja-JP" altLang="en-US" sz="2400" dirty="0"/>
          </a:p>
        </p:txBody>
      </p:sp>
      <p:sp>
        <p:nvSpPr>
          <p:cNvPr id="11" name="二等辺三角形 10"/>
          <p:cNvSpPr/>
          <p:nvPr/>
        </p:nvSpPr>
        <p:spPr>
          <a:xfrm>
            <a:off x="8747047" y="2444820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2</a:t>
            </a:r>
            <a:endParaRPr kumimoji="1" lang="ja-JP" altLang="en-US" sz="2400" dirty="0"/>
          </a:p>
        </p:txBody>
      </p:sp>
      <p:sp>
        <p:nvSpPr>
          <p:cNvPr id="12" name="右矢印 11"/>
          <p:cNvSpPr/>
          <p:nvPr/>
        </p:nvSpPr>
        <p:spPr>
          <a:xfrm>
            <a:off x="5092464" y="3685718"/>
            <a:ext cx="1165185" cy="86718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吹き出し 12"/>
          <p:cNvSpPr/>
          <p:nvPr/>
        </p:nvSpPr>
        <p:spPr>
          <a:xfrm>
            <a:off x="4188008" y="2018679"/>
            <a:ext cx="3350899" cy="1482804"/>
          </a:xfrm>
          <a:prstGeom prst="wedgeRoundRectCallout">
            <a:avLst>
              <a:gd name="adj1" fmla="val 73562"/>
              <a:gd name="adj2" fmla="val 49096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ボーンを回転させる。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イメージとしては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雑巾をしぼる感じの回転</a:t>
            </a:r>
            <a:endParaRPr kumimoji="1" lang="ja-JP" altLang="en-US" dirty="0"/>
          </a:p>
        </p:txBody>
      </p:sp>
      <p:sp>
        <p:nvSpPr>
          <p:cNvPr id="14" name="角丸四角形吹き出し 13"/>
          <p:cNvSpPr/>
          <p:nvPr/>
        </p:nvSpPr>
        <p:spPr>
          <a:xfrm>
            <a:off x="4872779" y="4737135"/>
            <a:ext cx="2446442" cy="1482804"/>
          </a:xfrm>
          <a:prstGeom prst="wedgeRoundRectCallout">
            <a:avLst>
              <a:gd name="adj1" fmla="val 76753"/>
              <a:gd name="adj2" fmla="val -42652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課題では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①を</a:t>
            </a:r>
            <a:r>
              <a:rPr kumimoji="1" lang="en-US" altLang="ja-JP" dirty="0" smtClean="0"/>
              <a:t>+45</a:t>
            </a:r>
            <a:r>
              <a:rPr kumimoji="1" lang="ja-JP" altLang="en-US" dirty="0" smtClean="0"/>
              <a:t>度回転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②を</a:t>
            </a:r>
            <a:r>
              <a:rPr kumimoji="1" lang="en-US" altLang="ja-JP" dirty="0" smtClean="0"/>
              <a:t>-45</a:t>
            </a:r>
            <a:r>
              <a:rPr kumimoji="1" lang="ja-JP" altLang="en-US" dirty="0" smtClean="0"/>
              <a:t>度回転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している</a:t>
            </a:r>
          </a:p>
        </p:txBody>
      </p:sp>
      <p:sp>
        <p:nvSpPr>
          <p:cNvPr id="15" name="右カーブ矢印 14"/>
          <p:cNvSpPr/>
          <p:nvPr/>
        </p:nvSpPr>
        <p:spPr>
          <a:xfrm>
            <a:off x="8714174" y="2733553"/>
            <a:ext cx="547125" cy="289932"/>
          </a:xfrm>
          <a:prstGeom prst="curvedRightArrow">
            <a:avLst/>
          </a:prstGeo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右カーブ矢印 15"/>
          <p:cNvSpPr/>
          <p:nvPr/>
        </p:nvSpPr>
        <p:spPr>
          <a:xfrm flipH="1">
            <a:off x="8704466" y="3956296"/>
            <a:ext cx="601062" cy="289932"/>
          </a:xfrm>
          <a:prstGeom prst="curvedRightArrow">
            <a:avLst/>
          </a:prstGeo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79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FBX</a:t>
            </a:r>
            <a:r>
              <a:rPr kumimoji="1" lang="ja-JP" altLang="en-US" dirty="0" smtClean="0"/>
              <a:t>の全体的な構造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3882776" y="3072844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sp>
        <p:nvSpPr>
          <p:cNvPr id="6" name="角丸四角形 5"/>
          <p:cNvSpPr/>
          <p:nvPr/>
        </p:nvSpPr>
        <p:spPr>
          <a:xfrm>
            <a:off x="2662095" y="2179445"/>
            <a:ext cx="1875139" cy="377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FbxScene</a:t>
            </a:r>
            <a:endParaRPr kumimoji="1" lang="ja-JP" altLang="en-US" dirty="0"/>
          </a:p>
        </p:txBody>
      </p:sp>
      <p:cxnSp>
        <p:nvCxnSpPr>
          <p:cNvPr id="11" name="曲線コネクタ 10"/>
          <p:cNvCxnSpPr>
            <a:stCxn id="6" idx="2"/>
            <a:endCxn id="4" idx="1"/>
          </p:cNvCxnSpPr>
          <p:nvPr/>
        </p:nvCxnSpPr>
        <p:spPr>
          <a:xfrm rot="16200000" flipH="1">
            <a:off x="3388789" y="2767392"/>
            <a:ext cx="704863" cy="283111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角丸四角形 19"/>
          <p:cNvSpPr/>
          <p:nvPr/>
        </p:nvSpPr>
        <p:spPr>
          <a:xfrm>
            <a:off x="5123684" y="3763509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22" name="曲線コネクタ 13"/>
          <p:cNvCxnSpPr>
            <a:stCxn id="4" idx="2"/>
            <a:endCxn id="20" idx="1"/>
          </p:cNvCxnSpPr>
          <p:nvPr/>
        </p:nvCxnSpPr>
        <p:spPr>
          <a:xfrm rot="16200000" flipH="1">
            <a:off x="4720951" y="3549311"/>
            <a:ext cx="502129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角丸四角形 33"/>
          <p:cNvSpPr/>
          <p:nvPr/>
        </p:nvSpPr>
        <p:spPr>
          <a:xfrm>
            <a:off x="5123684" y="4624795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35" name="曲線コネクタ 13"/>
          <p:cNvCxnSpPr>
            <a:stCxn id="4" idx="2"/>
            <a:endCxn id="34" idx="1"/>
          </p:cNvCxnSpPr>
          <p:nvPr/>
        </p:nvCxnSpPr>
        <p:spPr>
          <a:xfrm rot="16200000" flipH="1">
            <a:off x="4290308" y="3979954"/>
            <a:ext cx="1363415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角丸四角形 38"/>
          <p:cNvSpPr/>
          <p:nvPr/>
        </p:nvSpPr>
        <p:spPr>
          <a:xfrm>
            <a:off x="7427058" y="3768587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cxnSp>
        <p:nvCxnSpPr>
          <p:cNvPr id="47" name="曲線コネクタ 13"/>
          <p:cNvCxnSpPr>
            <a:stCxn id="20" idx="3"/>
            <a:endCxn id="39" idx="1"/>
          </p:cNvCxnSpPr>
          <p:nvPr/>
        </p:nvCxnSpPr>
        <p:spPr>
          <a:xfrm>
            <a:off x="6998823" y="3952045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角丸四角形 49"/>
          <p:cNvSpPr/>
          <p:nvPr/>
        </p:nvSpPr>
        <p:spPr>
          <a:xfrm>
            <a:off x="10008709" y="3444020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51" name="曲線コネクタ 13"/>
          <p:cNvCxnSpPr>
            <a:stCxn id="39" idx="3"/>
            <a:endCxn id="50" idx="1"/>
          </p:cNvCxnSpPr>
          <p:nvPr/>
        </p:nvCxnSpPr>
        <p:spPr>
          <a:xfrm flipV="1">
            <a:off x="9302197" y="3632556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/>
          <p:cNvSpPr/>
          <p:nvPr/>
        </p:nvSpPr>
        <p:spPr>
          <a:xfrm>
            <a:off x="10008709" y="4093154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60" name="曲線コネクタ 13"/>
          <p:cNvCxnSpPr>
            <a:stCxn id="39" idx="3"/>
            <a:endCxn id="59" idx="1"/>
          </p:cNvCxnSpPr>
          <p:nvPr/>
        </p:nvCxnSpPr>
        <p:spPr>
          <a:xfrm>
            <a:off x="9302197" y="3957123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角丸四角形 64"/>
          <p:cNvSpPr/>
          <p:nvPr/>
        </p:nvSpPr>
        <p:spPr>
          <a:xfrm>
            <a:off x="4537235" y="548608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sp>
        <p:nvSpPr>
          <p:cNvPr id="66" name="角丸四角形 65"/>
          <p:cNvSpPr/>
          <p:nvPr/>
        </p:nvSpPr>
        <p:spPr>
          <a:xfrm>
            <a:off x="4537234" y="617874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cxnSp>
        <p:nvCxnSpPr>
          <p:cNvPr id="67" name="曲線コネクタ 10"/>
          <p:cNvCxnSpPr>
            <a:stCxn id="6" idx="2"/>
            <a:endCxn id="65" idx="1"/>
          </p:cNvCxnSpPr>
          <p:nvPr/>
        </p:nvCxnSpPr>
        <p:spPr>
          <a:xfrm rot="16200000" flipH="1">
            <a:off x="2509400" y="3646782"/>
            <a:ext cx="3118100" cy="937570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曲線コネクタ 10"/>
          <p:cNvCxnSpPr>
            <a:stCxn id="6" idx="2"/>
            <a:endCxn id="66" idx="1"/>
          </p:cNvCxnSpPr>
          <p:nvPr/>
        </p:nvCxnSpPr>
        <p:spPr>
          <a:xfrm rot="16200000" flipH="1">
            <a:off x="2163069" y="3993112"/>
            <a:ext cx="3810760" cy="937569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角丸四角形 88"/>
          <p:cNvSpPr/>
          <p:nvPr/>
        </p:nvSpPr>
        <p:spPr>
          <a:xfrm>
            <a:off x="100222" y="1915647"/>
            <a:ext cx="1875139" cy="927357"/>
          </a:xfrm>
          <a:prstGeom prst="roundRect">
            <a:avLst/>
          </a:prstGeom>
          <a:solidFill>
            <a:srgbClr val="FFA3A3"/>
          </a:solidFill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FbxManager</a:t>
            </a:r>
            <a:endParaRPr kumimoji="1" lang="ja-JP" altLang="en-US" dirty="0"/>
          </a:p>
        </p:txBody>
      </p:sp>
      <p:sp>
        <p:nvSpPr>
          <p:cNvPr id="90" name="角丸四角形 89"/>
          <p:cNvSpPr/>
          <p:nvPr/>
        </p:nvSpPr>
        <p:spPr>
          <a:xfrm>
            <a:off x="100222" y="3763509"/>
            <a:ext cx="1875139" cy="656884"/>
          </a:xfrm>
          <a:prstGeom prst="roundRect">
            <a:avLst/>
          </a:prstGeom>
          <a:solidFill>
            <a:srgbClr val="B4AFF3"/>
          </a:solidFill>
          <a:ln w="28575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FbxImporter</a:t>
            </a:r>
            <a:endParaRPr kumimoji="1" lang="ja-JP" altLang="en-US" dirty="0"/>
          </a:p>
        </p:txBody>
      </p:sp>
      <p:cxnSp>
        <p:nvCxnSpPr>
          <p:cNvPr id="97" name="曲線コネクタ 13"/>
          <p:cNvCxnSpPr>
            <a:stCxn id="89" idx="3"/>
            <a:endCxn id="6" idx="1"/>
          </p:cNvCxnSpPr>
          <p:nvPr/>
        </p:nvCxnSpPr>
        <p:spPr>
          <a:xfrm flipV="1">
            <a:off x="1975361" y="2367981"/>
            <a:ext cx="686734" cy="11345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曲線コネクタ 13"/>
          <p:cNvCxnSpPr>
            <a:stCxn id="89" idx="2"/>
            <a:endCxn id="90" idx="0"/>
          </p:cNvCxnSpPr>
          <p:nvPr/>
        </p:nvCxnSpPr>
        <p:spPr>
          <a:xfrm rot="5400000">
            <a:off x="577540" y="3303256"/>
            <a:ext cx="920505" cy="1270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曲線コネクタ 13"/>
          <p:cNvCxnSpPr>
            <a:stCxn id="90" idx="3"/>
            <a:endCxn id="6" idx="1"/>
          </p:cNvCxnSpPr>
          <p:nvPr/>
        </p:nvCxnSpPr>
        <p:spPr>
          <a:xfrm flipV="1">
            <a:off x="1975361" y="2367981"/>
            <a:ext cx="686734" cy="1723970"/>
          </a:xfrm>
          <a:prstGeom prst="curvedConnector3">
            <a:avLst>
              <a:gd name="adj1" fmla="val 50000"/>
            </a:avLst>
          </a:prstGeom>
          <a:ln w="25400">
            <a:solidFill>
              <a:srgbClr val="B4AFF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角丸四角形 127"/>
          <p:cNvSpPr/>
          <p:nvPr/>
        </p:nvSpPr>
        <p:spPr>
          <a:xfrm>
            <a:off x="7729430" y="5229488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sp>
        <p:nvSpPr>
          <p:cNvPr id="129" name="角丸四角形 128"/>
          <p:cNvSpPr/>
          <p:nvPr/>
        </p:nvSpPr>
        <p:spPr>
          <a:xfrm>
            <a:off x="7754083" y="5863153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cxnSp>
        <p:nvCxnSpPr>
          <p:cNvPr id="130" name="曲線コネクタ 13"/>
          <p:cNvCxnSpPr>
            <a:stCxn id="65" idx="3"/>
            <a:endCxn id="128" idx="1"/>
          </p:cNvCxnSpPr>
          <p:nvPr/>
        </p:nvCxnSpPr>
        <p:spPr>
          <a:xfrm flipV="1">
            <a:off x="6816514" y="5418024"/>
            <a:ext cx="912916" cy="256593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曲線コネクタ 13"/>
          <p:cNvCxnSpPr>
            <a:stCxn id="65" idx="3"/>
            <a:endCxn id="129" idx="1"/>
          </p:cNvCxnSpPr>
          <p:nvPr/>
        </p:nvCxnSpPr>
        <p:spPr>
          <a:xfrm>
            <a:off x="6816514" y="5674617"/>
            <a:ext cx="937569" cy="377072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線コネクタ 13"/>
          <p:cNvCxnSpPr>
            <a:stCxn id="20" idx="3"/>
            <a:endCxn id="66" idx="3"/>
          </p:cNvCxnSpPr>
          <p:nvPr/>
        </p:nvCxnSpPr>
        <p:spPr>
          <a:xfrm flipH="1">
            <a:off x="6816513" y="3952045"/>
            <a:ext cx="182310" cy="2415232"/>
          </a:xfrm>
          <a:prstGeom prst="curvedConnector3">
            <a:avLst>
              <a:gd name="adj1" fmla="val -125391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線コネクタ 13"/>
          <p:cNvCxnSpPr>
            <a:stCxn id="20" idx="3"/>
            <a:endCxn id="65" idx="3"/>
          </p:cNvCxnSpPr>
          <p:nvPr/>
        </p:nvCxnSpPr>
        <p:spPr>
          <a:xfrm flipH="1">
            <a:off x="6816514" y="3952045"/>
            <a:ext cx="182309" cy="1722572"/>
          </a:xfrm>
          <a:prstGeom prst="curvedConnector3">
            <a:avLst>
              <a:gd name="adj1" fmla="val -125392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曲線コネクタ 13"/>
          <p:cNvCxnSpPr/>
          <p:nvPr/>
        </p:nvCxnSpPr>
        <p:spPr>
          <a:xfrm>
            <a:off x="6998823" y="4808253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角丸四角形 31"/>
          <p:cNvSpPr/>
          <p:nvPr/>
        </p:nvSpPr>
        <p:spPr>
          <a:xfrm>
            <a:off x="7427058" y="4624795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5211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FBX</a:t>
            </a:r>
            <a:r>
              <a:rPr kumimoji="1" lang="ja-JP" altLang="en-US" dirty="0" smtClean="0"/>
              <a:t>の全体的な構造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3882776" y="3072844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sp>
        <p:nvSpPr>
          <p:cNvPr id="6" name="角丸四角形 5"/>
          <p:cNvSpPr/>
          <p:nvPr/>
        </p:nvSpPr>
        <p:spPr>
          <a:xfrm>
            <a:off x="2662095" y="2179445"/>
            <a:ext cx="1875139" cy="377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FbxScene</a:t>
            </a:r>
            <a:endParaRPr kumimoji="1" lang="ja-JP" altLang="en-US" dirty="0"/>
          </a:p>
        </p:txBody>
      </p:sp>
      <p:cxnSp>
        <p:nvCxnSpPr>
          <p:cNvPr id="11" name="曲線コネクタ 10"/>
          <p:cNvCxnSpPr>
            <a:stCxn id="6" idx="2"/>
            <a:endCxn id="4" idx="1"/>
          </p:cNvCxnSpPr>
          <p:nvPr/>
        </p:nvCxnSpPr>
        <p:spPr>
          <a:xfrm rot="16200000" flipH="1">
            <a:off x="3388789" y="2767392"/>
            <a:ext cx="704863" cy="283111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角丸四角形 19"/>
          <p:cNvSpPr/>
          <p:nvPr/>
        </p:nvSpPr>
        <p:spPr>
          <a:xfrm>
            <a:off x="5123684" y="3763509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22" name="曲線コネクタ 13"/>
          <p:cNvCxnSpPr>
            <a:stCxn id="4" idx="2"/>
            <a:endCxn id="20" idx="1"/>
          </p:cNvCxnSpPr>
          <p:nvPr/>
        </p:nvCxnSpPr>
        <p:spPr>
          <a:xfrm rot="16200000" flipH="1">
            <a:off x="4720951" y="3549311"/>
            <a:ext cx="502129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角丸四角形 33"/>
          <p:cNvSpPr/>
          <p:nvPr/>
        </p:nvSpPr>
        <p:spPr>
          <a:xfrm>
            <a:off x="5123684" y="4624795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35" name="曲線コネクタ 13"/>
          <p:cNvCxnSpPr>
            <a:stCxn id="4" idx="2"/>
            <a:endCxn id="34" idx="1"/>
          </p:cNvCxnSpPr>
          <p:nvPr/>
        </p:nvCxnSpPr>
        <p:spPr>
          <a:xfrm rot="16200000" flipH="1">
            <a:off x="4290308" y="3979954"/>
            <a:ext cx="1363415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角丸四角形 38"/>
          <p:cNvSpPr/>
          <p:nvPr/>
        </p:nvSpPr>
        <p:spPr>
          <a:xfrm>
            <a:off x="7427058" y="3768587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cxnSp>
        <p:nvCxnSpPr>
          <p:cNvPr id="47" name="曲線コネクタ 13"/>
          <p:cNvCxnSpPr>
            <a:stCxn id="20" idx="3"/>
            <a:endCxn id="39" idx="1"/>
          </p:cNvCxnSpPr>
          <p:nvPr/>
        </p:nvCxnSpPr>
        <p:spPr>
          <a:xfrm>
            <a:off x="6998823" y="3952045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角丸四角形 49"/>
          <p:cNvSpPr/>
          <p:nvPr/>
        </p:nvSpPr>
        <p:spPr>
          <a:xfrm>
            <a:off x="10008709" y="3444020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51" name="曲線コネクタ 13"/>
          <p:cNvCxnSpPr>
            <a:stCxn id="39" idx="3"/>
            <a:endCxn id="50" idx="1"/>
          </p:cNvCxnSpPr>
          <p:nvPr/>
        </p:nvCxnSpPr>
        <p:spPr>
          <a:xfrm flipV="1">
            <a:off x="9302197" y="3632556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/>
          <p:cNvSpPr/>
          <p:nvPr/>
        </p:nvSpPr>
        <p:spPr>
          <a:xfrm>
            <a:off x="10008709" y="4093154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60" name="曲線コネクタ 13"/>
          <p:cNvCxnSpPr>
            <a:stCxn id="39" idx="3"/>
            <a:endCxn id="59" idx="1"/>
          </p:cNvCxnSpPr>
          <p:nvPr/>
        </p:nvCxnSpPr>
        <p:spPr>
          <a:xfrm>
            <a:off x="9302197" y="3957123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角丸四角形 64"/>
          <p:cNvSpPr/>
          <p:nvPr/>
        </p:nvSpPr>
        <p:spPr>
          <a:xfrm>
            <a:off x="4537235" y="548608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sp>
        <p:nvSpPr>
          <p:cNvPr id="66" name="角丸四角形 65"/>
          <p:cNvSpPr/>
          <p:nvPr/>
        </p:nvSpPr>
        <p:spPr>
          <a:xfrm>
            <a:off x="4537234" y="617874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cxnSp>
        <p:nvCxnSpPr>
          <p:cNvPr id="67" name="曲線コネクタ 10"/>
          <p:cNvCxnSpPr>
            <a:stCxn id="6" idx="2"/>
            <a:endCxn id="65" idx="1"/>
          </p:cNvCxnSpPr>
          <p:nvPr/>
        </p:nvCxnSpPr>
        <p:spPr>
          <a:xfrm rot="16200000" flipH="1">
            <a:off x="2509400" y="3646782"/>
            <a:ext cx="3118100" cy="937570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曲線コネクタ 10"/>
          <p:cNvCxnSpPr>
            <a:stCxn id="6" idx="2"/>
            <a:endCxn id="66" idx="1"/>
          </p:cNvCxnSpPr>
          <p:nvPr/>
        </p:nvCxnSpPr>
        <p:spPr>
          <a:xfrm rot="16200000" flipH="1">
            <a:off x="2163069" y="3993112"/>
            <a:ext cx="3810760" cy="937569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角丸四角形 88"/>
          <p:cNvSpPr/>
          <p:nvPr/>
        </p:nvSpPr>
        <p:spPr>
          <a:xfrm>
            <a:off x="100222" y="1915647"/>
            <a:ext cx="1875139" cy="927357"/>
          </a:xfrm>
          <a:prstGeom prst="roundRect">
            <a:avLst/>
          </a:prstGeom>
          <a:solidFill>
            <a:srgbClr val="FFA3A3"/>
          </a:solidFill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FbxManager</a:t>
            </a:r>
            <a:endParaRPr kumimoji="1" lang="ja-JP" altLang="en-US" dirty="0"/>
          </a:p>
        </p:txBody>
      </p:sp>
      <p:sp>
        <p:nvSpPr>
          <p:cNvPr id="90" name="角丸四角形 89"/>
          <p:cNvSpPr/>
          <p:nvPr/>
        </p:nvSpPr>
        <p:spPr>
          <a:xfrm>
            <a:off x="100222" y="3763509"/>
            <a:ext cx="1875139" cy="656884"/>
          </a:xfrm>
          <a:prstGeom prst="roundRect">
            <a:avLst/>
          </a:prstGeom>
          <a:solidFill>
            <a:srgbClr val="B4AFF3"/>
          </a:solidFill>
          <a:ln w="28575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FbxImporter</a:t>
            </a:r>
            <a:endParaRPr kumimoji="1" lang="ja-JP" altLang="en-US" dirty="0"/>
          </a:p>
        </p:txBody>
      </p:sp>
      <p:cxnSp>
        <p:nvCxnSpPr>
          <p:cNvPr id="97" name="曲線コネクタ 13"/>
          <p:cNvCxnSpPr>
            <a:stCxn id="89" idx="3"/>
            <a:endCxn id="6" idx="1"/>
          </p:cNvCxnSpPr>
          <p:nvPr/>
        </p:nvCxnSpPr>
        <p:spPr>
          <a:xfrm flipV="1">
            <a:off x="1975361" y="2367981"/>
            <a:ext cx="686734" cy="11345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曲線コネクタ 13"/>
          <p:cNvCxnSpPr>
            <a:stCxn id="89" idx="2"/>
            <a:endCxn id="90" idx="0"/>
          </p:cNvCxnSpPr>
          <p:nvPr/>
        </p:nvCxnSpPr>
        <p:spPr>
          <a:xfrm rot="5400000">
            <a:off x="577540" y="3303256"/>
            <a:ext cx="920505" cy="1270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曲線コネクタ 13"/>
          <p:cNvCxnSpPr>
            <a:stCxn id="90" idx="3"/>
            <a:endCxn id="6" idx="1"/>
          </p:cNvCxnSpPr>
          <p:nvPr/>
        </p:nvCxnSpPr>
        <p:spPr>
          <a:xfrm flipV="1">
            <a:off x="1975361" y="2367981"/>
            <a:ext cx="686734" cy="1723970"/>
          </a:xfrm>
          <a:prstGeom prst="curvedConnector3">
            <a:avLst>
              <a:gd name="adj1" fmla="val 50000"/>
            </a:avLst>
          </a:prstGeom>
          <a:ln w="25400">
            <a:solidFill>
              <a:srgbClr val="B4AFF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角丸四角形 127"/>
          <p:cNvSpPr/>
          <p:nvPr/>
        </p:nvSpPr>
        <p:spPr>
          <a:xfrm>
            <a:off x="7729430" y="5229488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sp>
        <p:nvSpPr>
          <p:cNvPr id="129" name="角丸四角形 128"/>
          <p:cNvSpPr/>
          <p:nvPr/>
        </p:nvSpPr>
        <p:spPr>
          <a:xfrm>
            <a:off x="7754083" y="5863153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cxnSp>
        <p:nvCxnSpPr>
          <p:cNvPr id="130" name="曲線コネクタ 13"/>
          <p:cNvCxnSpPr>
            <a:stCxn id="65" idx="3"/>
            <a:endCxn id="128" idx="1"/>
          </p:cNvCxnSpPr>
          <p:nvPr/>
        </p:nvCxnSpPr>
        <p:spPr>
          <a:xfrm flipV="1">
            <a:off x="6816514" y="5418024"/>
            <a:ext cx="912916" cy="256593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曲線コネクタ 13"/>
          <p:cNvCxnSpPr>
            <a:stCxn id="65" idx="3"/>
            <a:endCxn id="129" idx="1"/>
          </p:cNvCxnSpPr>
          <p:nvPr/>
        </p:nvCxnSpPr>
        <p:spPr>
          <a:xfrm>
            <a:off x="6816514" y="5674617"/>
            <a:ext cx="937569" cy="377072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線コネクタ 13"/>
          <p:cNvCxnSpPr>
            <a:stCxn id="20" idx="3"/>
            <a:endCxn id="66" idx="3"/>
          </p:cNvCxnSpPr>
          <p:nvPr/>
        </p:nvCxnSpPr>
        <p:spPr>
          <a:xfrm flipH="1">
            <a:off x="6816513" y="3952045"/>
            <a:ext cx="182310" cy="2415232"/>
          </a:xfrm>
          <a:prstGeom prst="curvedConnector3">
            <a:avLst>
              <a:gd name="adj1" fmla="val -125391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線コネクタ 13"/>
          <p:cNvCxnSpPr>
            <a:stCxn id="20" idx="3"/>
            <a:endCxn id="65" idx="3"/>
          </p:cNvCxnSpPr>
          <p:nvPr/>
        </p:nvCxnSpPr>
        <p:spPr>
          <a:xfrm flipH="1">
            <a:off x="6816514" y="3952045"/>
            <a:ext cx="182309" cy="1722572"/>
          </a:xfrm>
          <a:prstGeom prst="curvedConnector3">
            <a:avLst>
              <a:gd name="adj1" fmla="val -125392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/>
          <p:cNvSpPr/>
          <p:nvPr/>
        </p:nvSpPr>
        <p:spPr>
          <a:xfrm>
            <a:off x="3735659" y="2843004"/>
            <a:ext cx="8227298" cy="2259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形吹き出し 4"/>
          <p:cNvSpPr/>
          <p:nvPr/>
        </p:nvSpPr>
        <p:spPr>
          <a:xfrm>
            <a:off x="7461529" y="863022"/>
            <a:ext cx="3957320" cy="1520327"/>
          </a:xfrm>
          <a:prstGeom prst="wedgeEllipseCallout">
            <a:avLst>
              <a:gd name="adj1" fmla="val -14550"/>
              <a:gd name="adj2" fmla="val 6308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今回</a:t>
            </a:r>
            <a:r>
              <a:rPr kumimoji="1" lang="ja-JP" altLang="en-US" dirty="0" smtClean="0"/>
              <a:t>は</a:t>
            </a:r>
            <a:r>
              <a:rPr kumimoji="1" lang="en-US" altLang="ja-JP" dirty="0" smtClean="0"/>
              <a:t>FBX</a:t>
            </a:r>
            <a:r>
              <a:rPr kumimoji="1" lang="ja-JP" altLang="en-US" dirty="0" smtClean="0"/>
              <a:t>から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データ</a:t>
            </a:r>
            <a:r>
              <a:rPr kumimoji="1" lang="ja-JP" altLang="en-US" dirty="0" smtClean="0"/>
              <a:t>の抽出はしないが、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次回にこのあたりで行う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処理</a:t>
            </a:r>
            <a:r>
              <a:rPr kumimoji="1" lang="ja-JP" altLang="en-US" dirty="0" smtClean="0"/>
              <a:t>を仮実装する</a:t>
            </a:r>
            <a:endParaRPr kumimoji="1" lang="en-US" altLang="ja-JP" dirty="0" smtClean="0"/>
          </a:p>
        </p:txBody>
      </p:sp>
      <p:cxnSp>
        <p:nvCxnSpPr>
          <p:cNvPr id="36" name="曲線コネクタ 13"/>
          <p:cNvCxnSpPr/>
          <p:nvPr/>
        </p:nvCxnSpPr>
        <p:spPr>
          <a:xfrm>
            <a:off x="6998823" y="4808253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角丸四角形 36"/>
          <p:cNvSpPr/>
          <p:nvPr/>
        </p:nvSpPr>
        <p:spPr>
          <a:xfrm>
            <a:off x="7427058" y="4624795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6999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課題での</a:t>
            </a:r>
            <a:r>
              <a:rPr lang="en-US" altLang="ja-JP" dirty="0" err="1" smtClean="0"/>
              <a:t>skinned_mesh</a:t>
            </a:r>
            <a:r>
              <a:rPr lang="ja-JP" altLang="en-US" dirty="0" smtClean="0"/>
              <a:t>の構造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144966" y="2074127"/>
            <a:ext cx="11931805" cy="465005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横巻き 4"/>
          <p:cNvSpPr/>
          <p:nvPr/>
        </p:nvSpPr>
        <p:spPr>
          <a:xfrm>
            <a:off x="4533063" y="1807323"/>
            <a:ext cx="3056865" cy="778934"/>
          </a:xfrm>
          <a:prstGeom prst="horizontalScroll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 err="1" smtClean="0"/>
              <a:t>skinned_mesh</a:t>
            </a:r>
            <a:endParaRPr kumimoji="1" lang="ja-JP" altLang="en-US" sz="3200" dirty="0"/>
          </a:p>
        </p:txBody>
      </p:sp>
      <p:sp>
        <p:nvSpPr>
          <p:cNvPr id="32" name="フローチャート: 複数書類 31"/>
          <p:cNvSpPr/>
          <p:nvPr/>
        </p:nvSpPr>
        <p:spPr>
          <a:xfrm>
            <a:off x="9268887" y="2690634"/>
            <a:ext cx="2585982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animation</a:t>
            </a:r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</p:txBody>
      </p:sp>
      <p:sp>
        <p:nvSpPr>
          <p:cNvPr id="33" name="フローチャート: 書類 32"/>
          <p:cNvSpPr/>
          <p:nvPr/>
        </p:nvSpPr>
        <p:spPr>
          <a:xfrm>
            <a:off x="353122" y="3323064"/>
            <a:ext cx="1799283" cy="3155796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scene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ja-JP" altLang="en-US" dirty="0"/>
          </a:p>
        </p:txBody>
      </p:sp>
      <p:sp>
        <p:nvSpPr>
          <p:cNvPr id="35" name="フローチャート: 複数書類 34"/>
          <p:cNvSpPr/>
          <p:nvPr/>
        </p:nvSpPr>
        <p:spPr>
          <a:xfrm>
            <a:off x="518871" y="3975410"/>
            <a:ext cx="1450966" cy="194588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node</a:t>
            </a:r>
            <a:endParaRPr kumimoji="1" lang="ja-JP" altLang="en-US" sz="2400" dirty="0"/>
          </a:p>
        </p:txBody>
      </p:sp>
      <p:sp>
        <p:nvSpPr>
          <p:cNvPr id="40" name="フローチャート: 複数書類 39"/>
          <p:cNvSpPr/>
          <p:nvPr/>
        </p:nvSpPr>
        <p:spPr>
          <a:xfrm>
            <a:off x="9491439" y="3997714"/>
            <a:ext cx="1783776" cy="1602814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 smtClean="0"/>
              <a:t>keyframe</a:t>
            </a:r>
            <a:endParaRPr kumimoji="1" lang="ja-JP" altLang="en-US" sz="2400" dirty="0"/>
          </a:p>
        </p:txBody>
      </p:sp>
      <p:sp>
        <p:nvSpPr>
          <p:cNvPr id="48" name="フローチャート: 複数書類 47"/>
          <p:cNvSpPr/>
          <p:nvPr/>
        </p:nvSpPr>
        <p:spPr>
          <a:xfrm>
            <a:off x="2353127" y="2690634"/>
            <a:ext cx="4297447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mesh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50" name="フローチャート: 複数書類 49"/>
          <p:cNvSpPr/>
          <p:nvPr/>
        </p:nvSpPr>
        <p:spPr>
          <a:xfrm>
            <a:off x="253875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vertex</a:t>
            </a:r>
            <a:endParaRPr kumimoji="1" lang="ja-JP" altLang="en-US" sz="2400" dirty="0"/>
          </a:p>
        </p:txBody>
      </p:sp>
      <p:sp>
        <p:nvSpPr>
          <p:cNvPr id="51" name="フローチャート: 複数書類 50"/>
          <p:cNvSpPr/>
          <p:nvPr/>
        </p:nvSpPr>
        <p:spPr>
          <a:xfrm>
            <a:off x="4360566" y="4653801"/>
            <a:ext cx="1516126" cy="1052647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subset</a:t>
            </a:r>
            <a:endParaRPr kumimoji="1" lang="ja-JP" altLang="en-US" sz="2400" dirty="0"/>
          </a:p>
        </p:txBody>
      </p:sp>
      <p:sp>
        <p:nvSpPr>
          <p:cNvPr id="52" name="フローチャート: 複数書類 51"/>
          <p:cNvSpPr/>
          <p:nvPr/>
        </p:nvSpPr>
        <p:spPr>
          <a:xfrm>
            <a:off x="6851296" y="2684459"/>
            <a:ext cx="2195689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material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53" name="フローチャート: 複数書類 52"/>
          <p:cNvSpPr/>
          <p:nvPr/>
        </p:nvSpPr>
        <p:spPr>
          <a:xfrm>
            <a:off x="7037313" y="4946790"/>
            <a:ext cx="1384576" cy="97450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texture</a:t>
            </a:r>
            <a:endParaRPr kumimoji="1" lang="ja-JP" altLang="en-US" sz="2400" dirty="0"/>
          </a:p>
        </p:txBody>
      </p:sp>
      <p:sp>
        <p:nvSpPr>
          <p:cNvPr id="54" name="フローチャート: 書類 53"/>
          <p:cNvSpPr/>
          <p:nvPr/>
        </p:nvSpPr>
        <p:spPr>
          <a:xfrm>
            <a:off x="7037313" y="3997714"/>
            <a:ext cx="1409696" cy="629691"/>
          </a:xfrm>
          <a:prstGeom prst="flowChart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color</a:t>
            </a:r>
          </a:p>
        </p:txBody>
      </p:sp>
      <p:sp>
        <p:nvSpPr>
          <p:cNvPr id="56" name="フローチャート: 書類 55"/>
          <p:cNvSpPr/>
          <p:nvPr/>
        </p:nvSpPr>
        <p:spPr>
          <a:xfrm>
            <a:off x="2549491" y="4627404"/>
            <a:ext cx="1498621" cy="1743869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skeleton</a:t>
            </a:r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57" name="フローチャート: 複数書類 56"/>
          <p:cNvSpPr/>
          <p:nvPr/>
        </p:nvSpPr>
        <p:spPr>
          <a:xfrm>
            <a:off x="2681801" y="5124075"/>
            <a:ext cx="1151367" cy="1034562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bone</a:t>
            </a:r>
            <a:endParaRPr kumimoji="1" lang="ja-JP" altLang="en-US" sz="2400" dirty="0"/>
          </a:p>
        </p:txBody>
      </p:sp>
      <p:sp>
        <p:nvSpPr>
          <p:cNvPr id="58" name="フローチャート: 複数書類 57"/>
          <p:cNvSpPr/>
          <p:nvPr/>
        </p:nvSpPr>
        <p:spPr>
          <a:xfrm>
            <a:off x="433636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index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7133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課題での</a:t>
            </a:r>
            <a:r>
              <a:rPr lang="en-US" altLang="ja-JP" dirty="0" err="1" smtClean="0"/>
              <a:t>skinned_mesh</a:t>
            </a:r>
            <a:r>
              <a:rPr lang="ja-JP" altLang="en-US" dirty="0" smtClean="0"/>
              <a:t>の構造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144966" y="2074127"/>
            <a:ext cx="11931805" cy="465005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横巻き 4"/>
          <p:cNvSpPr/>
          <p:nvPr/>
        </p:nvSpPr>
        <p:spPr>
          <a:xfrm>
            <a:off x="4533063" y="1807323"/>
            <a:ext cx="3056865" cy="778934"/>
          </a:xfrm>
          <a:prstGeom prst="horizontalScroll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 err="1" smtClean="0"/>
              <a:t>skinned_mesh</a:t>
            </a:r>
            <a:endParaRPr kumimoji="1" lang="ja-JP" altLang="en-US" sz="3200" dirty="0"/>
          </a:p>
        </p:txBody>
      </p:sp>
      <p:sp>
        <p:nvSpPr>
          <p:cNvPr id="33" name="フローチャート: 書類 32"/>
          <p:cNvSpPr/>
          <p:nvPr/>
        </p:nvSpPr>
        <p:spPr>
          <a:xfrm>
            <a:off x="353122" y="3323064"/>
            <a:ext cx="1799283" cy="3155796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scene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ja-JP" altLang="en-US" dirty="0"/>
          </a:p>
        </p:txBody>
      </p:sp>
      <p:sp>
        <p:nvSpPr>
          <p:cNvPr id="35" name="フローチャート: 複数書類 34"/>
          <p:cNvSpPr/>
          <p:nvPr/>
        </p:nvSpPr>
        <p:spPr>
          <a:xfrm>
            <a:off x="518871" y="3975410"/>
            <a:ext cx="1450966" cy="194588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node</a:t>
            </a:r>
            <a:endParaRPr kumimoji="1" lang="ja-JP" altLang="en-US" sz="2400" dirty="0"/>
          </a:p>
        </p:txBody>
      </p:sp>
      <p:sp>
        <p:nvSpPr>
          <p:cNvPr id="48" name="フローチャート: 複数書類 47"/>
          <p:cNvSpPr/>
          <p:nvPr/>
        </p:nvSpPr>
        <p:spPr>
          <a:xfrm>
            <a:off x="2353127" y="2690634"/>
            <a:ext cx="4297447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mesh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50" name="フローチャート: 複数書類 49"/>
          <p:cNvSpPr/>
          <p:nvPr/>
        </p:nvSpPr>
        <p:spPr>
          <a:xfrm>
            <a:off x="253875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vertex</a:t>
            </a:r>
            <a:endParaRPr kumimoji="1" lang="ja-JP" altLang="en-US" sz="2400" dirty="0"/>
          </a:p>
        </p:txBody>
      </p:sp>
      <p:sp>
        <p:nvSpPr>
          <p:cNvPr id="53" name="フローチャート: 複数書類 52"/>
          <p:cNvSpPr/>
          <p:nvPr/>
        </p:nvSpPr>
        <p:spPr>
          <a:xfrm>
            <a:off x="7037313" y="4946790"/>
            <a:ext cx="1384576" cy="97450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texture</a:t>
            </a:r>
            <a:endParaRPr kumimoji="1" lang="ja-JP" altLang="en-US" sz="2400" dirty="0"/>
          </a:p>
        </p:txBody>
      </p:sp>
      <p:sp>
        <p:nvSpPr>
          <p:cNvPr id="54" name="フローチャート: 書類 53"/>
          <p:cNvSpPr/>
          <p:nvPr/>
        </p:nvSpPr>
        <p:spPr>
          <a:xfrm>
            <a:off x="7037313" y="3997714"/>
            <a:ext cx="1409696" cy="629691"/>
          </a:xfrm>
          <a:prstGeom prst="flowChart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color</a:t>
            </a:r>
          </a:p>
        </p:txBody>
      </p:sp>
      <p:sp>
        <p:nvSpPr>
          <p:cNvPr id="58" name="フローチャート: 複数書類 57"/>
          <p:cNvSpPr/>
          <p:nvPr/>
        </p:nvSpPr>
        <p:spPr>
          <a:xfrm>
            <a:off x="433636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index</a:t>
            </a:r>
            <a:endParaRPr kumimoji="1" lang="ja-JP" altLang="en-US" sz="2400" dirty="0"/>
          </a:p>
        </p:txBody>
      </p:sp>
      <p:sp>
        <p:nvSpPr>
          <p:cNvPr id="16" name="フローチャート: 複数書類 15"/>
          <p:cNvSpPr/>
          <p:nvPr/>
        </p:nvSpPr>
        <p:spPr>
          <a:xfrm>
            <a:off x="4360566" y="4653801"/>
            <a:ext cx="1516126" cy="1052647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subset</a:t>
            </a:r>
            <a:endParaRPr kumimoji="1" lang="ja-JP" altLang="en-US" sz="2400" dirty="0"/>
          </a:p>
        </p:txBody>
      </p:sp>
      <p:sp>
        <p:nvSpPr>
          <p:cNvPr id="17" name="フローチャート: 書類 16"/>
          <p:cNvSpPr/>
          <p:nvPr/>
        </p:nvSpPr>
        <p:spPr>
          <a:xfrm>
            <a:off x="2549491" y="4627404"/>
            <a:ext cx="1498621" cy="1743869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skeleton</a:t>
            </a:r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20" name="フローチャート: 複数書類 19"/>
          <p:cNvSpPr/>
          <p:nvPr/>
        </p:nvSpPr>
        <p:spPr>
          <a:xfrm>
            <a:off x="2681801" y="5124075"/>
            <a:ext cx="1151367" cy="1034562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bone</a:t>
            </a:r>
            <a:endParaRPr kumimoji="1" lang="ja-JP" altLang="en-US" sz="2400" dirty="0"/>
          </a:p>
        </p:txBody>
      </p:sp>
      <p:sp>
        <p:nvSpPr>
          <p:cNvPr id="21" name="正方形/長方形 20"/>
          <p:cNvSpPr/>
          <p:nvPr/>
        </p:nvSpPr>
        <p:spPr>
          <a:xfrm>
            <a:off x="2431448" y="4527619"/>
            <a:ext cx="1652072" cy="19450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フローチャート: 複数書類 51"/>
          <p:cNvSpPr/>
          <p:nvPr/>
        </p:nvSpPr>
        <p:spPr>
          <a:xfrm>
            <a:off x="6851296" y="2684459"/>
            <a:ext cx="2195689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material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19" name="円形吹き出し 18"/>
          <p:cNvSpPr/>
          <p:nvPr/>
        </p:nvSpPr>
        <p:spPr>
          <a:xfrm>
            <a:off x="144966" y="2212079"/>
            <a:ext cx="3501835" cy="1136285"/>
          </a:xfrm>
          <a:prstGeom prst="wedgeEllipseCallout">
            <a:avLst>
              <a:gd name="adj1" fmla="val 18872"/>
              <a:gd name="adj2" fmla="val 134341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次回追加予定の部分。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今回</a:t>
            </a:r>
            <a:r>
              <a:rPr kumimoji="1" lang="ja-JP" altLang="en-US" dirty="0" smtClean="0"/>
              <a:t>はここを仮実装。</a:t>
            </a:r>
            <a:endParaRPr kumimoji="1" lang="en-US" altLang="ja-JP" dirty="0" smtClean="0"/>
          </a:p>
        </p:txBody>
      </p:sp>
      <p:sp>
        <p:nvSpPr>
          <p:cNvPr id="23" name="フローチャート: 複数書類 22"/>
          <p:cNvSpPr/>
          <p:nvPr/>
        </p:nvSpPr>
        <p:spPr>
          <a:xfrm>
            <a:off x="6851296" y="2684459"/>
            <a:ext cx="2195689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material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24" name="フローチャート: 複数書類 23"/>
          <p:cNvSpPr/>
          <p:nvPr/>
        </p:nvSpPr>
        <p:spPr>
          <a:xfrm>
            <a:off x="7037313" y="4946790"/>
            <a:ext cx="1384576" cy="97450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texture</a:t>
            </a:r>
            <a:endParaRPr kumimoji="1" lang="ja-JP" altLang="en-US" sz="2400" dirty="0"/>
          </a:p>
        </p:txBody>
      </p:sp>
      <p:sp>
        <p:nvSpPr>
          <p:cNvPr id="25" name="フローチャート: 書類 24"/>
          <p:cNvSpPr/>
          <p:nvPr/>
        </p:nvSpPr>
        <p:spPr>
          <a:xfrm>
            <a:off x="7037313" y="3997714"/>
            <a:ext cx="1409696" cy="629691"/>
          </a:xfrm>
          <a:prstGeom prst="flowChart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color</a:t>
            </a:r>
          </a:p>
        </p:txBody>
      </p:sp>
    </p:spTree>
    <p:extLst>
      <p:ext uri="{BB962C8B-B14F-4D97-AF65-F5344CB8AC3E}">
        <p14:creationId xmlns:p14="http://schemas.microsoft.com/office/powerpoint/2010/main" val="345127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スキニングするには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600" y="1935481"/>
            <a:ext cx="5029200" cy="1341120"/>
          </a:xfrm>
        </p:spPr>
        <p:txBody>
          <a:bodyPr>
            <a:normAutofit lnSpcReduction="10000"/>
          </a:bodyPr>
          <a:lstStyle/>
          <a:p>
            <a:r>
              <a:rPr lang="ja-JP" altLang="en-US" dirty="0" smtClean="0"/>
              <a:t>必要</a:t>
            </a:r>
            <a:r>
              <a:rPr lang="ja-JP" altLang="en-US" dirty="0"/>
              <a:t>なデータ</a:t>
            </a:r>
            <a:endParaRPr lang="en-US" altLang="ja-JP" dirty="0"/>
          </a:p>
          <a:p>
            <a:pPr lvl="1"/>
            <a:r>
              <a:rPr lang="ja-JP" altLang="en-US" dirty="0"/>
              <a:t>ボーン変換行列</a:t>
            </a:r>
            <a:endParaRPr lang="en-US" altLang="ja-JP" dirty="0"/>
          </a:p>
          <a:p>
            <a:pPr lvl="1"/>
            <a:r>
              <a:rPr lang="ja-JP" altLang="en-US" dirty="0"/>
              <a:t>影響力頂点データ</a:t>
            </a:r>
            <a:endParaRPr lang="en-US" altLang="ja-JP" dirty="0"/>
          </a:p>
          <a:p>
            <a:pPr marL="0" indent="0">
              <a:buNone/>
            </a:pPr>
            <a:endParaRPr lang="en-US" altLang="ja-JP" dirty="0" smtClean="0"/>
          </a:p>
        </p:txBody>
      </p:sp>
      <p:pic>
        <p:nvPicPr>
          <p:cNvPr id="1026" name="Picture 2" descr="gmpg_01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79" y="704088"/>
            <a:ext cx="6021759" cy="501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角丸四角形 4"/>
          <p:cNvSpPr/>
          <p:nvPr/>
        </p:nvSpPr>
        <p:spPr>
          <a:xfrm>
            <a:off x="609600" y="3562500"/>
            <a:ext cx="2311724" cy="1576427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 smtClean="0"/>
              <a:t>頂点データ</a:t>
            </a:r>
            <a:endParaRPr kumimoji="1" lang="en-US" altLang="ja-JP" dirty="0" smtClean="0"/>
          </a:p>
          <a:p>
            <a:r>
              <a:rPr kumimoji="1" lang="en-US" altLang="ja-JP" dirty="0" smtClean="0"/>
              <a:t>float3 Position</a:t>
            </a:r>
          </a:p>
          <a:p>
            <a:r>
              <a:rPr kumimoji="1" lang="en-US" altLang="ja-JP" dirty="0" smtClean="0"/>
              <a:t>float4 </a:t>
            </a:r>
            <a:r>
              <a:rPr kumimoji="1" lang="en-US" altLang="ja-JP" dirty="0" err="1" smtClean="0"/>
              <a:t>BoneWeights</a:t>
            </a:r>
            <a:endParaRPr kumimoji="1" lang="en-US" altLang="ja-JP" dirty="0" smtClean="0"/>
          </a:p>
          <a:p>
            <a:r>
              <a:rPr kumimoji="1" lang="en-US" altLang="ja-JP" dirty="0" smtClean="0"/>
              <a:t>int4    </a:t>
            </a:r>
            <a:r>
              <a:rPr kumimoji="1" lang="en-US" altLang="ja-JP" dirty="0" err="1" smtClean="0"/>
              <a:t>BoneIndices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3289331" y="3562500"/>
            <a:ext cx="2469141" cy="7930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accent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 err="1" smtClean="0"/>
              <a:t>BoneTransform</a:t>
            </a:r>
            <a:r>
              <a:rPr kumimoji="1" lang="en-US" altLang="ja-JP" sz="2000" dirty="0" smtClean="0"/>
              <a:t>[0]</a:t>
            </a:r>
            <a:endParaRPr kumimoji="1" lang="ja-JP" altLang="en-US" sz="2000" dirty="0"/>
          </a:p>
        </p:txBody>
      </p:sp>
      <p:sp>
        <p:nvSpPr>
          <p:cNvPr id="7" name="正方形/長方形 6"/>
          <p:cNvSpPr/>
          <p:nvPr/>
        </p:nvSpPr>
        <p:spPr>
          <a:xfrm>
            <a:off x="3289331" y="4355597"/>
            <a:ext cx="2469141" cy="10370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accent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 err="1" smtClean="0"/>
              <a:t>BoneTransform</a:t>
            </a:r>
            <a:r>
              <a:rPr kumimoji="1" lang="en-US" altLang="ja-JP" sz="2000" dirty="0" smtClean="0"/>
              <a:t>[1]</a:t>
            </a:r>
            <a:endParaRPr kumimoji="1" lang="ja-JP" altLang="en-US" sz="2000" dirty="0"/>
          </a:p>
        </p:txBody>
      </p:sp>
      <p:sp>
        <p:nvSpPr>
          <p:cNvPr id="9" name="コンテンツ プレースホルダー 2"/>
          <p:cNvSpPr txBox="1">
            <a:spLocks/>
          </p:cNvSpPr>
          <p:nvPr/>
        </p:nvSpPr>
        <p:spPr>
          <a:xfrm>
            <a:off x="883630" y="5803393"/>
            <a:ext cx="11264608" cy="830337"/>
          </a:xfrm>
          <a:prstGeom prst="rect">
            <a:avLst/>
          </a:prstGeom>
        </p:spPr>
        <p:txBody>
          <a:bodyPr vert="horz" rtlCol="0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 smtClean="0"/>
              <a:t>頂点計算</a:t>
            </a: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p += Position * </a:t>
            </a:r>
            <a:r>
              <a:rPr lang="en-US" altLang="ja-JP" dirty="0" err="1" smtClean="0"/>
              <a:t>BoneTransform</a:t>
            </a:r>
            <a:r>
              <a:rPr lang="en-US" altLang="ja-JP" dirty="0" smtClean="0"/>
              <a:t>[</a:t>
            </a:r>
            <a:r>
              <a:rPr lang="en-US" altLang="ja-JP" dirty="0" err="1" smtClean="0"/>
              <a:t>BoneIndices</a:t>
            </a:r>
            <a:r>
              <a:rPr lang="en-US" altLang="ja-JP" dirty="0" smtClean="0"/>
              <a:t>[</a:t>
            </a:r>
            <a:r>
              <a:rPr lang="en-US" altLang="ja-JP" dirty="0" err="1" smtClean="0"/>
              <a:t>i</a:t>
            </a:r>
            <a:r>
              <a:rPr lang="en-US" altLang="ja-JP" dirty="0" smtClean="0"/>
              <a:t>]] * </a:t>
            </a:r>
            <a:r>
              <a:rPr lang="en-US" altLang="ja-JP" dirty="0" err="1" smtClean="0"/>
              <a:t>BoneWeight</a:t>
            </a:r>
            <a:r>
              <a:rPr lang="en-US" altLang="ja-JP" dirty="0" smtClean="0"/>
              <a:t>[</a:t>
            </a:r>
            <a:r>
              <a:rPr lang="en-US" altLang="ja-JP" dirty="0" err="1" smtClean="0"/>
              <a:t>i</a:t>
            </a:r>
            <a:r>
              <a:rPr lang="en-US" altLang="ja-JP" dirty="0" smtClean="0"/>
              <a:t>];</a:t>
            </a:r>
          </a:p>
        </p:txBody>
      </p:sp>
      <p:sp>
        <p:nvSpPr>
          <p:cNvPr id="10" name="角丸四角形吹き出し 9"/>
          <p:cNvSpPr/>
          <p:nvPr/>
        </p:nvSpPr>
        <p:spPr>
          <a:xfrm>
            <a:off x="3759253" y="1886147"/>
            <a:ext cx="2499111" cy="896080"/>
          </a:xfrm>
          <a:prstGeom prst="wedgeRoundRectCallout">
            <a:avLst>
              <a:gd name="adj1" fmla="val -58324"/>
              <a:gd name="adj2" fmla="val 25092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今回はこの行列を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FBX</a:t>
            </a:r>
            <a:r>
              <a:rPr kumimoji="1" lang="ja-JP" altLang="en-US" dirty="0" smtClean="0"/>
              <a:t>から取り出さず、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/>
              <a:t>仮</a:t>
            </a:r>
            <a:r>
              <a:rPr kumimoji="1" lang="ja-JP" altLang="en-US" dirty="0" smtClean="0"/>
              <a:t>で用意する。</a:t>
            </a:r>
            <a:endParaRPr kumimoji="1" lang="ja-JP" altLang="en-US" dirty="0"/>
          </a:p>
        </p:txBody>
      </p:sp>
      <p:sp>
        <p:nvSpPr>
          <p:cNvPr id="11" name="二等辺三角形 10"/>
          <p:cNvSpPr/>
          <p:nvPr/>
        </p:nvSpPr>
        <p:spPr>
          <a:xfrm>
            <a:off x="7289952" y="2643247"/>
            <a:ext cx="527051" cy="1122569"/>
          </a:xfrm>
          <a:prstGeom prst="triangle">
            <a:avLst>
              <a:gd name="adj" fmla="val 47826"/>
            </a:avLst>
          </a:prstGeom>
          <a:solidFill>
            <a:schemeClr val="accent3">
              <a:alpha val="50196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400" dirty="0"/>
          </a:p>
        </p:txBody>
      </p:sp>
      <p:sp>
        <p:nvSpPr>
          <p:cNvPr id="12" name="二等辺三角形 11"/>
          <p:cNvSpPr/>
          <p:nvPr/>
        </p:nvSpPr>
        <p:spPr>
          <a:xfrm>
            <a:off x="7289952" y="1520678"/>
            <a:ext cx="527051" cy="1122569"/>
          </a:xfrm>
          <a:prstGeom prst="triangle">
            <a:avLst>
              <a:gd name="adj" fmla="val 47826"/>
            </a:avLst>
          </a:prstGeom>
          <a:solidFill>
            <a:schemeClr val="accent3">
              <a:alpha val="50196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400" dirty="0"/>
          </a:p>
        </p:txBody>
      </p:sp>
      <p:sp>
        <p:nvSpPr>
          <p:cNvPr id="15" name="二等辺三角形 14"/>
          <p:cNvSpPr/>
          <p:nvPr/>
        </p:nvSpPr>
        <p:spPr>
          <a:xfrm>
            <a:off x="10748300" y="2782227"/>
            <a:ext cx="527051" cy="902837"/>
          </a:xfrm>
          <a:prstGeom prst="triangle">
            <a:avLst>
              <a:gd name="adj" fmla="val 9742"/>
            </a:avLst>
          </a:prstGeom>
          <a:solidFill>
            <a:schemeClr val="accent3">
              <a:alpha val="50196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400" dirty="0"/>
          </a:p>
        </p:txBody>
      </p:sp>
      <p:sp>
        <p:nvSpPr>
          <p:cNvPr id="16" name="二等辺三角形 15"/>
          <p:cNvSpPr/>
          <p:nvPr/>
        </p:nvSpPr>
        <p:spPr>
          <a:xfrm rot="19463230">
            <a:off x="10207222" y="1683883"/>
            <a:ext cx="527051" cy="1122569"/>
          </a:xfrm>
          <a:prstGeom prst="triangle">
            <a:avLst>
              <a:gd name="adj" fmla="val 47826"/>
            </a:avLst>
          </a:prstGeom>
          <a:solidFill>
            <a:schemeClr val="accent3">
              <a:alpha val="50196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6731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ボーン変換行列と頂点データの関係</a:t>
            </a:r>
            <a:endParaRPr kumimoji="1" lang="ja-JP" altLang="en-US" dirty="0"/>
          </a:p>
        </p:txBody>
      </p:sp>
      <p:pic>
        <p:nvPicPr>
          <p:cNvPr id="8" name="コンテンツ プレースホルダー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7679" y="2021626"/>
            <a:ext cx="2156272" cy="2470729"/>
          </a:xfrm>
          <a:prstGeom prst="rect">
            <a:avLst/>
          </a:prstGeom>
        </p:spPr>
      </p:pic>
      <p:sp>
        <p:nvSpPr>
          <p:cNvPr id="7" name="楕円 6"/>
          <p:cNvSpPr/>
          <p:nvPr/>
        </p:nvSpPr>
        <p:spPr>
          <a:xfrm>
            <a:off x="9450042" y="3640797"/>
            <a:ext cx="142666" cy="14266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8"/>
          <p:cNvSpPr/>
          <p:nvPr/>
        </p:nvSpPr>
        <p:spPr>
          <a:xfrm>
            <a:off x="10009032" y="3369969"/>
            <a:ext cx="495418" cy="1011758"/>
          </a:xfrm>
          <a:prstGeom prst="triangle">
            <a:avLst>
              <a:gd name="adj" fmla="val 5060"/>
            </a:avLst>
          </a:prstGeom>
          <a:solidFill>
            <a:srgbClr val="C0CF3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1</a:t>
            </a:r>
            <a:endParaRPr kumimoji="1" lang="ja-JP" altLang="en-US" sz="2400" dirty="0"/>
          </a:p>
        </p:txBody>
      </p:sp>
      <p:sp>
        <p:nvSpPr>
          <p:cNvPr id="10" name="二等辺三角形 9"/>
          <p:cNvSpPr/>
          <p:nvPr/>
        </p:nvSpPr>
        <p:spPr>
          <a:xfrm rot="19473406">
            <a:off x="9453037" y="2341260"/>
            <a:ext cx="527051" cy="1122569"/>
          </a:xfrm>
          <a:prstGeom prst="triangle">
            <a:avLst>
              <a:gd name="adj" fmla="val 47826"/>
            </a:avLst>
          </a:prstGeom>
          <a:solidFill>
            <a:srgbClr val="C0CF3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/>
              <a:t>2</a:t>
            </a:r>
            <a:endParaRPr kumimoji="1" lang="ja-JP" altLang="en-US" sz="2400" dirty="0"/>
          </a:p>
        </p:txBody>
      </p:sp>
      <p:sp>
        <p:nvSpPr>
          <p:cNvPr id="11" name="正方形/長方形 10"/>
          <p:cNvSpPr/>
          <p:nvPr/>
        </p:nvSpPr>
        <p:spPr>
          <a:xfrm>
            <a:off x="780306" y="2463892"/>
            <a:ext cx="2469141" cy="7930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accent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 err="1" smtClean="0"/>
              <a:t>BoneTransform</a:t>
            </a:r>
            <a:r>
              <a:rPr kumimoji="1" lang="en-US" altLang="ja-JP" sz="2000" dirty="0" smtClean="0"/>
              <a:t>[0]</a:t>
            </a:r>
            <a:endParaRPr kumimoji="1" lang="ja-JP" altLang="en-US" sz="2000" dirty="0"/>
          </a:p>
        </p:txBody>
      </p:sp>
      <p:sp>
        <p:nvSpPr>
          <p:cNvPr id="13" name="正方形/長方形 12"/>
          <p:cNvSpPr/>
          <p:nvPr/>
        </p:nvSpPr>
        <p:spPr>
          <a:xfrm>
            <a:off x="780306" y="3256990"/>
            <a:ext cx="2469141" cy="7930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accent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 err="1" smtClean="0"/>
              <a:t>BoneTransform</a:t>
            </a:r>
            <a:r>
              <a:rPr kumimoji="1" lang="en-US" altLang="ja-JP" sz="2000" dirty="0" smtClean="0"/>
              <a:t>[1]</a:t>
            </a:r>
            <a:endParaRPr kumimoji="1" lang="ja-JP" altLang="en-US" sz="2000" dirty="0"/>
          </a:p>
        </p:txBody>
      </p:sp>
      <p:sp>
        <p:nvSpPr>
          <p:cNvPr id="14" name="正方形/長方形 13"/>
          <p:cNvSpPr/>
          <p:nvPr/>
        </p:nvSpPr>
        <p:spPr>
          <a:xfrm>
            <a:off x="780306" y="4050088"/>
            <a:ext cx="2469141" cy="7930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accent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 err="1" smtClean="0"/>
              <a:t>BoneTransform</a:t>
            </a:r>
            <a:r>
              <a:rPr kumimoji="1" lang="en-US" altLang="ja-JP" sz="2000" dirty="0" smtClean="0"/>
              <a:t>[2]</a:t>
            </a:r>
            <a:endParaRPr kumimoji="1" lang="ja-JP" altLang="en-US" sz="2000" dirty="0"/>
          </a:p>
        </p:txBody>
      </p:sp>
      <p:sp>
        <p:nvSpPr>
          <p:cNvPr id="15" name="正方形/長方形 14"/>
          <p:cNvSpPr/>
          <p:nvPr/>
        </p:nvSpPr>
        <p:spPr>
          <a:xfrm>
            <a:off x="780305" y="4843186"/>
            <a:ext cx="2469141" cy="7930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accent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 smtClean="0"/>
              <a:t>:</a:t>
            </a:r>
            <a:endParaRPr kumimoji="1" lang="ja-JP" altLang="en-US" sz="2000" dirty="0"/>
          </a:p>
        </p:txBody>
      </p:sp>
      <p:sp>
        <p:nvSpPr>
          <p:cNvPr id="16" name="正方形/長方形 15"/>
          <p:cNvSpPr/>
          <p:nvPr/>
        </p:nvSpPr>
        <p:spPr>
          <a:xfrm>
            <a:off x="780304" y="5636284"/>
            <a:ext cx="2469141" cy="7930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chemeClr val="accent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 err="1" smtClean="0"/>
              <a:t>BoneTransform</a:t>
            </a:r>
            <a:r>
              <a:rPr kumimoji="1" lang="en-US" altLang="ja-JP" sz="2000" dirty="0" smtClean="0"/>
              <a:t>[n]</a:t>
            </a:r>
            <a:endParaRPr kumimoji="1" lang="ja-JP" altLang="en-US" sz="2000" dirty="0"/>
          </a:p>
        </p:txBody>
      </p:sp>
      <p:sp>
        <p:nvSpPr>
          <p:cNvPr id="17" name="角丸四角形吹き出し 16"/>
          <p:cNvSpPr/>
          <p:nvPr/>
        </p:nvSpPr>
        <p:spPr>
          <a:xfrm>
            <a:off x="6032810" y="3783463"/>
            <a:ext cx="2691465" cy="1059723"/>
          </a:xfrm>
          <a:prstGeom prst="wedgeRoundRectCallout">
            <a:avLst>
              <a:gd name="adj1" fmla="val 74267"/>
              <a:gd name="adj2" fmla="val -48499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この頂点は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ボーン１とボーン２に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影響して</a:t>
            </a:r>
            <a:r>
              <a:rPr kumimoji="1" lang="ja-JP" altLang="en-US" dirty="0" smtClean="0"/>
              <a:t>いる</a:t>
            </a:r>
            <a:endParaRPr kumimoji="1" lang="en-US" altLang="ja-JP" dirty="0" smtClean="0"/>
          </a:p>
        </p:txBody>
      </p:sp>
      <p:sp>
        <p:nvSpPr>
          <p:cNvPr id="18" name="角丸四角形吹き出し 17"/>
          <p:cNvSpPr/>
          <p:nvPr/>
        </p:nvSpPr>
        <p:spPr>
          <a:xfrm>
            <a:off x="7481947" y="4973110"/>
            <a:ext cx="2527086" cy="1606110"/>
          </a:xfrm>
          <a:prstGeom prst="wedgeRoundRectCallout">
            <a:avLst>
              <a:gd name="adj1" fmla="val 28520"/>
              <a:gd name="adj2" fmla="val -115454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 err="1" smtClean="0"/>
              <a:t>bone_index</a:t>
            </a:r>
            <a:r>
              <a:rPr kumimoji="1" lang="en-US" altLang="ja-JP" dirty="0" smtClean="0"/>
              <a:t>[0] = 1;</a:t>
            </a:r>
          </a:p>
          <a:p>
            <a:r>
              <a:rPr kumimoji="1" lang="en-US" altLang="ja-JP" dirty="0" err="1" smtClean="0"/>
              <a:t>bone_index</a:t>
            </a:r>
            <a:r>
              <a:rPr kumimoji="1" lang="en-US" altLang="ja-JP" dirty="0" smtClean="0"/>
              <a:t>[1] = 2;</a:t>
            </a:r>
          </a:p>
          <a:p>
            <a:r>
              <a:rPr kumimoji="1" lang="en-US" altLang="ja-JP" dirty="0" err="1" smtClean="0"/>
              <a:t>bone_weight</a:t>
            </a:r>
            <a:r>
              <a:rPr kumimoji="1" lang="en-US" altLang="ja-JP" dirty="0" smtClean="0"/>
              <a:t>[0] = 0.3;</a:t>
            </a:r>
          </a:p>
          <a:p>
            <a:r>
              <a:rPr kumimoji="1" lang="en-US" altLang="ja-JP" dirty="0" err="1" smtClean="0"/>
              <a:t>Bone_weight</a:t>
            </a:r>
            <a:r>
              <a:rPr kumimoji="1" lang="en-US" altLang="ja-JP" dirty="0" smtClean="0"/>
              <a:t>[1] = 0.7;</a:t>
            </a:r>
          </a:p>
        </p:txBody>
      </p:sp>
      <p:cxnSp>
        <p:nvCxnSpPr>
          <p:cNvPr id="20" name="曲線コネクタ 19"/>
          <p:cNvCxnSpPr>
            <a:endCxn id="13" idx="3"/>
          </p:cNvCxnSpPr>
          <p:nvPr/>
        </p:nvCxnSpPr>
        <p:spPr>
          <a:xfrm rot="10800000">
            <a:off x="3249447" y="3653540"/>
            <a:ext cx="4366838" cy="1743653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曲線コネクタ 22"/>
          <p:cNvCxnSpPr>
            <a:endCxn id="14" idx="3"/>
          </p:cNvCxnSpPr>
          <p:nvPr/>
        </p:nvCxnSpPr>
        <p:spPr>
          <a:xfrm rot="10800000">
            <a:off x="3249447" y="4446638"/>
            <a:ext cx="4366838" cy="1189649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29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実習内容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スキニング処理を行い、メッシュが意図通り変形することを確認する。</a:t>
            </a:r>
            <a:endParaRPr lang="en-US" altLang="ja-JP" dirty="0" smtClean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3542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2607</TotalTime>
  <Words>261</Words>
  <Application>Microsoft Office PowerPoint</Application>
  <PresentationFormat>ワイド画面</PresentationFormat>
  <Paragraphs>160</Paragraphs>
  <Slides>11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Meiryo UI</vt:lpstr>
      <vt:lpstr>ＭＳ ゴシック</vt:lpstr>
      <vt:lpstr>ＭＳ 明朝</vt:lpstr>
      <vt:lpstr>Palatino Linotype</vt:lpstr>
      <vt:lpstr>Wingdings 2</vt:lpstr>
      <vt:lpstr>ブレーンストーミングのプレゼンテーション</vt:lpstr>
      <vt:lpstr>描画エンジン開発Ⅲ・Ⅳ</vt:lpstr>
      <vt:lpstr>授業内容</vt:lpstr>
      <vt:lpstr>実行結果</vt:lpstr>
      <vt:lpstr>やりたいこと</vt:lpstr>
      <vt:lpstr>FBXの全体的な構造</vt:lpstr>
      <vt:lpstr>FBXの全体的な構造</vt:lpstr>
      <vt:lpstr>課題でのskinned_meshの構造</vt:lpstr>
      <vt:lpstr>課題でのskinned_meshの構造</vt:lpstr>
      <vt:lpstr>スキニングするには</vt:lpstr>
      <vt:lpstr>ボーン変換行列と頂点データの関係</vt:lpstr>
      <vt:lpstr>実習内容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吉野 広二</cp:lastModifiedBy>
  <cp:revision>138</cp:revision>
  <dcterms:created xsi:type="dcterms:W3CDTF">2019-03-17T05:51:21Z</dcterms:created>
  <dcterms:modified xsi:type="dcterms:W3CDTF">2021-10-26T23:59:06Z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